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– THIS IS NOT A REAL, FORMAL OR OFFICIAL PROPOSAL. It is an example only, prepared to support the offer that Orad must make to the end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image" Target="../media/image-7-8.jpg"/><Relationship Id="rId9" Type="http://schemas.openxmlformats.org/officeDocument/2006/relationships/image" Target="../media/image-7-9.jpg"/><Relationship Id="rId10" Type="http://schemas.openxmlformats.org/officeDocument/2006/relationships/image" Target="../media/image-7-10.jpg"/><Relationship Id="rId11" Type="http://schemas.openxmlformats.org/officeDocument/2006/relationships/image" Target="../media/image-7-11.jpg"/><Relationship Id="rId12" Type="http://schemas.openxmlformats.org/officeDocument/2006/relationships/image" Target="../media/image-7-12.jpg"/><Relationship Id="rId13" Type="http://schemas.openxmlformats.org/officeDocument/2006/relationships/image" Target="../media/image-7-13.jpg"/><Relationship Id="rId14" Type="http://schemas.openxmlformats.org/officeDocument/2006/relationships/image" Target="../media/image-7-14.jpg"/><Relationship Id="rId15" Type="http://schemas.openxmlformats.org/officeDocument/2006/relationships/image" Target="../media/image-7-15.jp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hyperlink" Target="https://alexjusid-jpg.github.io/planos/yoseftal_ex2/en/" TargetMode="External"/><Relationship Id="rId5" Type="http://schemas.openxmlformats.org/officeDocument/2006/relationships/hyperlink" Target="https://alexjusid-jpg.github.io/planos/yoseftal_ex2/en/" TargetMode="External"/><Relationship Id="rId6" Type="http://schemas.openxmlformats.org/officeDocument/2006/relationships/hyperlink" Target="https://alexjusid-jpg.github.io/planos/yoseftal_ex2/en/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pic>
        <p:nvPicPr>
          <p:cNvPr id="4" name="Image 0" descr="/home/claude/planos/yoseftal_rev08/assets/renders/corrid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4773168"/>
          </a:xfrm>
          <a:prstGeom prst="rect">
            <a:avLst/>
          </a:prstGeom>
        </p:spPr>
      </p:pic>
      <p:pic>
        <p:nvPicPr>
          <p:cNvPr id="5" name="Image 1" descr="/home/claude/master/catalog/logos/advantec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463040" cy="4297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Yoseftal Medical Center, Eilat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1600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Proposal 2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AdvantCare nurse call system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2743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ward sections · 13 rooms × 3 beds (8 + 5) · 13 en-suite bathrooms · 2 nurse stations · 1 shared server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– Advantecnia distributor in Israel · 26/10/2026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example includes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66344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section(s)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810512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10512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10512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865376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(3 beds each)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9544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9544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9544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264408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08576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08576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08576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663440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en-suite bathrooms (toilet + shower + basin)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07608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07608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07608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062472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station(s)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406640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06640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06640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7461504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(LVNS)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11480" y="2514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bed: red call panel with bayonet socket + pear handset 2 m.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room: green presence / cancel button inside by the door, 3-colour corridor light above the door.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bathroom: SOS pull-cord beside the toilet and beside the shower, presence / cancel button outside and a light above the door.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controllers (PCB ECV169) in the corridor ceiling, daisy-chained on one bus per section to the SmartHub in the section rack.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outside the rooms with an iPad (Consola Monitor): every call, presence, history and statistics.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LVNS server + switch + UPS + rack – everything needed for the system to work.</a:t>
            </a:r>
            <a:endParaRPr lang="en-US" sz="1100" dirty="0"/>
          </a:p>
        </p:txBody>
      </p:sp>
      <p:pic>
        <p:nvPicPr>
          <p:cNvPr id="32" name="Image 1" descr="/home/claude/planos/yoseftal_rev08/assets/renders/roo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2514600"/>
            <a:ext cx="29718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plan · ward section A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yos_ex/out/plans/ex2_en_floor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6547104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plan · ward section B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yos_ex/out/plans/ex2_en_floor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6547104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room + en-suite bathroom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yos_ex/out/plans/ex2_en_typ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6547104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yos_ex/out/plans/ex2_en_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6547104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devices and system components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8" name="Image 1" descr="/home/claude/yos_ex/ph/ACE8201215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813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097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×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417320" y="107899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call panel, red, with bayonet socket for pear handset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417320" y="12893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ACE82012153 · 3 per room × 13 rooms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11480" y="1572768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13" name="Image 2" descr="/home/claude/yos_ex/ph/ACE3906052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934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1618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×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417320" y="1600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 handset, 1 capacitive button, 2 m cable, bayonet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417320" y="18105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ACE39060521 · 1 per bed × 39 beds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411480" y="2093976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18" name="Image 3" descr="/home/claude/yos_ex/ph/ACE8208213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305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21396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×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417320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cancel panel, green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417320" y="23317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ACE82082137 · 13 rooms (by the door) + 13 bathrooms (outside)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11480" y="2615184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23" name="Image 4" descr="/home/claude/yos_ex/ph/ACE4032030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5176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2660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×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417320" y="26426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mechanism with pull-cord (toilet / shower)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417320" y="285292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ACE40320303 · 2 per bathroom (toilet + shower) × 13</a:t>
            </a:r>
            <a:endParaRPr lang="en-US" sz="750" dirty="0"/>
          </a:p>
        </p:txBody>
      </p:sp>
      <p:sp>
        <p:nvSpPr>
          <p:cNvPr id="27" name="Shape 20"/>
          <p:cNvSpPr/>
          <p:nvPr/>
        </p:nvSpPr>
        <p:spPr>
          <a:xfrm>
            <a:off x="411480" y="3136392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28" name="Image 5" descr="/home/claude/yos_ex/ph/EOP00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72968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14400" y="3182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×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417320" y="316382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light, 3 colours (red · green · blue)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417320" y="33741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EOP004 · 13 rooms + 13 bathrooms (above the door)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411480" y="3657600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33" name="Image 6" descr="/home/claude/yos_ex/ph/ECV169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94176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14400" y="3703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×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1417320" y="36850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controller PCB 24 pins, 12–48 V DC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417320" y="38953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ECV169 · 2 per room + 1 per bathroom = 39</a:t>
            </a:r>
            <a:endParaRPr lang="en-US" sz="750" dirty="0"/>
          </a:p>
        </p:txBody>
      </p:sp>
      <p:sp>
        <p:nvSpPr>
          <p:cNvPr id="37" name="Shape 28"/>
          <p:cNvSpPr/>
          <p:nvPr/>
        </p:nvSpPr>
        <p:spPr>
          <a:xfrm>
            <a:off x="411480" y="4178808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38" name="Image 7" descr="/home/claude/yos_ex/ph/EVV049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215384"/>
            <a:ext cx="384048" cy="38404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14400" y="42245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1417320" y="42062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SmartHub connectia – head of the controller bus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417320" y="44165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EVV049 · 1 per ward section</a:t>
            </a:r>
            <a:endParaRPr lang="en-US" sz="750" dirty="0"/>
          </a:p>
        </p:txBody>
      </p:sp>
      <p:sp>
        <p:nvSpPr>
          <p:cNvPr id="42" name="Shape 32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43" name="Image 8" descr="/home/claude/yos_ex/ph/EOP006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1088136"/>
            <a:ext cx="384048" cy="38404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166360" y="1097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</a:t>
            </a:r>
            <a:endParaRPr lang="en-US" sz="1300" dirty="0"/>
          </a:p>
        </p:txBody>
      </p:sp>
      <p:sp>
        <p:nvSpPr>
          <p:cNvPr id="45" name="Text 34"/>
          <p:cNvSpPr/>
          <p:nvPr/>
        </p:nvSpPr>
        <p:spPr>
          <a:xfrm>
            <a:off x="5669280" y="107899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LVNS server – local server &amp; notifications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5669280" y="12893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EOP006 · 1 server for the whole system (shared by both sections)</a:t>
            </a:r>
            <a:endParaRPr lang="en-US" sz="750" dirty="0"/>
          </a:p>
        </p:txBody>
      </p:sp>
      <p:sp>
        <p:nvSpPr>
          <p:cNvPr id="47" name="Shape 36"/>
          <p:cNvSpPr/>
          <p:nvPr/>
        </p:nvSpPr>
        <p:spPr>
          <a:xfrm>
            <a:off x="4663440" y="1572768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48" name="Image 9" descr="/home/claude/yos_ex/ph/EOP002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1609344"/>
            <a:ext cx="384048" cy="38404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166360" y="1618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</a:t>
            </a:r>
            <a:endParaRPr lang="en-US" sz="1300" dirty="0"/>
          </a:p>
        </p:txBody>
      </p:sp>
      <p:sp>
        <p:nvSpPr>
          <p:cNvPr id="50" name="Text 38"/>
          <p:cNvSpPr/>
          <p:nvPr/>
        </p:nvSpPr>
        <p:spPr>
          <a:xfrm>
            <a:off x="5669280" y="1600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iPad 10.9" Wi-Fi 128 GB</a:t>
            </a:r>
            <a:endParaRPr lang="en-US" sz="900" dirty="0"/>
          </a:p>
        </p:txBody>
      </p:sp>
      <p:sp>
        <p:nvSpPr>
          <p:cNvPr id="51" name="Text 39"/>
          <p:cNvSpPr/>
          <p:nvPr/>
        </p:nvSpPr>
        <p:spPr>
          <a:xfrm>
            <a:off x="5669280" y="18105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EOP002 · 1 per nurse station</a:t>
            </a:r>
            <a:endParaRPr lang="en-US" sz="750" dirty="0"/>
          </a:p>
        </p:txBody>
      </p:sp>
      <p:sp>
        <p:nvSpPr>
          <p:cNvPr id="52" name="Shape 40"/>
          <p:cNvSpPr/>
          <p:nvPr/>
        </p:nvSpPr>
        <p:spPr>
          <a:xfrm>
            <a:off x="4663440" y="2093976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53" name="Image 10" descr="/home/claude/yos_ex/ph/EVV038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2130552"/>
            <a:ext cx="384048" cy="384048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5166360" y="21396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</a:t>
            </a:r>
            <a:endParaRPr lang="en-US" sz="1300" dirty="0"/>
          </a:p>
        </p:txBody>
      </p:sp>
      <p:sp>
        <p:nvSpPr>
          <p:cNvPr id="55" name="Text 42"/>
          <p:cNvSpPr/>
          <p:nvPr/>
        </p:nvSpPr>
        <p:spPr>
          <a:xfrm>
            <a:off x="5669280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ionTab client/server licences + MDM (1st year included)</a:t>
            </a:r>
            <a:endParaRPr lang="en-US" sz="900" dirty="0"/>
          </a:p>
        </p:txBody>
      </p:sp>
      <p:sp>
        <p:nvSpPr>
          <p:cNvPr id="56" name="Text 43"/>
          <p:cNvSpPr/>
          <p:nvPr/>
        </p:nvSpPr>
        <p:spPr>
          <a:xfrm>
            <a:off x="5669280" y="23317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EVV038 · 1 per ward section</a:t>
            </a:r>
            <a:endParaRPr lang="en-US" sz="750" dirty="0"/>
          </a:p>
        </p:txBody>
      </p:sp>
      <p:sp>
        <p:nvSpPr>
          <p:cNvPr id="57" name="Shape 44"/>
          <p:cNvSpPr/>
          <p:nvPr/>
        </p:nvSpPr>
        <p:spPr>
          <a:xfrm>
            <a:off x="4663440" y="2615184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58" name="Image 11" descr="/home/claude/yos_ex/ph/ACESWP24P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160" y="2651760"/>
            <a:ext cx="384048" cy="384048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5166360" y="2660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</a:t>
            </a:r>
            <a:endParaRPr lang="en-US" sz="1300" dirty="0"/>
          </a:p>
        </p:txBody>
      </p:sp>
      <p:sp>
        <p:nvSpPr>
          <p:cNvPr id="60" name="Text 46"/>
          <p:cNvSpPr/>
          <p:nvPr/>
        </p:nvSpPr>
        <p:spPr>
          <a:xfrm>
            <a:off x="5669280" y="26426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 switch 24 ports, managed</a:t>
            </a:r>
            <a:endParaRPr lang="en-US" sz="900" dirty="0"/>
          </a:p>
        </p:txBody>
      </p:sp>
      <p:sp>
        <p:nvSpPr>
          <p:cNvPr id="61" name="Text 47"/>
          <p:cNvSpPr/>
          <p:nvPr/>
        </p:nvSpPr>
        <p:spPr>
          <a:xfrm>
            <a:off x="5669280" y="285292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ACESWP24P · 1 per ward section rack</a:t>
            </a:r>
            <a:endParaRPr lang="en-US" sz="750" dirty="0"/>
          </a:p>
        </p:txBody>
      </p:sp>
      <p:sp>
        <p:nvSpPr>
          <p:cNvPr id="62" name="Shape 48"/>
          <p:cNvSpPr/>
          <p:nvPr/>
        </p:nvSpPr>
        <p:spPr>
          <a:xfrm>
            <a:off x="4663440" y="3136392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63" name="Image 12" descr="/home/claude/yos_ex/ph/RACK9U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9160" y="3172968"/>
            <a:ext cx="384048" cy="384048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5166360" y="3182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</a:t>
            </a:r>
            <a:endParaRPr lang="en-US" sz="1300" dirty="0"/>
          </a:p>
        </p:txBody>
      </p:sp>
      <p:sp>
        <p:nvSpPr>
          <p:cNvPr id="65" name="Text 50"/>
          <p:cNvSpPr/>
          <p:nvPr/>
        </p:nvSpPr>
        <p:spPr>
          <a:xfrm>
            <a:off x="5669280" y="316382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rack 19" 9U with PDU, shelf and cable management</a:t>
            </a:r>
            <a:endParaRPr lang="en-US" sz="900" dirty="0"/>
          </a:p>
        </p:txBody>
      </p:sp>
      <p:sp>
        <p:nvSpPr>
          <p:cNvPr id="66" name="Text 51"/>
          <p:cNvSpPr/>
          <p:nvPr/>
        </p:nvSpPr>
        <p:spPr>
          <a:xfrm>
            <a:off x="5669280" y="33741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RACK9U · 1 per ward section</a:t>
            </a:r>
            <a:endParaRPr lang="en-US" sz="750" dirty="0"/>
          </a:p>
        </p:txBody>
      </p:sp>
      <p:sp>
        <p:nvSpPr>
          <p:cNvPr id="67" name="Shape 52"/>
          <p:cNvSpPr/>
          <p:nvPr/>
        </p:nvSpPr>
        <p:spPr>
          <a:xfrm>
            <a:off x="4663440" y="3657600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68" name="Image 13" descr="/home/claude/yos_ex/ph/UPS1500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9160" y="3694176"/>
            <a:ext cx="384048" cy="384048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5166360" y="3703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</a:t>
            </a:r>
            <a:endParaRPr lang="en-US" sz="1300" dirty="0"/>
          </a:p>
        </p:txBody>
      </p:sp>
      <p:sp>
        <p:nvSpPr>
          <p:cNvPr id="70" name="Text 54"/>
          <p:cNvSpPr/>
          <p:nvPr/>
        </p:nvSpPr>
        <p:spPr>
          <a:xfrm>
            <a:off x="5669280" y="36850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 1500 VA online, rack mount</a:t>
            </a:r>
            <a:endParaRPr lang="en-US" sz="900" dirty="0"/>
          </a:p>
        </p:txBody>
      </p:sp>
      <p:sp>
        <p:nvSpPr>
          <p:cNvPr id="71" name="Text 55"/>
          <p:cNvSpPr/>
          <p:nvPr/>
        </p:nvSpPr>
        <p:spPr>
          <a:xfrm>
            <a:off x="5669280" y="38953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UPS1500 · 1 per rack</a:t>
            </a:r>
            <a:endParaRPr lang="en-US" sz="750" dirty="0"/>
          </a:p>
        </p:txBody>
      </p:sp>
      <p:sp>
        <p:nvSpPr>
          <p:cNvPr id="72" name="Shape 56"/>
          <p:cNvSpPr/>
          <p:nvPr/>
        </p:nvSpPr>
        <p:spPr>
          <a:xfrm>
            <a:off x="4663440" y="4178808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73" name="Image 14" descr="/home/claude/yos_ex/ph/WAP6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09160" y="4215384"/>
            <a:ext cx="384048" cy="384048"/>
          </a:xfrm>
          <a:prstGeom prst="rect">
            <a:avLst/>
          </a:prstGeom>
        </p:spPr>
      </p:pic>
      <p:sp>
        <p:nvSpPr>
          <p:cNvPr id="74" name="Text 57"/>
          <p:cNvSpPr/>
          <p:nvPr/>
        </p:nvSpPr>
        <p:spPr>
          <a:xfrm>
            <a:off x="5166360" y="42245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</a:t>
            </a:r>
            <a:endParaRPr lang="en-US" sz="1300" dirty="0"/>
          </a:p>
        </p:txBody>
      </p:sp>
      <p:sp>
        <p:nvSpPr>
          <p:cNvPr id="75" name="Text 58"/>
          <p:cNvSpPr/>
          <p:nvPr/>
        </p:nvSpPr>
        <p:spPr>
          <a:xfrm>
            <a:off x="5669280" y="42062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6 access point, PoE, at the nurse station</a:t>
            </a:r>
            <a:endParaRPr lang="en-US" sz="900" dirty="0"/>
          </a:p>
        </p:txBody>
      </p:sp>
      <p:sp>
        <p:nvSpPr>
          <p:cNvPr id="76" name="Text 59"/>
          <p:cNvSpPr/>
          <p:nvPr/>
        </p:nvSpPr>
        <p:spPr>
          <a:xfrm>
            <a:off x="5669280" y="44165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WAP6 · 1 per nurse station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in one place – outside the rooms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planos/yoseftal_rev08/assets/renders/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4937760" cy="2779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7840" y="11430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Monitor on the nurse iPad: room, bed and type of every call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call · green = nurse in the room · blue = code blue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cancel by the door closes the call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statistics: waiting and response times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nurse station per section, one shared server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model, walk-through and live simulation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yos_ex/ph/viewer_ex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4937760" cy="2779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7840" y="10972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model of the ward: equipment and wiring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Walk-through with realistic photos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simulation: call, presence, code blue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Monitor at the nurse station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Documents: proposal, scheme, plans, BOQ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577840" y="3017520"/>
            <a:ext cx="3154680" cy="914400"/>
          </a:xfrm>
          <a:prstGeom prst="roundRect">
            <a:avLst>
              <a:gd name="adj" fmla="val 10000"/>
            </a:avLst>
          </a:prstGeom>
          <a:solidFill>
            <a:srgbClr val="2B275B"/>
          </a:solidFill>
          <a:ln w="9525">
            <a:solidFill>
              <a:srgbClr val="2B275B"/>
            </a:solidFill>
            <a:prstDash val="solid"/>
          </a:ln>
        </p:spPr>
      </p:sp>
      <p:pic>
        <p:nvPicPr>
          <p:cNvPr id="10" name="Image 2" descr="/home/claude/yos_ex/ph/qr_ex2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108960"/>
            <a:ext cx="731520" cy="731520"/>
          </a:xfrm>
          <a:prstGeom prst="rect">
            <a:avLst/>
          </a:prstGeom>
        </p:spPr>
      </p:pic>
      <p:sp>
        <p:nvSpPr>
          <p:cNvPr id="11" name="Text 6">
            <a:hlinkClick r:id="rId5" tooltip=""/>
          </p:cNvPr>
          <p:cNvSpPr/>
          <p:nvPr/>
        </p:nvSpPr>
        <p:spPr>
          <a:xfrm>
            <a:off x="649224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Scan to open</a:t>
            </a:r>
            <a:endParaRPr lang="en-US" sz="1500" dirty="0"/>
          </a:p>
        </p:txBody>
      </p:sp>
      <p:sp>
        <p:nvSpPr>
          <p:cNvPr id="12" name="Text 7">
            <a:hlinkClick r:id="rId6" tooltip=""/>
          </p:cNvPr>
          <p:cNvSpPr/>
          <p:nvPr/>
        </p:nvSpPr>
        <p:spPr>
          <a:xfrm>
            <a:off x="649224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alexjusid-jpg.github.io/planos/yoseftal_ex2/en/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this example to a real proposal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37160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4F3F9"/>
          </a:solidFill>
          <a:ln w="9525">
            <a:solidFill>
              <a:srgbClr val="F4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436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form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fills in the form with the real data of the ward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42032" y="137160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4F3F9"/>
          </a:solidFill>
          <a:ln w="9525">
            <a:solidFill>
              <a:srgbClr val="F4F3F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24912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724912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plans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24912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floor plans, ceiling and cable routes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72584" y="137160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4F3F9"/>
          </a:solidFill>
          <a:ln w="9525">
            <a:solidFill>
              <a:srgbClr val="F4F3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55464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855464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proposal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55464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BG confirms codes, quantities and prices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03136" y="137160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4F3F9"/>
          </a:solidFill>
          <a:ln w="9525">
            <a:solidFill>
              <a:srgbClr val="F4F3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86016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986016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offer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86016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prepares the official offer for the hospital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11480" y="40233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Yoseftal Medical Center, Eilat · ORAD-YOS-EX2-2026-10 · 26/10/2026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Proposal 2</dc:title>
  <dc:subject>PptxGenJS Presentation</dc:subject>
  <dc:creator>PptxGenJS</dc:creator>
  <cp:lastModifiedBy>PptxGenJS</cp:lastModifiedBy>
  <cp:revision>1</cp:revision>
  <dcterms:created xsi:type="dcterms:W3CDTF">2026-10-26T12:30:59Z</dcterms:created>
  <dcterms:modified xsi:type="dcterms:W3CDTF">2026-10-26T12:30:59Z</dcterms:modified>
</cp:coreProperties>
</file>
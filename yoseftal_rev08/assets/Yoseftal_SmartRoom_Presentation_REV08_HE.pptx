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Advantecnia ואורד, ומה נציג היום.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היצרן: ניסיון, נוכחות בינלאומית ותקנים.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זה חדר חכם ולמה זה חשוב לבית החולים.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המערכות שלנו – כולן על אותה תשתית.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AdvantCare – הליבה של המערכת.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התוכנה: עמדת אחיות, מסך קיר ואפליקציה.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AdvantSOS – מצוקה בשירותים וחיווי במסדרון.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CarePad – הטאבלט ליד המיטה.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AdvantSense – ניטור ללא מגע.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AdvantControl ו-AdvantTrack.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כל סדרות המוצרים – לשלב הבא.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הפרויקט: המחלקה הכירורגית ביוספטל.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מיקום כל התקן בתוכנית.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נתקין בכל חדר ובשירותים.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מסלול הקריאה בחמישה שלבים.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מתחילים בקריאת אחות – ומרחיבים בהמשך.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חמש סיבות לבחור ב-Advantecnia.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הצעד הבא ותודה.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התכנון המלא אונליין – תמונות, תוכניות וסרטון.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BASE-image-3.jpe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8/a/ora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74320"/>
            <a:ext cx="329184" cy="429768"/>
          </a:xfrm>
          <a:prstGeom prst="rect">
            <a:avLst/>
          </a:prstGeom>
        </p:spPr>
      </p:pic>
      <p:pic>
        <p:nvPicPr>
          <p:cNvPr id="3" name="Image 1" descr="/home/claude/rev08/a/smart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9184"/>
            <a:ext cx="868680" cy="2651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3.png"/><Relationship Id="rId6" Type="http://schemas.openxmlformats.org/officeDocument/2006/relationships/image" Target="../media/image-5-3.png"/><Relationship Id="rId7" Type="http://schemas.openxmlformats.org/officeDocument/2006/relationships/image" Target="../media/image-5-3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[object Object]" TargetMode="External"/><Relationship Id="rId4" Type="http://schemas.openxmlformats.org/officeDocument/2006/relationships/hyperlink" Target="[object Object]" TargetMode="External"/><Relationship Id="rId5" Type="http://schemas.openxmlformats.org/officeDocument/2006/relationships/hyperlink" Target="[object Object]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6" Type="http://schemas.openxmlformats.org/officeDocument/2006/relationships/image" Target="../media/image-6-3.png"/><Relationship Id="rId7" Type="http://schemas.openxmlformats.org/officeDocument/2006/relationships/image" Target="../media/image-6-3.png"/><Relationship Id="rId8" Type="http://schemas.openxmlformats.org/officeDocument/2006/relationships/image" Target="../media/image-6-3.png"/><Relationship Id="rId9" Type="http://schemas.openxmlformats.org/officeDocument/2006/relationships/image" Target="../media/image-6-3.png"/><Relationship Id="rId10" Type="http://schemas.openxmlformats.org/officeDocument/2006/relationships/image" Target="../media/image-6-7.png"/><Relationship Id="rId11" Type="http://schemas.openxmlformats.org/officeDocument/2006/relationships/image" Target="../media/image-6-8.png"/><Relationship Id="rId12" Type="http://schemas.openxmlformats.org/officeDocument/2006/relationships/image" Target="../media/image-6-9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3.png"/><Relationship Id="rId6" Type="http://schemas.openxmlformats.org/officeDocument/2006/relationships/image" Target="../media/image-7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image" Target="../media/image-8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image" Target="../media/image-9-3.png"/><Relationship Id="rId6" Type="http://schemas.openxmlformats.org/officeDocument/2006/relationships/image" Target="../media/image-9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image" Target="../media/image-10-5.png"/><Relationship Id="rId6" Type="http://schemas.openxmlformats.org/officeDocument/2006/relationships/image" Target="../media/image-10-3.png"/><Relationship Id="rId7" Type="http://schemas.openxmlformats.org/officeDocument/2006/relationships/image" Target="../media/image-10-3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alexjusid-jpg.github.io/planos/yoseftal_rev08/he/" TargetMode="External"/><Relationship Id="rId2" Type="http://schemas.openxmlformats.org/officeDocument/2006/relationships/hyperlink" Target="https://alexjusid-jpg.github.io/planos/yoseftal_rev08/he/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hyperlink" Target="https://alexjusid-jpg.github.io/planos/yoseftal_rev08/he/" TargetMode="External"/><Relationship Id="rId9" Type="http://schemas.openxmlformats.org/officeDocument/2006/relationships/hyperlink" Target="https://alexjusid-jpg.github.io/planos/yoseftal_rev08/he/" TargetMode="External"/><Relationship Id="rId10" Type="http://schemas.openxmlformats.org/officeDocument/2006/relationships/hyperlink" Target="https://alexjusid-jpg.github.io/planos/yoseftal_rev08/he/" TargetMode="External"/><Relationship Id="rId11" Type="http://schemas.openxmlformats.org/officeDocument/2006/relationships/hyperlink" Target="https://alexjusid-jpg.github.io/planos/yoseftal_rev08/he/" TargetMode="External"/><Relationship Id="rId12" Type="http://schemas.openxmlformats.org/officeDocument/2006/relationships/hyperlink" Target="https://alexjusid-jpg.github.io/planos/yoseftal_rev08/he/" TargetMode="External"/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8" Type="http://schemas.openxmlformats.org/officeDocument/2006/relationships/image" Target="../media/image-19-7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8/a/ora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502920"/>
            <a:ext cx="502920" cy="658368"/>
          </a:xfrm>
          <a:prstGeom prst="rect">
            <a:avLst/>
          </a:prstGeom>
        </p:spPr>
      </p:pic>
      <p:pic>
        <p:nvPicPr>
          <p:cNvPr id="3" name="Image 1" descr="/home/claude/rev08/a/smart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621792"/>
            <a:ext cx="1463040" cy="44805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43484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מרכז רפואי יוספטל · אילת</a:t>
            </a:r>
            <a:endParaRPr lang="he-IL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4434840" y="173736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2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קריאת אחות, תקשורת, ניטור רפואי ואיתור מיקום לבתי חולים</a:t>
            </a:r>
            <a:endParaRPr lang="he-IL" sz="2700" dirty="0"/>
          </a:p>
        </p:txBody>
      </p:sp>
      <p:sp>
        <p:nvSpPr>
          <p:cNvPr id="6" name="Text 2"/>
          <p:cNvSpPr txBox="1"/>
          <p:nvPr/>
        </p:nvSpPr>
        <p:spPr>
          <a:xfrm>
            <a:off x="4434840" y="34747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הפתרונות של Advantecnia – ומה נתקין במחלקה הכירורגית</a:t>
            </a:r>
            <a:endParaRPr lang="he-IL" sz="1300" dirty="0"/>
          </a:p>
        </p:txBody>
      </p:sp>
      <p:pic>
        <p:nvPicPr>
          <p:cNvPr id="7" name="Image 2" descr="/home/claude/rev08/a/advantecn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4251960"/>
            <a:ext cx="1005840" cy="29260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26280" y="42245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אורד – המפיץ הרשמי בישראל</a:t>
            </a:r>
            <a:endParaRPr lang="he-IL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4526280" y="44256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אוקטובר 2026</a:t>
            </a:r>
            <a:endParaRPr lang="he-IL" sz="1000" dirty="0"/>
          </a:p>
        </p:txBody>
      </p:sp>
      <p:sp>
        <p:nvSpPr>
          <p:cNvPr id="10" name="Shape 5"/>
          <p:cNvSpPr/>
          <p:nvPr/>
        </p:nvSpPr>
        <p:spPr>
          <a:xfrm>
            <a:off x="457200" y="822960"/>
            <a:ext cx="37490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11" name="Image 3" descr="Yoseftal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868680"/>
            <a:ext cx="36576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אנחנו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 by ACE BG: טכנולוגיה למען האדם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7434072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525512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45,000+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525512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מיטות עם מערכת קריאת אחות מותקנת</a:t>
            </a:r>
            <a:endParaRPr lang="he-IL" sz="900" dirty="0"/>
          </a:p>
        </p:txBody>
      </p:sp>
      <p:sp>
        <p:nvSpPr>
          <p:cNvPr id="7" name="Shape 5"/>
          <p:cNvSpPr/>
          <p:nvPr/>
        </p:nvSpPr>
        <p:spPr>
          <a:xfrm>
            <a:off x="6135624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27064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227064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בתי חולים</a:t>
            </a:r>
            <a:endParaRPr lang="he-IL" sz="900" dirty="0"/>
          </a:p>
        </p:txBody>
      </p:sp>
      <p:sp>
        <p:nvSpPr>
          <p:cNvPr id="10" name="Shape 8"/>
          <p:cNvSpPr/>
          <p:nvPr/>
        </p:nvSpPr>
        <p:spPr>
          <a:xfrm>
            <a:off x="4837176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928616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928616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שנות ניסיון</a:t>
            </a:r>
            <a:endParaRPr lang="he-IL" sz="900" dirty="0"/>
          </a:p>
        </p:txBody>
      </p:sp>
      <p:sp>
        <p:nvSpPr>
          <p:cNvPr id="13" name="Shape 11"/>
          <p:cNvSpPr/>
          <p:nvPr/>
        </p:nvSpPr>
        <p:spPr>
          <a:xfrm>
            <a:off x="3538728" y="1325880"/>
            <a:ext cx="1207008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630168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2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10M+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630168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משתמשים בשנה</a:t>
            </a:r>
            <a:endParaRPr lang="he-IL" sz="900" dirty="0"/>
          </a:p>
        </p:txBody>
      </p:sp>
      <p:pic>
        <p:nvPicPr>
          <p:cNvPr id="16" name="Image 0" descr="/home/claude/rev08/a/i_LuCircleCheck_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2523744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3520440" y="249631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יצרן ומפתח של מוצרי IP לבריאות – מרכז בספרד ונציגות בארה"ב</a:t>
            </a:r>
            <a:endParaRPr lang="he-IL" sz="1100" dirty="0"/>
          </a:p>
        </p:txBody>
      </p:sp>
      <p:pic>
        <p:nvPicPr>
          <p:cNvPr id="18" name="Image 1" descr="/home/claude/rev08/a/i_LuCircleCheck_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2" y="2907792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520440" y="2880360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מערכות שפועלות בבתי חולים, מרפאות ודיור מוגן באירופה ובאמריקה</a:t>
            </a:r>
            <a:endParaRPr lang="he-IL" sz="1100" dirty="0"/>
          </a:p>
        </p:txBody>
      </p:sp>
      <p:pic>
        <p:nvPicPr>
          <p:cNvPr id="20" name="Image 2" descr="/home/claude/rev08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329184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520440" y="3264408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אורד – המפיץ של Advantecnia בישראל, עם תמיכה מקומית</a:t>
            </a:r>
            <a:endParaRPr lang="he-IL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717804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תקנים בינלאומיים</a:t>
            </a:r>
            <a:endParaRPr lang="he-IL" sz="1000" dirty="0"/>
          </a:p>
        </p:txBody>
      </p:sp>
      <p:pic>
        <p:nvPicPr>
          <p:cNvPr id="23" name="Image 3" descr="/home/claude/rev08/a/cer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767328"/>
            <a:ext cx="2148840" cy="53035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57200" y="1280160"/>
            <a:ext cx="2834640" cy="33375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25" name="Image 4" descr="Nurs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2920" y="1325880"/>
            <a:ext cx="274320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החדר החכם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Smart Room?</a:t>
            </a:r>
            <a:endParaRPr lang="he-IL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343400" y="12344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"החדר החכם" הוא סביבה טיפולית מתקדמת שעושה שימוש בטכנולוגיות דיגיטליות לשיפור הטיפול בחולים ולייעול עבודת הצוות.</a:t>
            </a:r>
            <a:endParaRPr lang="he-IL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920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החולה נהנה משהות נוחה ומותאמת אישית, והצוות הרפואי מקבל כלים שמסייעים לו בעבודה השוטפת.</a:t>
            </a:r>
            <a:endParaRPr lang="he-IL" sz="1100" dirty="0"/>
          </a:p>
        </p:txBody>
      </p:sp>
      <p:sp>
        <p:nvSpPr>
          <p:cNvPr id="6" name="Shape 4"/>
          <p:cNvSpPr/>
          <p:nvPr/>
        </p:nvSpPr>
        <p:spPr>
          <a:xfrm>
            <a:off x="6556248" y="2606040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74736" y="2724912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8" name="Image 0" descr="/home/claude/rev08/a/i_LuHeartPuls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740" y="2803916"/>
            <a:ext cx="171176" cy="171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75120" y="3081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טיפול טוב יותר</a:t>
            </a:r>
            <a:endParaRPr lang="he-IL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32735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מעקב רציף אחר מצב החולה</a:t>
            </a:r>
            <a:endParaRPr lang="he-IL" sz="900" dirty="0"/>
          </a:p>
        </p:txBody>
      </p:sp>
      <p:sp>
        <p:nvSpPr>
          <p:cNvPr id="11" name="Shape 8"/>
          <p:cNvSpPr/>
          <p:nvPr/>
        </p:nvSpPr>
        <p:spPr>
          <a:xfrm>
            <a:off x="4361688" y="2606040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80176" y="2724912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3" name="Image 1" descr="/home/claude/rev08/a/i_LuUser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180" y="2803916"/>
            <a:ext cx="171176" cy="171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80560" y="3081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 יעיל יותר</a:t>
            </a:r>
            <a:endParaRPr lang="he-IL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434840" y="32735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קריאה מגיעה לאדם הנכון</a:t>
            </a:r>
            <a:endParaRPr lang="he-IL" sz="900" dirty="0"/>
          </a:p>
        </p:txBody>
      </p:sp>
      <p:sp>
        <p:nvSpPr>
          <p:cNvPr id="16" name="Shape 12"/>
          <p:cNvSpPr/>
          <p:nvPr/>
        </p:nvSpPr>
        <p:spPr>
          <a:xfrm>
            <a:off x="6556248" y="3593592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74736" y="3712464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8" name="Image 2" descr="/home/claude/rev08/a/i_LuShield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740" y="3791468"/>
            <a:ext cx="171176" cy="17117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675120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בטיחות</a:t>
            </a:r>
            <a:endParaRPr lang="he-IL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629400" y="42611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התרעות בזמן אמת, ביום ובלילה</a:t>
            </a:r>
            <a:endParaRPr lang="he-IL" sz="900" dirty="0"/>
          </a:p>
        </p:txBody>
      </p:sp>
      <p:sp>
        <p:nvSpPr>
          <p:cNvPr id="21" name="Shape 16"/>
          <p:cNvSpPr/>
          <p:nvPr/>
        </p:nvSpPr>
        <p:spPr>
          <a:xfrm>
            <a:off x="4361688" y="3593592"/>
            <a:ext cx="208483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980176" y="3712464"/>
            <a:ext cx="329184" cy="32918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3" name="Image 3" descr="/home/claude/rev08/a/i_LuSparkle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9180" y="3791468"/>
            <a:ext cx="171176" cy="17117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480560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חוויית מטופל</a:t>
            </a:r>
            <a:endParaRPr lang="he-IL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4434840" y="42611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נוחות, מידע ובידור ליד המיטה</a:t>
            </a:r>
            <a:endParaRPr lang="he-IL" sz="900" dirty="0"/>
          </a:p>
        </p:txBody>
      </p:sp>
      <p:sp>
        <p:nvSpPr>
          <p:cNvPr id="26" name="Shape 20"/>
          <p:cNvSpPr/>
          <p:nvPr/>
        </p:nvSpPr>
        <p:spPr>
          <a:xfrm>
            <a:off x="457200" y="1188720"/>
            <a:ext cx="365760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27" name="Image 4" descr="/home/claude/rev08/a/room2_clean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2920" y="1234440"/>
            <a:ext cx="356616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המערכות שלנו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המערכות – בחדר אחד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3749040" y="1188720"/>
            <a:ext cx="49377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8/a/door_non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94760" y="1234440"/>
            <a:ext cx="4846320" cy="3337560"/>
          </a:xfrm>
          <a:prstGeom prst="rect">
            <a:avLst/>
          </a:prstGeom>
        </p:spPr>
      </p:pic>
      <p:pic>
        <p:nvPicPr>
          <p:cNvPr id="6" name="Image 1" descr="c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032" y="1261872"/>
            <a:ext cx="884408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2920" y="1508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קריאת אח/ות ותקשורת</a:t>
            </a:r>
            <a:endParaRPr lang="he-IL" sz="950" dirty="0"/>
          </a:p>
        </p:txBody>
      </p:sp>
      <p:pic>
        <p:nvPicPr>
          <p:cNvPr id="8" name="Image 2" descr="sen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390" y="1810512"/>
            <a:ext cx="948050" cy="2194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02920" y="2057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ניטור רפואי וסביבתי ללא מגע</a:t>
            </a:r>
            <a:endParaRPr lang="he-IL" sz="950" dirty="0"/>
          </a:p>
        </p:txBody>
      </p:sp>
      <p:pic>
        <p:nvPicPr>
          <p:cNvPr id="10" name="Image 3" descr="p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4516" y="2359152"/>
            <a:ext cx="675924" cy="21945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02920" y="26060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טאבלט ומסכים לחולה ולצוות</a:t>
            </a:r>
            <a:endParaRPr lang="he-IL" sz="950" dirty="0"/>
          </a:p>
        </p:txBody>
      </p:sp>
      <p:pic>
        <p:nvPicPr>
          <p:cNvPr id="12" name="Image 4" descr="s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0398" y="2907792"/>
            <a:ext cx="790042" cy="219456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02920" y="31546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לחצני מצוקה בשירותים</a:t>
            </a:r>
            <a:endParaRPr lang="he-IL" sz="950" dirty="0"/>
          </a:p>
        </p:txBody>
      </p:sp>
      <p:pic>
        <p:nvPicPr>
          <p:cNvPr id="14" name="Image 5" descr="contro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6350" y="3456432"/>
            <a:ext cx="1174090" cy="219456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502920" y="3703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בקרת גישה ואוטומציה</a:t>
            </a:r>
            <a:endParaRPr lang="he-IL" sz="950" dirty="0"/>
          </a:p>
        </p:txBody>
      </p:sp>
      <p:pic>
        <p:nvPicPr>
          <p:cNvPr id="16" name="Image 6" descr="tra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4834" y="4005072"/>
            <a:ext cx="965606" cy="219456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502920" y="4251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איתור אנשים וציוד בזמן אמת</a:t>
            </a:r>
            <a:endParaRPr lang="he-I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8/a/w_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169" y="329184"/>
            <a:ext cx="1252911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קריאת אח/ות</a:t>
            </a:r>
            <a:endParaRPr lang="he-IL" sz="2400" dirty="0"/>
          </a:p>
        </p:txBody>
      </p:sp>
      <p:sp>
        <p:nvSpPr>
          <p:cNvPr id="4" name="Shape 1"/>
          <p:cNvSpPr/>
          <p:nvPr/>
        </p:nvSpPr>
        <p:spPr>
          <a:xfrm>
            <a:off x="384048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8/a/roomA2_clea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8620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132588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8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" y="1517904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פנל עם לחצנים לקריאה לאח/ות, לרופא/ה ולאינטרקום</a:t>
            </a:r>
            <a:endParaRPr lang="he-IL" sz="1000" dirty="0"/>
          </a:p>
        </p:txBody>
      </p:sp>
      <p:pic>
        <p:nvPicPr>
          <p:cNvPr id="9" name="Image 3" descr="/home/claude/rev08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039112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40080" y="2011680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לחצן אגס ארגונומי עם תאורת לד – משמש גם כמנורת לילה</a:t>
            </a:r>
            <a:endParaRPr lang="he-IL" sz="1000" dirty="0"/>
          </a:p>
        </p:txBody>
      </p:sp>
      <p:pic>
        <p:nvPicPr>
          <p:cNvPr id="11" name="Image 4" descr="/home/claude/rev08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2532888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40080" y="2505456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לחצנים גדולים עם סימונים מובלטים לליקויי ראייה</a:t>
            </a:r>
            <a:endParaRPr lang="he-IL" sz="1000" dirty="0"/>
          </a:p>
        </p:txBody>
      </p:sp>
      <p:pic>
        <p:nvPicPr>
          <p:cNvPr id="13" name="Image 5" descr="/home/claude/rev08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3026664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40080" y="2999232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לחצן מצוקה עם ידית משיכה בשירותים</a:t>
            </a:r>
            <a:endParaRPr lang="he-IL" sz="1000" dirty="0"/>
          </a:p>
        </p:txBody>
      </p:sp>
      <p:pic>
        <p:nvPicPr>
          <p:cNvPr id="15" name="Image 6" descr="/home/claude/rev08/a/i_LuCircleCheck_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3520440"/>
            <a:ext cx="201168" cy="201168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640080" y="3493008"/>
            <a:ext cx="2587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עומד בתקן הבטיחות DIN VDE 0834-1:2016</a:t>
            </a:r>
            <a:endParaRPr lang="he-I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8/a/w_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169" y="329184"/>
            <a:ext cx="1252911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תוכנה: כל הקריאות בתמונה אחת</a:t>
            </a:r>
            <a:endParaRPr lang="he-IL" sz="2400" dirty="0"/>
          </a:p>
        </p:txBody>
      </p:sp>
      <p:pic>
        <p:nvPicPr>
          <p:cNvPr id="4" name="Image 1" descr="Consola Monitor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408" y="1325880"/>
            <a:ext cx="3072384" cy="21945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532120" y="3611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עמדת אחיות – תוכנת Consola Monitor</a:t>
            </a:r>
            <a:endParaRPr lang="he-IL" sz="950" dirty="0"/>
          </a:p>
        </p:txBody>
      </p:sp>
      <p:sp>
        <p:nvSpPr>
          <p:cNvPr id="6" name="Text 2"/>
          <p:cNvSpPr txBox="1"/>
          <p:nvPr/>
        </p:nvSpPr>
        <p:spPr>
          <a:xfrm>
            <a:off x="5532120" y="382219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מחשב All-in-One, טאבלט או iPad</a:t>
            </a:r>
            <a:endParaRPr lang="he-IL" sz="850" dirty="0"/>
          </a:p>
        </p:txBody>
      </p:sp>
      <p:sp>
        <p:nvSpPr>
          <p:cNvPr id="7" name="Shape 3">
            <a:hlinkClick r:id="rId4" tooltip=""/>
          </p:cNvPr>
          <p:cNvSpPr/>
          <p:nvPr/>
        </p:nvSpPr>
        <p:spPr>
          <a:xfrm>
            <a:off x="6537960" y="409651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39200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8" name="Text 4">
            <a:hlinkClick r:id="rId5" tooltip=""/>
          </p:cNvPr>
          <p:cNvSpPr txBox="1"/>
          <p:nvPr/>
        </p:nvSpPr>
        <p:spPr>
          <a:xfrm>
            <a:off x="6537960" y="40965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הדגמה חיה של התוכנה</a:t>
            </a:r>
            <a:endParaRPr lang="he-IL" sz="950" dirty="0"/>
          </a:p>
        </p:txBody>
      </p:sp>
      <p:sp>
        <p:nvSpPr>
          <p:cNvPr id="9" name="Shape 5"/>
          <p:cNvSpPr/>
          <p:nvPr/>
        </p:nvSpPr>
        <p:spPr>
          <a:xfrm>
            <a:off x="3429000" y="132588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493008" y="1389888"/>
            <a:ext cx="1792224" cy="11064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3566160" y="14264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7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קיר · כירורגיה</a:t>
            </a:r>
            <a:endParaRPr lang="he-IL" sz="750" dirty="0"/>
          </a:p>
        </p:txBody>
      </p:sp>
      <p:sp>
        <p:nvSpPr>
          <p:cNvPr id="12" name="Shape 8"/>
          <p:cNvSpPr/>
          <p:nvPr/>
        </p:nvSpPr>
        <p:spPr>
          <a:xfrm>
            <a:off x="4700016" y="1645920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1E9E3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700016" y="16459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1</a:t>
            </a:r>
            <a:endParaRPr lang="he-IL" sz="800" dirty="0"/>
          </a:p>
        </p:txBody>
      </p:sp>
      <p:sp>
        <p:nvSpPr>
          <p:cNvPr id="14" name="Shape 10"/>
          <p:cNvSpPr/>
          <p:nvPr/>
        </p:nvSpPr>
        <p:spPr>
          <a:xfrm>
            <a:off x="4133088" y="1645920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D93025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133088" y="16459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2</a:t>
            </a:r>
            <a:endParaRPr lang="he-IL" sz="800" dirty="0"/>
          </a:p>
        </p:txBody>
      </p:sp>
      <p:sp>
        <p:nvSpPr>
          <p:cNvPr id="16" name="Shape 12"/>
          <p:cNvSpPr/>
          <p:nvPr/>
        </p:nvSpPr>
        <p:spPr>
          <a:xfrm>
            <a:off x="3566160" y="1645920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E9E8F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3566160" y="1645920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3</a:t>
            </a:r>
            <a:endParaRPr lang="he-IL" sz="800" dirty="0"/>
          </a:p>
        </p:txBody>
      </p:sp>
      <p:sp>
        <p:nvSpPr>
          <p:cNvPr id="18" name="Shape 14"/>
          <p:cNvSpPr/>
          <p:nvPr/>
        </p:nvSpPr>
        <p:spPr>
          <a:xfrm>
            <a:off x="4700016" y="2048256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E9E8F0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700016" y="204825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4</a:t>
            </a:r>
            <a:endParaRPr lang="he-IL" sz="800" dirty="0"/>
          </a:p>
        </p:txBody>
      </p:sp>
      <p:sp>
        <p:nvSpPr>
          <p:cNvPr id="20" name="Shape 16"/>
          <p:cNvSpPr/>
          <p:nvPr/>
        </p:nvSpPr>
        <p:spPr>
          <a:xfrm>
            <a:off x="4133088" y="2048256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E9E8F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133088" y="204825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he-IL" sz="800" dirty="0"/>
          </a:p>
        </p:txBody>
      </p:sp>
      <p:sp>
        <p:nvSpPr>
          <p:cNvPr id="22" name="Shape 18"/>
          <p:cNvSpPr/>
          <p:nvPr/>
        </p:nvSpPr>
        <p:spPr>
          <a:xfrm>
            <a:off x="3566160" y="2048256"/>
            <a:ext cx="512064" cy="347472"/>
          </a:xfrm>
          <a:prstGeom prst="roundRect">
            <a:avLst>
              <a:gd name="adj" fmla="val 13158"/>
            </a:avLst>
          </a:prstGeom>
          <a:solidFill>
            <a:srgbClr val="F39200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3566160" y="2048256"/>
            <a:ext cx="512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endParaRPr lang="he-IL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3429000" y="2606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קיר</a:t>
            </a:r>
            <a:endParaRPr lang="he-IL" sz="950" dirty="0"/>
          </a:p>
        </p:txBody>
      </p:sp>
      <p:sp>
        <p:nvSpPr>
          <p:cNvPr id="25" name="Shape 21"/>
          <p:cNvSpPr/>
          <p:nvPr/>
        </p:nvSpPr>
        <p:spPr>
          <a:xfrm>
            <a:off x="4343400" y="2926080"/>
            <a:ext cx="777240" cy="1417320"/>
          </a:xfrm>
          <a:prstGeom prst="roundRect">
            <a:avLst>
              <a:gd name="adj" fmla="val 14118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398264" y="2999232"/>
            <a:ext cx="667512" cy="1271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3"/>
          <p:cNvSpPr/>
          <p:nvPr/>
        </p:nvSpPr>
        <p:spPr>
          <a:xfrm>
            <a:off x="4434840" y="3108960"/>
            <a:ext cx="594360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001768" y="3108960"/>
            <a:ext cx="27432" cy="566928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4443984" y="312724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5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Notifcare</a:t>
            </a:r>
            <a:endParaRPr lang="he-IL" sz="550" dirty="0"/>
          </a:p>
        </p:txBody>
      </p:sp>
      <p:sp>
        <p:nvSpPr>
          <p:cNvPr id="30" name="Text 26"/>
          <p:cNvSpPr txBox="1"/>
          <p:nvPr/>
        </p:nvSpPr>
        <p:spPr>
          <a:xfrm>
            <a:off x="4443984" y="324612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קריאה חדשה</a:t>
            </a:r>
            <a:endParaRPr lang="he-IL" sz="700" dirty="0"/>
          </a:p>
        </p:txBody>
      </p:sp>
      <p:sp>
        <p:nvSpPr>
          <p:cNvPr id="31" name="Text 27"/>
          <p:cNvSpPr txBox="1"/>
          <p:nvPr/>
        </p:nvSpPr>
        <p:spPr>
          <a:xfrm>
            <a:off x="4443984" y="343814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6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2 · מיטה B</a:t>
            </a:r>
            <a:endParaRPr lang="he-IL" sz="600" dirty="0"/>
          </a:p>
        </p:txBody>
      </p:sp>
      <p:sp>
        <p:nvSpPr>
          <p:cNvPr id="32" name="Text 28"/>
          <p:cNvSpPr txBox="1"/>
          <p:nvPr/>
        </p:nvSpPr>
        <p:spPr>
          <a:xfrm>
            <a:off x="3291840" y="35204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אפליקציה לסמארטפון</a:t>
            </a:r>
            <a:endParaRPr lang="he-IL" sz="950" dirty="0"/>
          </a:p>
        </p:txBody>
      </p:sp>
      <p:sp>
        <p:nvSpPr>
          <p:cNvPr id="33" name="Shape 29"/>
          <p:cNvSpPr/>
          <p:nvPr/>
        </p:nvSpPr>
        <p:spPr>
          <a:xfrm>
            <a:off x="502920" y="1325880"/>
            <a:ext cx="27432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34" name="Image 2" descr="/home/claude/rev08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9504" y="1517904"/>
            <a:ext cx="201168" cy="201168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621792" y="149047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תיעדוף קריאות לפי סוג ודחיפות</a:t>
            </a:r>
            <a:endParaRPr lang="he-IL" sz="1000" dirty="0"/>
          </a:p>
        </p:txBody>
      </p:sp>
      <p:pic>
        <p:nvPicPr>
          <p:cNvPr id="36" name="Image 3" descr="/home/claude/rev08/a/i_LuCircleCheck_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9504" y="1901952"/>
            <a:ext cx="201168" cy="201168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621792" y="187452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הודעות למסופים ולטלפונים ניידים</a:t>
            </a:r>
            <a:endParaRPr lang="he-IL" sz="1000" dirty="0"/>
          </a:p>
        </p:txBody>
      </p:sp>
      <p:pic>
        <p:nvPicPr>
          <p:cNvPr id="38" name="Image 4" descr="/home/claude/rev08/a/i_LuCircleCheck_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9504" y="2286000"/>
            <a:ext cx="201168" cy="201168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621792" y="225856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טלפון IP או טלפון שולחני אנדרואיד</a:t>
            </a:r>
            <a:endParaRPr lang="he-IL" sz="1000" dirty="0"/>
          </a:p>
        </p:txBody>
      </p:sp>
      <p:pic>
        <p:nvPicPr>
          <p:cNvPr id="40" name="Image 5" descr="/home/claude/rev08/a/i_LuCircleCheck_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9504" y="2670048"/>
            <a:ext cx="201168" cy="201168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621792" y="264261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תיעוד היסטורי, דוחות וגרפים</a:t>
            </a:r>
            <a:endParaRPr lang="he-IL" sz="1000" dirty="0"/>
          </a:p>
        </p:txBody>
      </p:sp>
      <p:pic>
        <p:nvPicPr>
          <p:cNvPr id="42" name="Image 6" descr="mini_call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77440" y="3291840"/>
            <a:ext cx="868680" cy="497434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2377440" y="3813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קריאות</a:t>
            </a:r>
            <a:endParaRPr lang="he-IL" sz="800" dirty="0"/>
          </a:p>
        </p:txBody>
      </p:sp>
      <p:pic>
        <p:nvPicPr>
          <p:cNvPr id="44" name="Image 7" descr="mini_stat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0180" y="3291840"/>
            <a:ext cx="868680" cy="497434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1440180" y="3813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סטטיסטיקה</a:t>
            </a:r>
            <a:endParaRPr lang="he-IL" sz="800" dirty="0"/>
          </a:p>
        </p:txBody>
      </p:sp>
      <p:pic>
        <p:nvPicPr>
          <p:cNvPr id="46" name="Image 8" descr="mini_hist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" y="3291840"/>
            <a:ext cx="868680" cy="497434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502920" y="381304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היסטוריה</a:t>
            </a:r>
            <a:endParaRPr lang="he-IL" sz="800" dirty="0"/>
          </a:p>
        </p:txBody>
      </p:sp>
      <p:sp>
        <p:nvSpPr>
          <p:cNvPr id="48" name="Text 37"/>
          <p:cNvSpPr txBox="1"/>
          <p:nvPr/>
        </p:nvSpPr>
        <p:spPr>
          <a:xfrm>
            <a:off x="502920" y="3063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מסכי התוכנה</a:t>
            </a:r>
            <a:endParaRPr lang="he-I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8/a/w_s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1854" y="329184"/>
            <a:ext cx="111922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לחצני מצוקה ושלטי חיווי</a:t>
            </a:r>
            <a:endParaRPr lang="he-IL" sz="2400" dirty="0"/>
          </a:p>
        </p:txBody>
      </p:sp>
      <p:sp>
        <p:nvSpPr>
          <p:cNvPr id="4" name="Shape 1"/>
          <p:cNvSpPr/>
          <p:nvPr/>
        </p:nvSpPr>
        <p:spPr>
          <a:xfrm>
            <a:off x="384048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8/a/p2_n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8620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1325880"/>
            <a:ext cx="32004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8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" y="1517904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לחצן מצוקה עם ידית משיכה – נגיש גם לחולה שנפל</a:t>
            </a:r>
            <a:endParaRPr lang="he-IL" sz="1000" dirty="0"/>
          </a:p>
        </p:txBody>
      </p:sp>
      <p:pic>
        <p:nvPicPr>
          <p:cNvPr id="9" name="Image 3" descr="/home/claude/rev08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057400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40080" y="2029968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חיווי תאורה במסדרון, בכניסה לחדר – אדום, כחול או ירוק לפי סוג ההתרעה</a:t>
            </a:r>
            <a:endParaRPr lang="he-IL" sz="1000" dirty="0"/>
          </a:p>
        </p:txBody>
      </p:sp>
      <p:pic>
        <p:nvPicPr>
          <p:cNvPr id="11" name="Image 4" descr="/home/claude/rev08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2569464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40080" y="2542032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פועל באופן מקומי, גם ללא תקשורת עם השרת המרכזי</a:t>
            </a:r>
            <a:endParaRPr lang="he-IL" sz="1000" dirty="0"/>
          </a:p>
        </p:txBody>
      </p:sp>
      <p:pic>
        <p:nvPicPr>
          <p:cNvPr id="13" name="Image 5" descr="/home/claude/rev08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3081528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40080" y="3054096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שלט מואר עם מספר החדר והסטטוס שלו</a:t>
            </a:r>
            <a:endParaRPr lang="he-I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8/a/w_p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3520" y="329184"/>
            <a:ext cx="957560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טאבלט חכם לחולה ולצוות</a:t>
            </a:r>
            <a:endParaRPr lang="he-IL" sz="2400" dirty="0"/>
          </a:p>
        </p:txBody>
      </p:sp>
      <p:sp>
        <p:nvSpPr>
          <p:cNvPr id="4" name="Shape 1"/>
          <p:cNvSpPr/>
          <p:nvPr/>
        </p:nvSpPr>
        <p:spPr>
          <a:xfrm>
            <a:off x="384048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8/a/room1_clean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8620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1325880"/>
            <a:ext cx="32004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8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" y="1517904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בקשות לפי קטגוריות: אח/ות, תרופה, אוכל ושתייה, שירותים, שינוי תנוחה</a:t>
            </a:r>
            <a:endParaRPr lang="he-IL" sz="1000" dirty="0"/>
          </a:p>
        </p:txBody>
      </p:sp>
      <p:pic>
        <p:nvPicPr>
          <p:cNvPr id="9" name="Image 3" descr="/home/claude/rev08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075688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40080" y="2048256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שיחות שמע ווידאו עם הצוות ועם בני המשפחה</a:t>
            </a:r>
            <a:endParaRPr lang="he-IL" sz="1000" dirty="0"/>
          </a:p>
        </p:txBody>
      </p:sp>
      <p:pic>
        <p:nvPicPr>
          <p:cNvPr id="11" name="Image 4" descr="/home/claude/rev08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2606040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40080" y="2578608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בידור, טלוויזיה ומידע רפואי – עם קוד גישה אישי</a:t>
            </a:r>
            <a:endParaRPr lang="he-IL" sz="1000" dirty="0"/>
          </a:p>
        </p:txBody>
      </p:sp>
      <p:pic>
        <p:nvPicPr>
          <p:cNvPr id="13" name="Image 5" descr="/home/claude/rev08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3136392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40080" y="3108960"/>
            <a:ext cx="2587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מחוץ לחדר: סטטוס קריאות, אינטרקום ומשימות</a:t>
            </a:r>
            <a:endParaRPr lang="he-I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v08/a/w_se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8009" y="329184"/>
            <a:ext cx="1343071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65960" y="69494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ניטור רציף – ללא מגע</a:t>
            </a:r>
            <a:endParaRPr lang="he-IL" sz="2400" dirty="0"/>
          </a:p>
        </p:txBody>
      </p:sp>
      <p:sp>
        <p:nvSpPr>
          <p:cNvPr id="4" name="Shape 1"/>
          <p:cNvSpPr/>
          <p:nvPr/>
        </p:nvSpPr>
        <p:spPr>
          <a:xfrm>
            <a:off x="384048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1" descr="/home/claude/rev08/a/p3_n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86200" y="1325880"/>
            <a:ext cx="475488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1325880"/>
            <a:ext cx="320040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2" descr="/home/claude/rev08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545336"/>
            <a:ext cx="201168" cy="20116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" y="15179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 קימה מהמיטה, נפילות ונוכחות בחדר</a:t>
            </a:r>
            <a:endParaRPr lang="he-IL" sz="1000" dirty="0"/>
          </a:p>
        </p:txBody>
      </p:sp>
      <p:pic>
        <p:nvPicPr>
          <p:cNvPr id="9" name="Image 3" descr="/home/claude/rev08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002536"/>
            <a:ext cx="201168" cy="20116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40080" y="19751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קצב לב ונשימה ואיכות השינה – ללא חוטים</a:t>
            </a:r>
            <a:endParaRPr lang="he-IL" sz="1000" dirty="0"/>
          </a:p>
        </p:txBody>
      </p:sp>
      <p:pic>
        <p:nvPicPr>
          <p:cNvPr id="11" name="Image 4" descr="/home/claude/rev08/a/i_LuCircleChec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2459736"/>
            <a:ext cx="201168" cy="20116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640080" y="24323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חיישן גוף רפואי – עד 9 פרמטרים קליניים</a:t>
            </a:r>
            <a:endParaRPr lang="he-IL" sz="1000" dirty="0"/>
          </a:p>
        </p:txBody>
      </p:sp>
      <p:pic>
        <p:nvPicPr>
          <p:cNvPr id="13" name="Image 5" descr="/home/claude/rev08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2916936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40080" y="2889504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חיישני סביבה: טמפרטורה, לחות, CO, CO2 ורעש</a:t>
            </a:r>
            <a:endParaRPr lang="he-IL" sz="1000" dirty="0"/>
          </a:p>
        </p:txBody>
      </p:sp>
      <p:sp>
        <p:nvSpPr>
          <p:cNvPr id="15" name="Shape 7"/>
          <p:cNvSpPr/>
          <p:nvPr/>
        </p:nvSpPr>
        <p:spPr>
          <a:xfrm>
            <a:off x="2148840" y="352044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2B275B"/>
          </a:solidFill>
          <a:ln/>
        </p:spPr>
      </p:sp>
      <p:sp>
        <p:nvSpPr>
          <p:cNvPr id="16" name="Text 8"/>
          <p:cNvSpPr txBox="1"/>
          <p:nvPr/>
        </p:nvSpPr>
        <p:spPr>
          <a:xfrm>
            <a:off x="2221992" y="3566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22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-40%</a:t>
            </a:r>
            <a:endParaRPr lang="en-US" sz="2200" dirty="0"/>
          </a:p>
        </p:txBody>
      </p:sp>
      <p:sp>
        <p:nvSpPr>
          <p:cNvPr id="17" name="Text 9"/>
          <p:cNvSpPr txBox="1"/>
          <p:nvPr/>
        </p:nvSpPr>
        <p:spPr>
          <a:xfrm>
            <a:off x="2221992" y="39867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נפילות</a:t>
            </a:r>
            <a:endParaRPr lang="he-IL" sz="950" dirty="0"/>
          </a:p>
        </p:txBody>
      </p:sp>
      <p:sp>
        <p:nvSpPr>
          <p:cNvPr id="18" name="Shape 10"/>
          <p:cNvSpPr/>
          <p:nvPr/>
        </p:nvSpPr>
        <p:spPr>
          <a:xfrm>
            <a:off x="685800" y="3520440"/>
            <a:ext cx="1371600" cy="777240"/>
          </a:xfrm>
          <a:prstGeom prst="roundRect">
            <a:avLst>
              <a:gd name="adj" fmla="val 11765"/>
            </a:avLst>
          </a:prstGeom>
          <a:solidFill>
            <a:srgbClr val="2B275B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758952" y="3566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altLang="en-US" sz="22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-70%</a:t>
            </a:r>
            <a:endParaRPr lang="en-US" sz="2200" dirty="0"/>
          </a:p>
        </p:txBody>
      </p:sp>
      <p:sp>
        <p:nvSpPr>
          <p:cNvPr id="20" name="Text 12"/>
          <p:cNvSpPr txBox="1"/>
          <p:nvPr/>
        </p:nvSpPr>
        <p:spPr>
          <a:xfrm>
            <a:off x="758952" y="39867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פצעי לחץ</a:t>
            </a:r>
            <a:endParaRPr lang="he-I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אבטחה ואיתור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בקרת גישה ואיתור בזמן אמת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384048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8/a/corr_clea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86200" y="1325880"/>
            <a:ext cx="475488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25880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1" descr="/home/claude/rev08/a/w_cont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589" y="1508760"/>
            <a:ext cx="1320851" cy="246888"/>
          </a:xfrm>
          <a:prstGeom prst="rect">
            <a:avLst/>
          </a:prstGeom>
        </p:spPr>
      </p:pic>
      <p:pic>
        <p:nvPicPr>
          <p:cNvPr id="8" name="Image 2" descr="/home/claude/rev08/a/i_LuCircleCheck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883664"/>
            <a:ext cx="201168" cy="20116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18562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מנעול חכם: Bluetooth, כרטיס, טביעת אצבע או קוד</a:t>
            </a:r>
            <a:endParaRPr lang="he-IL" sz="1000" dirty="0"/>
          </a:p>
        </p:txBody>
      </p:sp>
      <p:pic>
        <p:nvPicPr>
          <p:cNvPr id="10" name="Image 3" descr="/home/claude/rev08/a/i_LuCircleCheck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340864"/>
            <a:ext cx="201168" cy="20116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40080" y="23134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מצלמות, בקרת גישה ומסופי מגע</a:t>
            </a:r>
            <a:endParaRPr lang="he-IL" sz="1000" dirty="0"/>
          </a:p>
        </p:txBody>
      </p:sp>
      <p:pic>
        <p:nvPicPr>
          <p:cNvPr id="12" name="Image 4" descr="/home/claude/rev08/a/w_tra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4133" y="2880360"/>
            <a:ext cx="1086307" cy="246888"/>
          </a:xfrm>
          <a:prstGeom prst="rect">
            <a:avLst/>
          </a:prstGeom>
        </p:spPr>
      </p:pic>
      <p:pic>
        <p:nvPicPr>
          <p:cNvPr id="13" name="Image 5" descr="/home/claude/rev08/a/i_LuCircle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9272" y="3255264"/>
            <a:ext cx="201168" cy="20116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40080" y="32278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איתור אנשים וציוד בזמן אמת – תג, צמיד או כרטיס</a:t>
            </a:r>
            <a:endParaRPr lang="he-IL" sz="1000" dirty="0"/>
          </a:p>
        </p:txBody>
      </p:sp>
      <p:pic>
        <p:nvPicPr>
          <p:cNvPr id="15" name="Image 6" descr="/home/claude/rev08/a/i_LuCircleCheck_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3712464"/>
            <a:ext cx="201168" cy="201168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640080" y="3685032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גרסת רדיו ו-Bluetooth, עם לחצן מצוקה לצוות</a:t>
            </a:r>
            <a:endParaRPr lang="he-I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הפוטנציאל המלא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סדרות המוצרים של Advantecnia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6720840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79792" y="1435608"/>
            <a:ext cx="402336" cy="402336"/>
          </a:xfrm>
          <a:prstGeom prst="ellipse">
            <a:avLst/>
          </a:prstGeom>
          <a:solidFill>
            <a:srgbClr val="F39200"/>
          </a:solidFill>
          <a:ln/>
        </p:spPr>
      </p:sp>
      <p:pic>
        <p:nvPicPr>
          <p:cNvPr id="6" name="Image 0" descr="/home/claude/rev08/a/i_LuBellRin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6353" y="1532169"/>
            <a:ext cx="209215" cy="20921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1228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קריאת אח/ות</a:t>
            </a:r>
            <a:endParaRPr lang="he-IL" sz="1000" dirty="0"/>
          </a:p>
        </p:txBody>
      </p:sp>
      <p:sp>
        <p:nvSpPr>
          <p:cNvPr id="8" name="Shape 5"/>
          <p:cNvSpPr/>
          <p:nvPr/>
        </p:nvSpPr>
        <p:spPr>
          <a:xfrm>
            <a:off x="4672584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31536" y="1435608"/>
            <a:ext cx="402336" cy="402336"/>
          </a:xfrm>
          <a:prstGeom prst="ellipse">
            <a:avLst/>
          </a:prstGeom>
          <a:solidFill>
            <a:srgbClr val="F39200"/>
          </a:solidFill>
          <a:ln/>
        </p:spPr>
      </p:sp>
      <p:pic>
        <p:nvPicPr>
          <p:cNvPr id="10" name="Image 1" descr="/home/claude/rev08/a/i_LuHeartPuls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097" y="1532169"/>
            <a:ext cx="209215" cy="20921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64024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ניטור בזמן אמת</a:t>
            </a:r>
            <a:endParaRPr lang="he-IL" sz="1000" dirty="0"/>
          </a:p>
        </p:txBody>
      </p:sp>
      <p:sp>
        <p:nvSpPr>
          <p:cNvPr id="12" name="Shape 8"/>
          <p:cNvSpPr/>
          <p:nvPr/>
        </p:nvSpPr>
        <p:spPr>
          <a:xfrm>
            <a:off x="2624328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83280" y="1435608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4" name="Image 2" descr="/home/claude/rev08/a/i_LuPhon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841" y="1532169"/>
            <a:ext cx="209215" cy="20921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715768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אינטרקום</a:t>
            </a:r>
            <a:endParaRPr lang="he-IL" sz="1000" dirty="0"/>
          </a:p>
        </p:txBody>
      </p:sp>
      <p:sp>
        <p:nvSpPr>
          <p:cNvPr id="16" name="Shape 11"/>
          <p:cNvSpPr/>
          <p:nvPr/>
        </p:nvSpPr>
        <p:spPr>
          <a:xfrm>
            <a:off x="576072" y="132588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335024" y="1435608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8" name="Image 3" descr="/home/claude/rev08/a/i_LuMegaphon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585" y="1532169"/>
            <a:ext cx="209215" cy="20921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7512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כריזה</a:t>
            </a:r>
            <a:endParaRPr lang="he-IL" sz="1000" dirty="0"/>
          </a:p>
        </p:txBody>
      </p:sp>
      <p:sp>
        <p:nvSpPr>
          <p:cNvPr id="20" name="Shape 14"/>
          <p:cNvSpPr/>
          <p:nvPr/>
        </p:nvSpPr>
        <p:spPr>
          <a:xfrm>
            <a:off x="6720840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79792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2" name="Image 4" descr="/home/claude/rev08/a/i_LuSiren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6353" y="2611161"/>
            <a:ext cx="209215" cy="20921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812280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שלטי חיווי ולחצני מצוקה</a:t>
            </a:r>
            <a:endParaRPr lang="he-IL" sz="1000" dirty="0"/>
          </a:p>
        </p:txBody>
      </p:sp>
      <p:sp>
        <p:nvSpPr>
          <p:cNvPr id="24" name="Shape 17"/>
          <p:cNvSpPr/>
          <p:nvPr/>
        </p:nvSpPr>
        <p:spPr>
          <a:xfrm>
            <a:off x="4672584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5431536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6" name="Image 5" descr="/home/claude/rev08/a/i_LuLock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097" y="2611161"/>
            <a:ext cx="209215" cy="20921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764024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אוטומציה ואבטחה</a:t>
            </a:r>
            <a:endParaRPr lang="he-IL" sz="1000" dirty="0"/>
          </a:p>
        </p:txBody>
      </p:sp>
      <p:sp>
        <p:nvSpPr>
          <p:cNvPr id="28" name="Shape 20"/>
          <p:cNvSpPr/>
          <p:nvPr/>
        </p:nvSpPr>
        <p:spPr>
          <a:xfrm>
            <a:off x="2624328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383280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0" name="Image 6" descr="/home/claude/rev08/a/i_LuMapPin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9841" y="2611161"/>
            <a:ext cx="209215" cy="20921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2715768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איתור מיקום בזמן אמת</a:t>
            </a:r>
            <a:endParaRPr lang="he-IL" sz="1000" dirty="0"/>
          </a:p>
        </p:txBody>
      </p:sp>
      <p:sp>
        <p:nvSpPr>
          <p:cNvPr id="32" name="Shape 23"/>
          <p:cNvSpPr/>
          <p:nvPr/>
        </p:nvSpPr>
        <p:spPr>
          <a:xfrm>
            <a:off x="576072" y="2404872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1335024" y="2514600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4" name="Image 7" descr="/home/claude/rev08/a/i_LuZap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1585" y="2611161"/>
            <a:ext cx="209215" cy="20921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67512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בקרה וחיסכון אנרגטי</a:t>
            </a:r>
            <a:endParaRPr lang="he-IL" sz="1000" dirty="0"/>
          </a:p>
        </p:txBody>
      </p:sp>
      <p:sp>
        <p:nvSpPr>
          <p:cNvPr id="36" name="Shape 26"/>
          <p:cNvSpPr/>
          <p:nvPr/>
        </p:nvSpPr>
        <p:spPr>
          <a:xfrm>
            <a:off x="6720840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7479792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8" name="Image 8" descr="/home/claude/rev08/a/i_LuAlarmClock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6353" y="3690153"/>
            <a:ext cx="209215" cy="209215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812280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סנכרון שעונים</a:t>
            </a:r>
            <a:endParaRPr lang="he-IL" sz="1000" dirty="0"/>
          </a:p>
        </p:txBody>
      </p:sp>
      <p:sp>
        <p:nvSpPr>
          <p:cNvPr id="40" name="Shape 29"/>
          <p:cNvSpPr/>
          <p:nvPr/>
        </p:nvSpPr>
        <p:spPr>
          <a:xfrm>
            <a:off x="4672584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5431536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42" name="Image 9" descr="/home/claude/rev08/a/i_LuTv_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8097" y="3690153"/>
            <a:ext cx="209215" cy="209215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4764024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הכוונה ובידור</a:t>
            </a:r>
            <a:endParaRPr lang="he-IL" sz="1000" dirty="0"/>
          </a:p>
        </p:txBody>
      </p:sp>
      <p:sp>
        <p:nvSpPr>
          <p:cNvPr id="44" name="Shape 32"/>
          <p:cNvSpPr/>
          <p:nvPr/>
        </p:nvSpPr>
        <p:spPr>
          <a:xfrm>
            <a:off x="2624328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3383280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46" name="Image 10" descr="/home/claude/rev08/a/i_LuUsers_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9841" y="3690153"/>
            <a:ext cx="209215" cy="20921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2715768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תורים</a:t>
            </a:r>
            <a:endParaRPr lang="he-IL" sz="1000" dirty="0"/>
          </a:p>
        </p:txBody>
      </p:sp>
      <p:sp>
        <p:nvSpPr>
          <p:cNvPr id="48" name="Shape 35"/>
          <p:cNvSpPr/>
          <p:nvPr/>
        </p:nvSpPr>
        <p:spPr>
          <a:xfrm>
            <a:off x="576072" y="3483864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49" name="Shape 36"/>
          <p:cNvSpPr/>
          <p:nvPr/>
        </p:nvSpPr>
        <p:spPr>
          <a:xfrm>
            <a:off x="1335024" y="3593592"/>
            <a:ext cx="402336" cy="402336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50" name="Image 11" descr="/home/claude/rev08/a/i_LuMonitor_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1585" y="3690153"/>
            <a:ext cx="209215" cy="209215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667512" y="40325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שילוט דיגיטלי</a:t>
            </a:r>
            <a:endParaRPr lang="he-I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4924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3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2</a:t>
            </a:r>
            <a:endParaRPr lang="he-IL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257800" y="1207008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he-IL" altLang="en-US" sz="2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הפרויקט במרכז הרפואי יוספטל</a:t>
            </a:r>
            <a:endParaRPr lang="he-IL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257800" y="25420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מחלקה כירורגית · מערכת קריאת אח/ות AdvantCare</a:t>
            </a:r>
            <a:endParaRPr lang="he-IL" sz="1150" dirty="0"/>
          </a:p>
        </p:txBody>
      </p:sp>
      <p:sp>
        <p:nvSpPr>
          <p:cNvPr id="5" name="Shape 3"/>
          <p:cNvSpPr/>
          <p:nvPr/>
        </p:nvSpPr>
        <p:spPr>
          <a:xfrm>
            <a:off x="7040880" y="310896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955280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he-IL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114032" y="316382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מיטות</a:t>
            </a:r>
            <a:endParaRPr lang="he-IL" sz="1000" dirty="0"/>
          </a:p>
        </p:txBody>
      </p:sp>
      <p:sp>
        <p:nvSpPr>
          <p:cNvPr id="8" name="Shape 6"/>
          <p:cNvSpPr/>
          <p:nvPr/>
        </p:nvSpPr>
        <p:spPr>
          <a:xfrm>
            <a:off x="5349240" y="310896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263640" y="3163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he-IL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22392" y="316382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חדרי אשפוז</a:t>
            </a:r>
            <a:endParaRPr lang="he-IL" sz="1000" dirty="0"/>
          </a:p>
        </p:txBody>
      </p:sp>
      <p:sp>
        <p:nvSpPr>
          <p:cNvPr id="11" name="Shape 9"/>
          <p:cNvSpPr/>
          <p:nvPr/>
        </p:nvSpPr>
        <p:spPr>
          <a:xfrm>
            <a:off x="7040880" y="3858768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95528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he-IL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114032" y="39136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שירותי מטופלים</a:t>
            </a:r>
            <a:endParaRPr lang="he-IL" sz="1000" dirty="0"/>
          </a:p>
        </p:txBody>
      </p:sp>
      <p:sp>
        <p:nvSpPr>
          <p:cNvPr id="14" name="Shape 12"/>
          <p:cNvSpPr/>
          <p:nvPr/>
        </p:nvSpPr>
        <p:spPr>
          <a:xfrm>
            <a:off x="5349240" y="3858768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263640" y="3913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4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he-IL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422392" y="39136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עמדת אחיות</a:t>
            </a:r>
            <a:endParaRPr lang="he-IL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28016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18" name="Image 0" descr="/home/claude/rev08/a/bed3_nota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325880"/>
            <a:ext cx="4754880" cy="3246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המחלקה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מיקום כל התקן – על תוכנית הקומה</a:t>
            </a:r>
            <a:endParaRPr lang="he-IL" sz="2500" dirty="0"/>
          </a:p>
        </p:txBody>
      </p:sp>
      <p:sp>
        <p:nvSpPr>
          <p:cNvPr id="4" name="Shape 2">
            <a:hlinkClick r:id="rId1" tooltip=""/>
          </p:cNvPr>
          <p:cNvSpPr/>
          <p:nvPr/>
        </p:nvSpPr>
        <p:spPr>
          <a:xfrm>
            <a:off x="640080" y="146304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F39200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Text 3">
            <a:hlinkClick r:id="rId2" tooltip=""/>
          </p:cNvPr>
          <p:cNvSpPr txBox="1"/>
          <p:nvPr/>
        </p:nvSpPr>
        <p:spPr>
          <a:xfrm>
            <a:off x="685800" y="146304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לפתוח את התוכנית האינטראקטיבית ←</a:t>
            </a:r>
            <a:endParaRPr lang="he-IL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8138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0" y="2857500"/>
            <a:ext cx="5120640" cy="428625"/>
          </a:xfrm>
          <a:prstGeom prst="rect">
            <a:avLst/>
          </a:prstGeom>
          <a:solidFill>
            <a:srgbClr val="EEEDF5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0" y="1628775"/>
            <a:ext cx="101727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1691640"/>
            <a:ext cx="10172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4</a:t>
            </a:r>
            <a:endParaRPr lang="he-IL" sz="850" dirty="0"/>
          </a:p>
        </p:txBody>
      </p:sp>
      <p:sp>
        <p:nvSpPr>
          <p:cNvPr id="10" name="Shape 8"/>
          <p:cNvSpPr/>
          <p:nvPr/>
        </p:nvSpPr>
        <p:spPr>
          <a:xfrm>
            <a:off x="208026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625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2" name="Shape 10"/>
          <p:cNvSpPr/>
          <p:nvPr/>
        </p:nvSpPr>
        <p:spPr>
          <a:xfrm>
            <a:off x="208026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625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4" name="Shape 12"/>
          <p:cNvSpPr/>
          <p:nvPr/>
        </p:nvSpPr>
        <p:spPr>
          <a:xfrm>
            <a:off x="208026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25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16" name="Shape 14"/>
          <p:cNvSpPr/>
          <p:nvPr/>
        </p:nvSpPr>
        <p:spPr>
          <a:xfrm>
            <a:off x="254203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17" name="Shape 15"/>
          <p:cNvSpPr/>
          <p:nvPr/>
        </p:nvSpPr>
        <p:spPr>
          <a:xfrm>
            <a:off x="277634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8" name="Shape 16"/>
          <p:cNvSpPr/>
          <p:nvPr/>
        </p:nvSpPr>
        <p:spPr>
          <a:xfrm>
            <a:off x="3028950" y="1628775"/>
            <a:ext cx="102870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28950" y="1691640"/>
            <a:ext cx="10287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3</a:t>
            </a:r>
            <a:endParaRPr lang="he-IL" sz="850" dirty="0"/>
          </a:p>
        </p:txBody>
      </p:sp>
      <p:sp>
        <p:nvSpPr>
          <p:cNvPr id="20" name="Shape 18"/>
          <p:cNvSpPr/>
          <p:nvPr/>
        </p:nvSpPr>
        <p:spPr>
          <a:xfrm>
            <a:off x="309753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352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2" name="Shape 20"/>
          <p:cNvSpPr/>
          <p:nvPr/>
        </p:nvSpPr>
        <p:spPr>
          <a:xfrm>
            <a:off x="309753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352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4" name="Shape 22"/>
          <p:cNvSpPr/>
          <p:nvPr/>
        </p:nvSpPr>
        <p:spPr>
          <a:xfrm>
            <a:off x="309753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352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26" name="Shape 24"/>
          <p:cNvSpPr/>
          <p:nvPr/>
        </p:nvSpPr>
        <p:spPr>
          <a:xfrm>
            <a:off x="355930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27" name="Shape 25"/>
          <p:cNvSpPr/>
          <p:nvPr/>
        </p:nvSpPr>
        <p:spPr>
          <a:xfrm>
            <a:off x="380504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8" name="Shape 26"/>
          <p:cNvSpPr/>
          <p:nvPr/>
        </p:nvSpPr>
        <p:spPr>
          <a:xfrm>
            <a:off x="4057650" y="1628775"/>
            <a:ext cx="90297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057650" y="1691640"/>
            <a:ext cx="9029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משרד</a:t>
            </a:r>
            <a:endParaRPr lang="he-IL" sz="850" dirty="0"/>
          </a:p>
        </p:txBody>
      </p:sp>
      <p:sp>
        <p:nvSpPr>
          <p:cNvPr id="30" name="Shape 28"/>
          <p:cNvSpPr/>
          <p:nvPr/>
        </p:nvSpPr>
        <p:spPr>
          <a:xfrm>
            <a:off x="4960620" y="1628775"/>
            <a:ext cx="114300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60620" y="16916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2</a:t>
            </a:r>
            <a:endParaRPr lang="he-IL" sz="850" dirty="0"/>
          </a:p>
        </p:txBody>
      </p:sp>
      <p:sp>
        <p:nvSpPr>
          <p:cNvPr id="32" name="Shape 30"/>
          <p:cNvSpPr/>
          <p:nvPr/>
        </p:nvSpPr>
        <p:spPr>
          <a:xfrm>
            <a:off x="502920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6519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6519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6519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38" name="Shape 36"/>
          <p:cNvSpPr/>
          <p:nvPr/>
        </p:nvSpPr>
        <p:spPr>
          <a:xfrm>
            <a:off x="549097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39" name="Shape 37"/>
          <p:cNvSpPr/>
          <p:nvPr/>
        </p:nvSpPr>
        <p:spPr>
          <a:xfrm>
            <a:off x="585101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40" name="Shape 38"/>
          <p:cNvSpPr/>
          <p:nvPr/>
        </p:nvSpPr>
        <p:spPr>
          <a:xfrm>
            <a:off x="6103620" y="1628775"/>
            <a:ext cx="1028700" cy="1228725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03620" y="1691640"/>
            <a:ext cx="10287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 1</a:t>
            </a:r>
            <a:endParaRPr lang="he-IL" sz="850" dirty="0"/>
          </a:p>
        </p:txBody>
      </p:sp>
      <p:sp>
        <p:nvSpPr>
          <p:cNvPr id="42" name="Shape 40"/>
          <p:cNvSpPr/>
          <p:nvPr/>
        </p:nvSpPr>
        <p:spPr>
          <a:xfrm>
            <a:off x="6172200" y="18459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08192" y="19248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44" name="Shape 42"/>
          <p:cNvSpPr/>
          <p:nvPr/>
        </p:nvSpPr>
        <p:spPr>
          <a:xfrm>
            <a:off x="6172200" y="2188845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08192" y="2267712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46" name="Shape 44"/>
          <p:cNvSpPr/>
          <p:nvPr/>
        </p:nvSpPr>
        <p:spPr>
          <a:xfrm>
            <a:off x="6172200" y="2514600"/>
            <a:ext cx="428625" cy="240030"/>
          </a:xfrm>
          <a:prstGeom prst="roundRect">
            <a:avLst>
              <a:gd name="adj" fmla="val 11429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08192" y="2593467"/>
            <a:ext cx="82296" cy="82296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48" name="Shape 46"/>
          <p:cNvSpPr/>
          <p:nvPr/>
        </p:nvSpPr>
        <p:spPr>
          <a:xfrm>
            <a:off x="6633972" y="267347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49" name="Shape 47"/>
          <p:cNvSpPr/>
          <p:nvPr/>
        </p:nvSpPr>
        <p:spPr>
          <a:xfrm>
            <a:off x="6879717" y="2884932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2011680" y="3000375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מסדרון</a:t>
            </a:r>
            <a:endParaRPr lang="he-IL" sz="800" dirty="0"/>
          </a:p>
        </p:txBody>
      </p:sp>
      <p:sp>
        <p:nvSpPr>
          <p:cNvPr id="51" name="Shape 49"/>
          <p:cNvSpPr/>
          <p:nvPr/>
        </p:nvSpPr>
        <p:spPr>
          <a:xfrm>
            <a:off x="2114550" y="3160395"/>
            <a:ext cx="4800600" cy="0"/>
          </a:xfrm>
          <a:prstGeom prst="line">
            <a:avLst/>
          </a:prstGeom>
          <a:noFill/>
          <a:ln w="19050">
            <a:solidFill>
              <a:srgbClr val="1E9E3E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4097655" y="3286125"/>
            <a:ext cx="942975" cy="69723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097655" y="3743325"/>
            <a:ext cx="942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8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עמדת אחיות</a:t>
            </a:r>
            <a:endParaRPr lang="he-IL" sz="800" dirty="0"/>
          </a:p>
        </p:txBody>
      </p:sp>
      <p:sp>
        <p:nvSpPr>
          <p:cNvPr id="54" name="Shape 52"/>
          <p:cNvSpPr/>
          <p:nvPr/>
        </p:nvSpPr>
        <p:spPr>
          <a:xfrm>
            <a:off x="4429125" y="3451860"/>
            <a:ext cx="285750" cy="19431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25400">
            <a:solidFill>
              <a:srgbClr val="5C2D8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83555" y="3286125"/>
            <a:ext cx="474345" cy="90297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583555" y="4000500"/>
            <a:ext cx="4743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שירותי צוות</a:t>
            </a:r>
            <a:endParaRPr lang="he-IL" sz="700" dirty="0"/>
          </a:p>
        </p:txBody>
      </p:sp>
      <p:sp>
        <p:nvSpPr>
          <p:cNvPr id="57" name="Shape 55"/>
          <p:cNvSpPr/>
          <p:nvPr/>
        </p:nvSpPr>
        <p:spPr>
          <a:xfrm>
            <a:off x="5752148" y="3657600"/>
            <a:ext cx="137160" cy="205740"/>
          </a:xfrm>
          <a:prstGeom prst="roundRect">
            <a:avLst>
              <a:gd name="adj" fmla="val 26667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057900" y="3286125"/>
            <a:ext cx="514350" cy="90297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057900" y="4000500"/>
            <a:ext cx="5143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שירותים B2</a:t>
            </a:r>
            <a:endParaRPr lang="he-IL" sz="700" dirty="0"/>
          </a:p>
        </p:txBody>
      </p:sp>
      <p:sp>
        <p:nvSpPr>
          <p:cNvPr id="60" name="Shape 58"/>
          <p:cNvSpPr/>
          <p:nvPr/>
        </p:nvSpPr>
        <p:spPr>
          <a:xfrm>
            <a:off x="6246495" y="3657600"/>
            <a:ext cx="137160" cy="205740"/>
          </a:xfrm>
          <a:prstGeom prst="roundRect">
            <a:avLst>
              <a:gd name="adj" fmla="val 26667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33922" y="3485007"/>
            <a:ext cx="82296" cy="82296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62" name="Shape 60"/>
          <p:cNvSpPr/>
          <p:nvPr/>
        </p:nvSpPr>
        <p:spPr>
          <a:xfrm>
            <a:off x="6416802" y="333641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63" name="Shape 61"/>
          <p:cNvSpPr/>
          <p:nvPr/>
        </p:nvSpPr>
        <p:spPr>
          <a:xfrm>
            <a:off x="6273927" y="3164967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64" name="Shape 62"/>
          <p:cNvSpPr/>
          <p:nvPr/>
        </p:nvSpPr>
        <p:spPr>
          <a:xfrm>
            <a:off x="6572250" y="3286125"/>
            <a:ext cx="560070" cy="902970"/>
          </a:xfrm>
          <a:prstGeom prst="rect">
            <a:avLst/>
          </a:prstGeom>
          <a:solidFill>
            <a:srgbClr val="FFFFFF"/>
          </a:solidFill>
          <a:ln w="25400">
            <a:solidFill>
              <a:srgbClr val="2B275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572250" y="4000500"/>
            <a:ext cx="5600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7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שירותים B3</a:t>
            </a:r>
            <a:endParaRPr lang="he-IL" sz="700" dirty="0"/>
          </a:p>
        </p:txBody>
      </p:sp>
      <p:sp>
        <p:nvSpPr>
          <p:cNvPr id="66" name="Shape 64"/>
          <p:cNvSpPr/>
          <p:nvPr/>
        </p:nvSpPr>
        <p:spPr>
          <a:xfrm>
            <a:off x="6783705" y="3657600"/>
            <a:ext cx="137160" cy="205740"/>
          </a:xfrm>
          <a:prstGeom prst="roundRect">
            <a:avLst>
              <a:gd name="adj" fmla="val 26667"/>
            </a:avLst>
          </a:prstGeom>
          <a:solidFill>
            <a:srgbClr val="ECE8F6"/>
          </a:solidFill>
          <a:ln w="9525">
            <a:solidFill>
              <a:srgbClr val="C9C2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748272" y="3485007"/>
            <a:ext cx="82296" cy="82296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68" name="Shape 66"/>
          <p:cNvSpPr/>
          <p:nvPr/>
        </p:nvSpPr>
        <p:spPr>
          <a:xfrm>
            <a:off x="6931152" y="3336417"/>
            <a:ext cx="82296" cy="82296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69" name="Shape 67"/>
          <p:cNvSpPr/>
          <p:nvPr/>
        </p:nvSpPr>
        <p:spPr>
          <a:xfrm>
            <a:off x="6811137" y="3164967"/>
            <a:ext cx="82296" cy="82296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0" name="Shape 68"/>
          <p:cNvSpPr/>
          <p:nvPr/>
        </p:nvSpPr>
        <p:spPr>
          <a:xfrm>
            <a:off x="6982587" y="3399282"/>
            <a:ext cx="82296" cy="82296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71" name="Shape 69"/>
          <p:cNvSpPr/>
          <p:nvPr/>
        </p:nvSpPr>
        <p:spPr>
          <a:xfrm>
            <a:off x="7031736" y="4370832"/>
            <a:ext cx="100584" cy="100584"/>
          </a:xfrm>
          <a:prstGeom prst="ellipse">
            <a:avLst/>
          </a:prstGeom>
          <a:solidFill>
            <a:srgbClr val="D93025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025896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קריאה + אגס</a:t>
            </a:r>
            <a:endParaRPr lang="he-IL" sz="850" dirty="0"/>
          </a:p>
        </p:txBody>
      </p:sp>
      <p:sp>
        <p:nvSpPr>
          <p:cNvPr id="73" name="Shape 71"/>
          <p:cNvSpPr/>
          <p:nvPr/>
        </p:nvSpPr>
        <p:spPr>
          <a:xfrm>
            <a:off x="5888736" y="4370832"/>
            <a:ext cx="100584" cy="100584"/>
          </a:xfrm>
          <a:prstGeom prst="ellipse">
            <a:avLst/>
          </a:prstGeom>
          <a:solidFill>
            <a:srgbClr val="E07A12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4882896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חבל מצוקה</a:t>
            </a:r>
            <a:endParaRPr lang="he-IL" sz="850" dirty="0"/>
          </a:p>
        </p:txBody>
      </p:sp>
      <p:sp>
        <p:nvSpPr>
          <p:cNvPr id="75" name="Shape 73"/>
          <p:cNvSpPr/>
          <p:nvPr/>
        </p:nvSpPr>
        <p:spPr>
          <a:xfrm>
            <a:off x="4745736" y="4370832"/>
            <a:ext cx="100584" cy="100584"/>
          </a:xfrm>
          <a:prstGeom prst="ellipse">
            <a:avLst/>
          </a:prstGeom>
          <a:solidFill>
            <a:srgbClr val="1E9E3E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3739896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נוכחות / ביטול</a:t>
            </a:r>
            <a:endParaRPr lang="he-IL" sz="850" dirty="0"/>
          </a:p>
        </p:txBody>
      </p:sp>
      <p:sp>
        <p:nvSpPr>
          <p:cNvPr id="77" name="Shape 75"/>
          <p:cNvSpPr/>
          <p:nvPr/>
        </p:nvSpPr>
        <p:spPr>
          <a:xfrm>
            <a:off x="3602736" y="4370832"/>
            <a:ext cx="100584" cy="100584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2596896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מנורת מסדרון</a:t>
            </a:r>
            <a:endParaRPr lang="he-IL" sz="850" dirty="0"/>
          </a:p>
        </p:txBody>
      </p:sp>
      <p:sp>
        <p:nvSpPr>
          <p:cNvPr id="79" name="Shape 77"/>
          <p:cNvSpPr/>
          <p:nvPr/>
        </p:nvSpPr>
        <p:spPr>
          <a:xfrm>
            <a:off x="2459736" y="4370832"/>
            <a:ext cx="100584" cy="100584"/>
          </a:xfrm>
          <a:prstGeom prst="ellipse">
            <a:avLst/>
          </a:prstGeom>
          <a:solidFill>
            <a:srgbClr val="5C2D82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1453896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עמדת אחות</a:t>
            </a:r>
            <a:endParaRPr lang="he-IL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נתקין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AdvantCare במחלקה הכירורגית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5486400" y="1280160"/>
            <a:ext cx="32004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8/a/s14_be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325880"/>
            <a:ext cx="3108960" cy="2487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547872" y="1280160"/>
            <a:ext cx="187452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7" name="Image 1" descr="/home/claude/rev08/a/s14_wc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93592" y="1325880"/>
            <a:ext cx="1783080" cy="16276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547872" y="3200400"/>
            <a:ext cx="1874520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9" name="Image 2" descr="/home/claude/rev08/a/s14_n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593592" y="3246120"/>
            <a:ext cx="1783080" cy="133502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532120" y="3886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0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מיטה בחדר עם וילונות</a:t>
            </a:r>
            <a:endParaRPr lang="he-IL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3593592" y="29900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שירותי מטופלים</a:t>
            </a:r>
            <a:endParaRPr lang="he-IL" sz="950" dirty="0"/>
          </a:p>
        </p:txBody>
      </p:sp>
      <p:sp>
        <p:nvSpPr>
          <p:cNvPr id="12" name="Text 7"/>
          <p:cNvSpPr txBox="1"/>
          <p:nvPr/>
        </p:nvSpPr>
        <p:spPr>
          <a:xfrm>
            <a:off x="3593592" y="46085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עמדת אחיות – מחוץ לחדר</a:t>
            </a:r>
            <a:endParaRPr lang="he-IL" sz="950" dirty="0"/>
          </a:p>
        </p:txBody>
      </p:sp>
      <p:sp>
        <p:nvSpPr>
          <p:cNvPr id="13" name="Shape 8"/>
          <p:cNvSpPr/>
          <p:nvPr/>
        </p:nvSpPr>
        <p:spPr>
          <a:xfrm>
            <a:off x="5532120" y="4187952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FFF4EA"/>
          </a:solidFill>
          <a:ln w="9525">
            <a:solidFill>
              <a:srgbClr val="F39200"/>
            </a:solidFill>
            <a:prstDash val="solid"/>
          </a:ln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5623560" y="41879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אופציונלי: טאבלט CarePad ליד המיטה – למטופל (בידור, הזמנות, קריאה)</a:t>
            </a:r>
            <a:endParaRPr lang="he-IL" sz="850" dirty="0"/>
          </a:p>
        </p:txBody>
      </p:sp>
      <p:sp>
        <p:nvSpPr>
          <p:cNvPr id="15" name="Shape 10"/>
          <p:cNvSpPr/>
          <p:nvPr/>
        </p:nvSpPr>
        <p:spPr>
          <a:xfrm>
            <a:off x="5488229" y="150144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488229" y="150144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he-IL" sz="1100" dirty="0"/>
          </a:p>
        </p:txBody>
      </p:sp>
      <p:sp>
        <p:nvSpPr>
          <p:cNvPr id="17" name="Shape 12"/>
          <p:cNvSpPr/>
          <p:nvPr/>
        </p:nvSpPr>
        <p:spPr>
          <a:xfrm>
            <a:off x="5861304" y="150144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861304" y="150144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he-IL" sz="1100" dirty="0"/>
          </a:p>
        </p:txBody>
      </p:sp>
      <p:sp>
        <p:nvSpPr>
          <p:cNvPr id="19" name="Shape 14"/>
          <p:cNvSpPr/>
          <p:nvPr/>
        </p:nvSpPr>
        <p:spPr>
          <a:xfrm>
            <a:off x="6364956" y="203929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64956" y="20392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he-IL" sz="1100" dirty="0"/>
          </a:p>
        </p:txBody>
      </p:sp>
      <p:sp>
        <p:nvSpPr>
          <p:cNvPr id="21" name="Shape 16"/>
          <p:cNvSpPr/>
          <p:nvPr/>
        </p:nvSpPr>
        <p:spPr>
          <a:xfrm>
            <a:off x="5876849" y="1756380"/>
            <a:ext cx="585216" cy="219456"/>
          </a:xfrm>
          <a:prstGeom prst="roundRect">
            <a:avLst>
              <a:gd name="adj" fmla="val 50000"/>
            </a:avLst>
          </a:prstGeom>
          <a:solidFill>
            <a:srgbClr val="2B275B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876849" y="1756380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CarePad</a:t>
            </a:r>
            <a:endParaRPr lang="he-IL" sz="750" dirty="0"/>
          </a:p>
        </p:txBody>
      </p:sp>
      <p:sp>
        <p:nvSpPr>
          <p:cNvPr id="23" name="Shape 18"/>
          <p:cNvSpPr/>
          <p:nvPr/>
        </p:nvSpPr>
        <p:spPr>
          <a:xfrm>
            <a:off x="3926517" y="1417461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926517" y="141746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he-IL" sz="1100" dirty="0"/>
          </a:p>
        </p:txBody>
      </p:sp>
      <p:sp>
        <p:nvSpPr>
          <p:cNvPr id="25" name="Shape 20"/>
          <p:cNvSpPr/>
          <p:nvPr/>
        </p:nvSpPr>
        <p:spPr>
          <a:xfrm>
            <a:off x="4550595" y="1348555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550595" y="13485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he-IL" sz="1100" dirty="0"/>
          </a:p>
        </p:txBody>
      </p:sp>
      <p:sp>
        <p:nvSpPr>
          <p:cNvPr id="27" name="Shape 22"/>
          <p:cNvSpPr/>
          <p:nvPr/>
        </p:nvSpPr>
        <p:spPr>
          <a:xfrm>
            <a:off x="4838319" y="3692754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838319" y="369275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he-IL" sz="1100" dirty="0"/>
          </a:p>
        </p:txBody>
      </p:sp>
      <p:sp>
        <p:nvSpPr>
          <p:cNvPr id="29" name="Shape 24"/>
          <p:cNvSpPr/>
          <p:nvPr/>
        </p:nvSpPr>
        <p:spPr>
          <a:xfrm>
            <a:off x="502920" y="1325880"/>
            <a:ext cx="2880360" cy="3291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2971800" y="1463040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297180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he-IL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594360" y="1426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פנל קריאה ליד כל מיטה</a:t>
            </a:r>
            <a:endParaRPr lang="he-IL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594360" y="16367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הקיר, ליד ראש המיטה</a:t>
            </a:r>
            <a:endParaRPr lang="he-IL" sz="850" dirty="0"/>
          </a:p>
        </p:txBody>
      </p:sp>
      <p:sp>
        <p:nvSpPr>
          <p:cNvPr id="34" name="Shape 29"/>
          <p:cNvSpPr/>
          <p:nvPr/>
        </p:nvSpPr>
        <p:spPr>
          <a:xfrm>
            <a:off x="2971800" y="1975104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2971800" y="1975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he-IL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594360" y="1938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לחצן אגס</a:t>
            </a:r>
            <a:endParaRPr lang="he-IL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594360" y="2148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בהישג יד המטופל, בכל מיטה</a:t>
            </a:r>
            <a:endParaRPr lang="he-IL" sz="850" dirty="0"/>
          </a:p>
        </p:txBody>
      </p:sp>
      <p:sp>
        <p:nvSpPr>
          <p:cNvPr id="38" name="Shape 33"/>
          <p:cNvSpPr/>
          <p:nvPr/>
        </p:nvSpPr>
        <p:spPr>
          <a:xfrm>
            <a:off x="2971800" y="2487168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297180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he-IL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594360" y="2450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לחצן מצוקה עם ידית משיכה</a:t>
            </a:r>
            <a:endParaRPr lang="he-IL" sz="1050" dirty="0"/>
          </a:p>
        </p:txBody>
      </p:sp>
      <p:sp>
        <p:nvSpPr>
          <p:cNvPr id="41" name="Text 36"/>
          <p:cNvSpPr txBox="1"/>
          <p:nvPr/>
        </p:nvSpPr>
        <p:spPr>
          <a:xfrm>
            <a:off x="594360" y="26609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בשירותים ובמקלחת</a:t>
            </a:r>
            <a:endParaRPr lang="he-IL" sz="850" dirty="0"/>
          </a:p>
        </p:txBody>
      </p:sp>
      <p:sp>
        <p:nvSpPr>
          <p:cNvPr id="42" name="Shape 37"/>
          <p:cNvSpPr/>
          <p:nvPr/>
        </p:nvSpPr>
        <p:spPr>
          <a:xfrm>
            <a:off x="2971800" y="2999232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297180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he-IL" sz="1100" dirty="0"/>
          </a:p>
        </p:txBody>
      </p:sp>
      <p:sp>
        <p:nvSpPr>
          <p:cNvPr id="44" name="Text 39"/>
          <p:cNvSpPr txBox="1"/>
          <p:nvPr/>
        </p:nvSpPr>
        <p:spPr>
          <a:xfrm>
            <a:off x="594360" y="29626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מנורת מסדרון</a:t>
            </a:r>
            <a:endParaRPr lang="he-IL" sz="1050" dirty="0"/>
          </a:p>
        </p:txBody>
      </p:sp>
      <p:sp>
        <p:nvSpPr>
          <p:cNvPr id="45" name="Text 40"/>
          <p:cNvSpPr txBox="1"/>
          <p:nvPr/>
        </p:nvSpPr>
        <p:spPr>
          <a:xfrm>
            <a:off x="594360" y="3172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מעל כל דלת – הצוות רואה מרחוק</a:t>
            </a:r>
            <a:endParaRPr lang="he-IL" sz="850" dirty="0"/>
          </a:p>
        </p:txBody>
      </p:sp>
      <p:sp>
        <p:nvSpPr>
          <p:cNvPr id="46" name="Shape 41"/>
          <p:cNvSpPr/>
          <p:nvPr/>
        </p:nvSpPr>
        <p:spPr>
          <a:xfrm>
            <a:off x="2971800" y="3511296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297180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he-IL" sz="1100" dirty="0"/>
          </a:p>
        </p:txBody>
      </p:sp>
      <p:sp>
        <p:nvSpPr>
          <p:cNvPr id="48" name="Text 43"/>
          <p:cNvSpPr txBox="1"/>
          <p:nvPr/>
        </p:nvSpPr>
        <p:spPr>
          <a:xfrm>
            <a:off x="594360" y="3474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לחצן נוכחות / ביטול</a:t>
            </a:r>
            <a:endParaRPr lang="he-IL" sz="1050" dirty="0"/>
          </a:p>
        </p:txBody>
      </p:sp>
      <p:sp>
        <p:nvSpPr>
          <p:cNvPr id="49" name="Text 44"/>
          <p:cNvSpPr txBox="1"/>
          <p:nvPr/>
        </p:nvSpPr>
        <p:spPr>
          <a:xfrm>
            <a:off x="594360" y="3685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ליד הדלת – האחות מסמנת הגעה וסוגרת</a:t>
            </a:r>
            <a:endParaRPr lang="he-IL" sz="850" dirty="0"/>
          </a:p>
        </p:txBody>
      </p:sp>
      <p:sp>
        <p:nvSpPr>
          <p:cNvPr id="50" name="Shape 45"/>
          <p:cNvSpPr/>
          <p:nvPr/>
        </p:nvSpPr>
        <p:spPr>
          <a:xfrm>
            <a:off x="2971800" y="4023360"/>
            <a:ext cx="274320" cy="274320"/>
          </a:xfrm>
          <a:prstGeom prst="ellipse">
            <a:avLst/>
          </a:prstGeom>
          <a:solidFill>
            <a:srgbClr val="2B27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297180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he-IL" sz="1100" dirty="0"/>
          </a:p>
        </p:txBody>
      </p:sp>
      <p:sp>
        <p:nvSpPr>
          <p:cNvPr id="52" name="Text 47"/>
          <p:cNvSpPr txBox="1"/>
          <p:nvPr/>
        </p:nvSpPr>
        <p:spPr>
          <a:xfrm>
            <a:off x="594360" y="3986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עמדת אחיות – Consola Monitor</a:t>
            </a:r>
            <a:endParaRPr lang="he-IL" sz="1050" dirty="0"/>
          </a:p>
        </p:txBody>
      </p:sp>
      <p:sp>
        <p:nvSpPr>
          <p:cNvPr id="53" name="Text 48"/>
          <p:cNvSpPr txBox="1"/>
          <p:nvPr/>
        </p:nvSpPr>
        <p:spPr>
          <a:xfrm>
            <a:off x="594360" y="41970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8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מחוץ לחדר: כל הקריאות, היסטוריה וסטטיסטיקה</a:t>
            </a:r>
            <a:endParaRPr lang="he-IL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זה עובד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 קריאה – מהמטופל ועד הסגירה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1097280" y="1874520"/>
            <a:ext cx="6949440" cy="0"/>
          </a:xfrm>
          <a:prstGeom prst="line">
            <a:avLst/>
          </a:prstGeom>
          <a:noFill/>
          <a:ln w="25400">
            <a:solidFill>
              <a:srgbClr val="D9D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1463040"/>
            <a:ext cx="822960" cy="822960"/>
          </a:xfrm>
          <a:prstGeom prst="ellipse">
            <a:avLst/>
          </a:prstGeom>
          <a:solidFill>
            <a:srgbClr val="D93025"/>
          </a:solidFill>
          <a:ln/>
        </p:spPr>
      </p:sp>
      <p:pic>
        <p:nvPicPr>
          <p:cNvPr id="6" name="Image 0" descr="/home/claude/rev08/a/i_LuBellRin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5590" y="16605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7804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he-IL" sz="95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המטופל קורא</a:t>
            </a:r>
            <a:endParaRPr lang="he-IL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לוחץ על האגס או מושך בידית בשירותים</a:t>
            </a:r>
            <a:endParaRPr lang="he-IL" sz="950" dirty="0"/>
          </a:p>
        </p:txBody>
      </p:sp>
      <p:sp>
        <p:nvSpPr>
          <p:cNvPr id="10" name="Shape 7"/>
          <p:cNvSpPr/>
          <p:nvPr/>
        </p:nvSpPr>
        <p:spPr>
          <a:xfrm>
            <a:off x="5852160" y="1463040"/>
            <a:ext cx="822960" cy="822960"/>
          </a:xfrm>
          <a:prstGeom prst="ellipse">
            <a:avLst/>
          </a:prstGeom>
          <a:solidFill>
            <a:srgbClr val="F39200"/>
          </a:solidFill>
          <a:ln/>
        </p:spPr>
      </p:sp>
      <p:pic>
        <p:nvPicPr>
          <p:cNvPr id="11" name="Image 1" descr="/home/claude/rev08/a/i_LuLightbulb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670" y="166055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3212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he-IL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553212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המסדרון מאותת</a:t>
            </a:r>
            <a:endParaRPr lang="he-IL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53212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המנורה מעל הדלת נדלקת</a:t>
            </a:r>
            <a:endParaRPr lang="he-IL" sz="950" dirty="0"/>
          </a:p>
        </p:txBody>
      </p:sp>
      <p:sp>
        <p:nvSpPr>
          <p:cNvPr id="15" name="Shape 11"/>
          <p:cNvSpPr/>
          <p:nvPr/>
        </p:nvSpPr>
        <p:spPr>
          <a:xfrm>
            <a:off x="4206240" y="1463040"/>
            <a:ext cx="822960" cy="822960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6" name="Image 2" descr="/home/claude/rev08/a/i_LuTabl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750" y="166055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88620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he-IL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388620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האחות מקבלת</a:t>
            </a:r>
            <a:endParaRPr lang="he-IL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388620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הקריאה מופיעה בעמדת האחיות עם החדר והמיטה</a:t>
            </a:r>
            <a:endParaRPr lang="he-IL" sz="950" dirty="0"/>
          </a:p>
        </p:txBody>
      </p:sp>
      <p:sp>
        <p:nvSpPr>
          <p:cNvPr id="20" name="Shape 15"/>
          <p:cNvSpPr/>
          <p:nvPr/>
        </p:nvSpPr>
        <p:spPr>
          <a:xfrm>
            <a:off x="2560320" y="1463040"/>
            <a:ext cx="822960" cy="822960"/>
          </a:xfrm>
          <a:prstGeom prst="ellipse">
            <a:avLst/>
          </a:prstGeom>
          <a:solidFill>
            <a:srgbClr val="1E9E3E"/>
          </a:solidFill>
          <a:ln/>
        </p:spPr>
      </p:sp>
      <p:pic>
        <p:nvPicPr>
          <p:cNvPr id="21" name="Image 3" descr="/home/claude/rev08/a/i_LuDoorOpe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7830" y="166055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24028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he-IL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224028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האחות בחדר</a:t>
            </a:r>
            <a:endParaRPr lang="he-IL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224028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לוחצת נוכחות ליד הדלת</a:t>
            </a:r>
            <a:endParaRPr lang="he-IL" sz="950" dirty="0"/>
          </a:p>
        </p:txBody>
      </p:sp>
      <p:sp>
        <p:nvSpPr>
          <p:cNvPr id="25" name="Shape 19"/>
          <p:cNvSpPr/>
          <p:nvPr/>
        </p:nvSpPr>
        <p:spPr>
          <a:xfrm>
            <a:off x="914400" y="1463040"/>
            <a:ext cx="822960" cy="822960"/>
          </a:xfrm>
          <a:prstGeom prst="ellipse">
            <a:avLst/>
          </a:prstGeom>
          <a:solidFill>
            <a:srgbClr val="5C2D82"/>
          </a:solidFill>
          <a:ln/>
        </p:spPr>
      </p:sp>
      <p:pic>
        <p:nvPicPr>
          <p:cNvPr id="26" name="Image 4" descr="/home/claude/rev08/a/i_LuCircleChe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910" y="1660550"/>
            <a:ext cx="427939" cy="42793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94360" y="2377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he-IL" sz="950" dirty="0"/>
          </a:p>
        </p:txBody>
      </p:sp>
      <p:sp>
        <p:nvSpPr>
          <p:cNvPr id="28" name="Text 21"/>
          <p:cNvSpPr txBox="1"/>
          <p:nvPr/>
        </p:nvSpPr>
        <p:spPr>
          <a:xfrm>
            <a:off x="594360" y="2578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הקריאה נסגרת</a:t>
            </a:r>
            <a:endParaRPr lang="he-IL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בסיום הטיפול – נשמרת בהיסטוריה</a:t>
            </a:r>
            <a:endParaRPr lang="he-I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היום ומחר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מתחילים בקריאת אח/ות – ממשיכים לחדר חכם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5943600" y="1371600"/>
            <a:ext cx="2697480" cy="2606040"/>
          </a:xfrm>
          <a:prstGeom prst="roundRect">
            <a:avLst>
              <a:gd name="adj" fmla="val 4912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126480" y="1536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נתקין עכשיו</a:t>
            </a:r>
            <a:endParaRPr lang="he-IL" sz="1050" dirty="0"/>
          </a:p>
        </p:txBody>
      </p:sp>
      <p:sp>
        <p:nvSpPr>
          <p:cNvPr id="6" name="Shape 4"/>
          <p:cNvSpPr/>
          <p:nvPr/>
        </p:nvSpPr>
        <p:spPr>
          <a:xfrm>
            <a:off x="6172200" y="187452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pic>
        <p:nvPicPr>
          <p:cNvPr id="7" name="Image 0" descr="/home/claude/rev08/a/w_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4613" y="1993392"/>
            <a:ext cx="810707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63640" y="2258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קריאת אח/ות מהמיטה ומהמסדרון</a:t>
            </a:r>
            <a:endParaRPr lang="he-IL" sz="950" dirty="0"/>
          </a:p>
        </p:txBody>
      </p:sp>
      <p:sp>
        <p:nvSpPr>
          <p:cNvPr id="9" name="Shape 6"/>
          <p:cNvSpPr/>
          <p:nvPr/>
        </p:nvSpPr>
        <p:spPr>
          <a:xfrm>
            <a:off x="6172200" y="2862072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pic>
        <p:nvPicPr>
          <p:cNvPr id="10" name="Image 1" descr="/home/claude/rev08/a/w_s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115" y="2980944"/>
            <a:ext cx="724205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6364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מצוקה בשירותים ובמקלחת</a:t>
            </a:r>
            <a:endParaRPr lang="he-IL" sz="950" dirty="0"/>
          </a:p>
        </p:txBody>
      </p:sp>
      <p:pic>
        <p:nvPicPr>
          <p:cNvPr id="12" name="Image 2" descr="/home/claude/rev08/a/i_LuArrowLeft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51460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2920" y="135331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להוסיף בהמשך, על אותה תשתית</a:t>
            </a:r>
            <a:endParaRPr lang="he-IL" sz="1050" dirty="0"/>
          </a:p>
        </p:txBody>
      </p:sp>
      <p:sp>
        <p:nvSpPr>
          <p:cNvPr id="14" name="Shape 9"/>
          <p:cNvSpPr/>
          <p:nvPr/>
        </p:nvSpPr>
        <p:spPr>
          <a:xfrm>
            <a:off x="502920" y="1664208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15" name="Image 3" descr="/home/claude/rev08/a/w_p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323" y="1819656"/>
            <a:ext cx="619597" cy="20116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40080" y="18105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טאבלט חכם ליד כל מיטה</a:t>
            </a:r>
            <a:endParaRPr lang="he-IL" sz="950" dirty="0"/>
          </a:p>
        </p:txBody>
      </p:sp>
      <p:sp>
        <p:nvSpPr>
          <p:cNvPr id="17" name="Shape 11"/>
          <p:cNvSpPr/>
          <p:nvPr/>
        </p:nvSpPr>
        <p:spPr>
          <a:xfrm>
            <a:off x="502920" y="2267712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18" name="Image 4" descr="/home/claude/rev08/a/w_sen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5874" y="2423160"/>
            <a:ext cx="869046" cy="20116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40080" y="24140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ניטור ללא מגע ומניעת נפילות</a:t>
            </a:r>
            <a:endParaRPr lang="he-IL" sz="950" dirty="0"/>
          </a:p>
        </p:txBody>
      </p:sp>
      <p:sp>
        <p:nvSpPr>
          <p:cNvPr id="20" name="Shape 13"/>
          <p:cNvSpPr/>
          <p:nvPr/>
        </p:nvSpPr>
        <p:spPr>
          <a:xfrm>
            <a:off x="502920" y="2871216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21" name="Image 5" descr="/home/claude/rev08/a/w_tra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9781" y="3026664"/>
            <a:ext cx="885139" cy="20116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40080" y="3017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איתור צוות וציוד</a:t>
            </a:r>
            <a:endParaRPr lang="he-IL" sz="950" dirty="0"/>
          </a:p>
        </p:txBody>
      </p:sp>
      <p:sp>
        <p:nvSpPr>
          <p:cNvPr id="23" name="Shape 15"/>
          <p:cNvSpPr/>
          <p:nvPr/>
        </p:nvSpPr>
        <p:spPr>
          <a:xfrm>
            <a:off x="502920" y="3474720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9D6EA"/>
            </a:solidFill>
            <a:prstDash val="dash"/>
          </a:ln>
        </p:spPr>
      </p:sp>
      <p:pic>
        <p:nvPicPr>
          <p:cNvPr id="24" name="Image 6" descr="/home/claude/rev08/a/w_contro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8671" y="3630168"/>
            <a:ext cx="1076249" cy="20116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40080" y="36210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l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בקרת גישה ומנעולים חכמים</a:t>
            </a:r>
            <a:endParaRPr lang="he-I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ADVANTECNIA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הבחירה הנכונה ליוספטל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7104888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04888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6" name="Shape 4"/>
          <p:cNvSpPr/>
          <p:nvPr/>
        </p:nvSpPr>
        <p:spPr>
          <a:xfrm>
            <a:off x="7616952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7" name="Image 0" descr="/home/claude/rev08/a/i_LuAward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9847" y="1905975"/>
            <a:ext cx="266273" cy="26627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96328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יותר מ-45,000 מיטות</a:t>
            </a:r>
            <a:endParaRPr lang="he-IL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196328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קריאת אחות מוכחת ביותר מ-400 בתי חולים</a:t>
            </a:r>
            <a:endParaRPr lang="he-IL" sz="900" dirty="0"/>
          </a:p>
        </p:txBody>
      </p:sp>
      <p:sp>
        <p:nvSpPr>
          <p:cNvPr id="10" name="Shape 7"/>
          <p:cNvSpPr/>
          <p:nvPr/>
        </p:nvSpPr>
        <p:spPr>
          <a:xfrm>
            <a:off x="5458968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58968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2" name="Shape 9"/>
          <p:cNvSpPr/>
          <p:nvPr/>
        </p:nvSpPr>
        <p:spPr>
          <a:xfrm>
            <a:off x="5971032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3" name="Image 1" descr="/home/claude/rev08/a/i_LuShield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927" y="1905975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50408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תקנים בינלאומיים</a:t>
            </a:r>
            <a:endParaRPr lang="he-IL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550408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· UL · ISO 9001 · DIN VDE 0834</a:t>
            </a:r>
            <a:endParaRPr lang="he-IL" sz="900" dirty="0"/>
          </a:p>
        </p:txBody>
      </p:sp>
      <p:sp>
        <p:nvSpPr>
          <p:cNvPr id="16" name="Shape 12"/>
          <p:cNvSpPr/>
          <p:nvPr/>
        </p:nvSpPr>
        <p:spPr>
          <a:xfrm>
            <a:off x="3813048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813048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8" name="Shape 14"/>
          <p:cNvSpPr/>
          <p:nvPr/>
        </p:nvSpPr>
        <p:spPr>
          <a:xfrm>
            <a:off x="4325112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19" name="Image 2" descr="/home/claude/rev08/a/i_LuClipboardChe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007" y="1905975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904488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התכנון מוכן</a:t>
            </a:r>
            <a:endParaRPr lang="he-IL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3904488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תוכניות, מודל 3D ותמונות – כל התקן במקומו</a:t>
            </a:r>
            <a:endParaRPr lang="he-IL" sz="900" dirty="0"/>
          </a:p>
        </p:txBody>
      </p:sp>
      <p:sp>
        <p:nvSpPr>
          <p:cNvPr id="22" name="Shape 17"/>
          <p:cNvSpPr/>
          <p:nvPr/>
        </p:nvSpPr>
        <p:spPr>
          <a:xfrm>
            <a:off x="2167128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167128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24" name="Shape 19"/>
          <p:cNvSpPr/>
          <p:nvPr/>
        </p:nvSpPr>
        <p:spPr>
          <a:xfrm>
            <a:off x="2679192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25" name="Image 3" descr="/home/claude/rev08/a/i_LuHandshak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087" y="1905975"/>
            <a:ext cx="266273" cy="26627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258568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שותף מקומי</a:t>
            </a:r>
            <a:endParaRPr lang="he-IL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2258568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אורד בישראל – התקנה, הדרכה ותמיכה</a:t>
            </a:r>
            <a:endParaRPr lang="he-IL" sz="900" dirty="0"/>
          </a:p>
        </p:txBody>
      </p:sp>
      <p:sp>
        <p:nvSpPr>
          <p:cNvPr id="28" name="Shape 22"/>
          <p:cNvSpPr/>
          <p:nvPr/>
        </p:nvSpPr>
        <p:spPr>
          <a:xfrm>
            <a:off x="521208" y="132588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21208" y="1325880"/>
            <a:ext cx="1536192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30" name="Shape 24"/>
          <p:cNvSpPr/>
          <p:nvPr/>
        </p:nvSpPr>
        <p:spPr>
          <a:xfrm>
            <a:off x="1033272" y="1783080"/>
            <a:ext cx="512064" cy="512064"/>
          </a:xfrm>
          <a:prstGeom prst="ellipse">
            <a:avLst/>
          </a:prstGeom>
          <a:solidFill>
            <a:srgbClr val="2B275B"/>
          </a:solidFill>
          <a:ln/>
        </p:spPr>
      </p:sp>
      <p:pic>
        <p:nvPicPr>
          <p:cNvPr id="31" name="Image 4" descr="/home/claude/rev08/a/i_LuTrendingUp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167" y="1905975"/>
            <a:ext cx="266273" cy="266273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12648" y="246888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מוכן לעתיד</a:t>
            </a:r>
            <a:endParaRPr lang="he-IL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612648" y="2944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אותה תשתית מתרחבת לחדר חכם מלא</a:t>
            </a:r>
            <a:endParaRPr lang="he-IL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נדרש היום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הצעד הבא: אישור והתקדמות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1673352"/>
            <a:ext cx="6217920" cy="0"/>
          </a:xfrm>
          <a:prstGeom prst="line">
            <a:avLst/>
          </a:prstGeom>
          <a:noFill/>
          <a:ln w="25400">
            <a:solidFill>
              <a:srgbClr val="D9D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9016" y="1417320"/>
            <a:ext cx="512064" cy="512064"/>
          </a:xfrm>
          <a:prstGeom prst="ellipse">
            <a:avLst/>
          </a:prstGeom>
          <a:solidFill>
            <a:srgbClr val="2B275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2901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he-IL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התכנון עם המחלקה</a:t>
            </a:r>
            <a:endParaRPr lang="he-IL" sz="1250" dirty="0"/>
          </a:p>
        </p:txBody>
      </p:sp>
      <p:sp>
        <p:nvSpPr>
          <p:cNvPr id="8" name="Shape 6"/>
          <p:cNvSpPr/>
          <p:nvPr/>
        </p:nvSpPr>
        <p:spPr>
          <a:xfrm>
            <a:off x="6071616" y="1417320"/>
            <a:ext cx="512064" cy="512064"/>
          </a:xfrm>
          <a:prstGeom prst="ellipse">
            <a:avLst/>
          </a:prstGeom>
          <a:solidFill>
            <a:srgbClr val="2B275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7161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he-IL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סקר אתר סופי</a:t>
            </a:r>
            <a:endParaRPr lang="he-IL" sz="1250" dirty="0"/>
          </a:p>
        </p:txBody>
      </p:sp>
      <p:sp>
        <p:nvSpPr>
          <p:cNvPr id="11" name="Shape 9"/>
          <p:cNvSpPr/>
          <p:nvPr/>
        </p:nvSpPr>
        <p:spPr>
          <a:xfrm>
            <a:off x="4014216" y="1417320"/>
            <a:ext cx="512064" cy="512064"/>
          </a:xfrm>
          <a:prstGeom prst="ellipse">
            <a:avLst/>
          </a:prstGeom>
          <a:solidFill>
            <a:srgbClr val="2B275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he-IL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התקנה מפורטת</a:t>
            </a:r>
            <a:endParaRPr lang="he-IL" sz="1250" dirty="0"/>
          </a:p>
        </p:txBody>
      </p:sp>
      <p:sp>
        <p:nvSpPr>
          <p:cNvPr id="14" name="Shape 12"/>
          <p:cNvSpPr/>
          <p:nvPr/>
        </p:nvSpPr>
        <p:spPr>
          <a:xfrm>
            <a:off x="1956816" y="1417320"/>
            <a:ext cx="512064" cy="512064"/>
          </a:xfrm>
          <a:prstGeom prst="ellipse">
            <a:avLst/>
          </a:prstGeom>
          <a:solidFill>
            <a:srgbClr val="F392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56816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he-IL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1031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5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התקנה, הפעלה והדרכת הצוות</a:t>
            </a:r>
            <a:endParaRPr lang="he-IL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154680"/>
            <a:ext cx="813816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623560" y="32918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40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 רבה</a:t>
            </a:r>
            <a:endParaRPr lang="he-IL" sz="4000" dirty="0"/>
          </a:p>
        </p:txBody>
      </p:sp>
      <p:pic>
        <p:nvPicPr>
          <p:cNvPr id="19" name="Image 0" descr="/home/claude/rev08/a/ora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3520440"/>
            <a:ext cx="365760" cy="47548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3017520" y="3520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אורד</a:t>
            </a:r>
            <a:endParaRPr lang="he-IL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2834640" y="37673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המפיץ של Advantecnia בישראל</a:t>
            </a:r>
            <a:endParaRPr lang="he-IL" sz="950" dirty="0"/>
          </a:p>
        </p:txBody>
      </p:sp>
      <p:pic>
        <p:nvPicPr>
          <p:cNvPr id="22" name="Image 1" descr="/home/claude/rev08/a/advantecn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3611880"/>
            <a:ext cx="914400" cy="26517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94360" y="35204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2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Advantecnia</a:t>
            </a:r>
            <a:endParaRPr lang="he-IL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376732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95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 BG – היצרן</a:t>
            </a:r>
            <a:endParaRPr lang="he-IL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06040" y="329184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050" b="1" dirty="0">
                <a:solidFill>
                  <a:srgbClr val="F3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נספח</a:t>
            </a:r>
            <a:endParaRPr lang="he-IL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5486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2500" b="1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רואים את המחלקה לפני ההתקנה</a:t>
            </a:r>
            <a:endParaRPr lang="he-IL" sz="2500" dirty="0"/>
          </a:p>
        </p:txBody>
      </p:sp>
      <p:sp>
        <p:nvSpPr>
          <p:cNvPr id="4" name="Shape 2"/>
          <p:cNvSpPr/>
          <p:nvPr/>
        </p:nvSpPr>
        <p:spPr>
          <a:xfrm>
            <a:off x="3794760" y="1371600"/>
            <a:ext cx="4846320" cy="3108960"/>
          </a:xfrm>
          <a:prstGeom prst="roundRect">
            <a:avLst>
              <a:gd name="adj" fmla="val 5882"/>
            </a:avLst>
          </a:prstGeom>
          <a:solidFill>
            <a:srgbClr val="1F2430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5" name="Image 0" descr="/home/claude/rev08/a/plan2d_h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31920" y="1508760"/>
            <a:ext cx="457200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600200"/>
            <a:ext cx="822960" cy="274320"/>
          </a:xfrm>
          <a:prstGeom prst="ellipse">
            <a:avLst/>
          </a:prstGeom>
          <a:solidFill>
            <a:srgbClr val="2B275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0" y="1600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2D</a:t>
            </a:r>
            <a:endParaRPr lang="he-IL" sz="950" dirty="0"/>
          </a:p>
        </p:txBody>
      </p:sp>
      <p:sp>
        <p:nvSpPr>
          <p:cNvPr id="8" name="Shape 5"/>
          <p:cNvSpPr/>
          <p:nvPr/>
        </p:nvSpPr>
        <p:spPr>
          <a:xfrm>
            <a:off x="3886200" y="3200400"/>
            <a:ext cx="1783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9" name="Image 1" descr="/home/claude/rev08/a/p3_non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31920" y="3246120"/>
            <a:ext cx="1691640" cy="10515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81728" y="331012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B275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681728" y="33101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תמונות</a:t>
            </a:r>
            <a:endParaRPr lang="he-IL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1325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5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התכנון של יוספטל זמין אונליין, מכל מכשיר:</a:t>
            </a:r>
            <a:endParaRPr lang="he-IL" sz="1100" dirty="0"/>
          </a:p>
        </p:txBody>
      </p:sp>
      <p:sp>
        <p:nvSpPr>
          <p:cNvPr id="13" name="Shape 9"/>
          <p:cNvSpPr/>
          <p:nvPr/>
        </p:nvSpPr>
        <p:spPr>
          <a:xfrm>
            <a:off x="3182112" y="18105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14" name="Image 2" descr="/home/claude/rev08/a/i_LuFileText_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87452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84632" y="18379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תוכניות 2D ושרטוטי חיווט</a:t>
            </a:r>
            <a:endParaRPr lang="he-IL" sz="1100" dirty="0"/>
          </a:p>
        </p:txBody>
      </p:sp>
      <p:sp>
        <p:nvSpPr>
          <p:cNvPr id="16" name="Shape 11"/>
          <p:cNvSpPr/>
          <p:nvPr/>
        </p:nvSpPr>
        <p:spPr>
          <a:xfrm>
            <a:off x="3182112" y="219456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17" name="Image 3" descr="/home/claude/rev08/a/i_LuBox_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2258568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84632" y="22219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תמונות ומודל תלת-ממד אינטראקטיבי</a:t>
            </a:r>
            <a:endParaRPr lang="he-IL" sz="1100" dirty="0"/>
          </a:p>
        </p:txBody>
      </p:sp>
      <p:sp>
        <p:nvSpPr>
          <p:cNvPr id="19" name="Shape 13"/>
          <p:cNvSpPr/>
          <p:nvPr/>
        </p:nvSpPr>
        <p:spPr>
          <a:xfrm>
            <a:off x="3182112" y="257860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20" name="Image 4" descr="/home/claude/rev08/a/i_LuPlay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2642616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84632" y="2606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סרטון סיור במחלקה</a:t>
            </a:r>
            <a:endParaRPr lang="he-IL" sz="1100" dirty="0"/>
          </a:p>
        </p:txBody>
      </p:sp>
      <p:sp>
        <p:nvSpPr>
          <p:cNvPr id="22" name="Shape 15"/>
          <p:cNvSpPr/>
          <p:nvPr/>
        </p:nvSpPr>
        <p:spPr>
          <a:xfrm>
            <a:off x="3182112" y="296265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DE9F6"/>
            </a:solidFill>
            <a:prstDash val="solid"/>
          </a:ln>
        </p:spPr>
      </p:sp>
      <p:pic>
        <p:nvPicPr>
          <p:cNvPr id="23" name="Image 5" descr="/home/claude/rev08/a/i_LuClipboardChec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3026664"/>
            <a:ext cx="164592" cy="16459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84632" y="29900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100" dirty="0">
                <a:solidFill>
                  <a:srgbClr val="2B2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מראש של מיקום כל התקן</a:t>
            </a:r>
            <a:endParaRPr lang="he-IL" sz="1100" dirty="0"/>
          </a:p>
        </p:txBody>
      </p:sp>
      <p:sp>
        <p:nvSpPr>
          <p:cNvPr id="25" name="Shape 17">
            <a:hlinkClick r:id="rId7" tooltip=""/>
          </p:cNvPr>
          <p:cNvSpPr/>
          <p:nvPr/>
        </p:nvSpPr>
        <p:spPr>
          <a:xfrm>
            <a:off x="502920" y="3429000"/>
            <a:ext cx="2971800" cy="841248"/>
          </a:xfrm>
          <a:prstGeom prst="roundRect">
            <a:avLst>
              <a:gd name="adj" fmla="val 15217"/>
            </a:avLst>
          </a:prstGeom>
          <a:solidFill>
            <a:srgbClr val="2B275B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pic>
        <p:nvPicPr>
          <p:cNvPr id="26" name="Image 6" descr="/home/claude/rev08/a/qr_he.png">
            <a:hlinkClick r:id="rId9" tooltip="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06624" y="3520440"/>
            <a:ext cx="658368" cy="658368"/>
          </a:xfrm>
          <a:prstGeom prst="rect">
            <a:avLst/>
          </a:prstGeom>
        </p:spPr>
      </p:pic>
      <p:sp>
        <p:nvSpPr>
          <p:cNvPr id="27" name="Text 18">
            <a:hlinkClick r:id="rId10" tooltip=""/>
          </p:cNvPr>
          <p:cNvSpPr txBox="1"/>
          <p:nvPr/>
        </p:nvSpPr>
        <p:spPr>
          <a:xfrm>
            <a:off x="594360" y="35204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lnSpc>
                <a:spcPct val="105000"/>
              </a:lnSpc>
              <a:buNone/>
            </a:pPr>
            <a:r>
              <a:rPr lang="he-IL" altLang="en-US" sz="16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סרקו לצפייה</a:t>
            </a:r>
            <a:endParaRPr lang="he-IL" sz="1600" dirty="0"/>
          </a:p>
        </p:txBody>
      </p:sp>
      <p:sp>
        <p:nvSpPr>
          <p:cNvPr id="28" name="Shape 19">
            <a:hlinkClick r:id="rId11" tooltip=""/>
          </p:cNvPr>
          <p:cNvSpPr/>
          <p:nvPr/>
        </p:nvSpPr>
        <p:spPr>
          <a:xfrm>
            <a:off x="502920" y="4370832"/>
            <a:ext cx="2971800" cy="329184"/>
          </a:xfrm>
          <a:prstGeom prst="roundRect">
            <a:avLst>
              <a:gd name="adj" fmla="val 50000"/>
            </a:avLst>
          </a:prstGeom>
          <a:solidFill>
            <a:srgbClr val="F39200"/>
          </a:solidFill>
          <a:ln/>
          <a:effectLst>
            <a:outerShdw sx="100000" sy="100000" kx="0" ky="0" algn="bl" rotWithShape="0" blurRad="127000" dist="38100" dir="5400000">
              <a:srgbClr val="2B275B">
                <a:alpha val="12000"/>
              </a:srgbClr>
            </a:outerShdw>
          </a:effectLst>
        </p:spPr>
      </p:sp>
      <p:sp>
        <p:nvSpPr>
          <p:cNvPr id="29" name="Text 20">
            <a:hlinkClick r:id="rId12" tooltip=""/>
          </p:cNvPr>
          <p:cNvSpPr txBox="1"/>
          <p:nvPr/>
        </p:nvSpPr>
        <p:spPr>
          <a:xfrm>
            <a:off x="502920" y="437083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lnSpc>
                <a:spcPct val="105000"/>
              </a:lnSpc>
              <a:buNone/>
            </a:pPr>
            <a:r>
              <a:rPr lang="he-IL" altLang="en-US" sz="105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לפתוח את התוכנית ←</a:t>
            </a:r>
            <a:endParaRPr lang="he-IL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83880" y="473659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A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Orad · Advantecnia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Room – מרכז רפואי יוספטל</dc:title>
  <dc:subject>PptxGenJS Presentation</dc:subject>
  <dc:creator>PptxGenJS</dc:creator>
  <cp:lastModifiedBy>PptxGenJS</cp:lastModifiedBy>
  <cp:revision>1</cp:revision>
  <dcterms:created xsi:type="dcterms:W3CDTF">2026-10-26T11:01:36Z</dcterms:created>
  <dcterms:modified xsi:type="dcterms:W3CDTF">2026-10-26T11:01:36Z</dcterms:modified>
</cp:coreProperties>
</file>
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Advantecnia ואורד, ומה נציג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היצרן: ניסיון, נוכחות בינלאומית ותקנים.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זה חדר חכם ולמה זה חשוב לבית החולים.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המערכות שלנו – כולן על אותה תשתית.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הליבה של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התוכנה: עמדת אחיות, מסך קיר ואפליקציה.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מצוקה בשירותים וחיווי במסדרון.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הטאבלט ליד המיטה.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ניטור ללא מגע.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ו-AdvantTrack.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סדרות המוצרים – לשלב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הפרויקט: המחלקה הכירורגית ביוספטל.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מיקום כל התקן בתוכנית.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נתקין בכל חדר ובשירותים.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מסלול הקריאה בחמישה שלבים.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מתחילים בקריאת אחות – ומרחיבים בהמשך.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חמש סיבות לבחור ב-Advantecnia.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הצעד הבא ותודה.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התכנון המלא אונליין – תמונות, תוכניות וסרטון.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6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5/he/" TargetMode="External"/><Relationship Id="rId2" Type="http://schemas.openxmlformats.org/officeDocument/2006/relationships/hyperlink" Target="https://alexjusid-jpg.github.io/planos/yoseftal_rev05/he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5/he/" TargetMode="External"/><Relationship Id="rId9" Type="http://schemas.openxmlformats.org/officeDocument/2006/relationships/hyperlink" Target="https://alexjusid-jpg.github.io/planos/yoseftal_rev05/he/" TargetMode="External"/><Relationship Id="rId10" Type="http://schemas.openxmlformats.org/officeDocument/2006/relationships/hyperlink" Target="https://alexjusid-jpg.github.io/planos/yoseftal_rev05/he/" TargetMode="External"/><Relationship Id="rId11" Type="http://schemas.openxmlformats.org/officeDocument/2006/relationships/hyperlink" Target="https://alexjusid-jpg.github.io/planos/yoseftal_rev05/he/" TargetMode="External"/><Relationship Id="rId12" Type="http://schemas.openxmlformats.org/officeDocument/2006/relationships/hyperlink" Target="https://alexjusid-jpg.github.io/planos/yoseftal_rev05/he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6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348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רפואי יוספטל · אילת</a:t>
            </a:r>
            <a:endParaRPr lang="he-IL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443484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אחות, תקשורת, ניטור רפואי ואיתור מיקום לבתי חולים</a:t>
            </a:r>
            <a:endParaRPr lang="he-IL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44348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הפתרונות של Advantecnia – ומה נתקין במחלקה הכירורגית</a:t>
            </a:r>
            <a:endParaRPr lang="he-IL" sz="1300" dirty="0"/>
          </a:p>
        </p:txBody>
      </p:sp>
      <p:pic>
        <p:nvPicPr>
          <p:cNvPr id="7" name="Image 2" descr="/home/claude/rev06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2628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הרשמי בישראל</a:t>
            </a:r>
            <a:endParaRPr lang="he-IL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2628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אוקטובר 2026</a:t>
            </a:r>
            <a:endParaRPr lang="he-IL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אנחנו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טכנולוגיה למען האדם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434072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2551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 עם מערכת קריאת אחות מותקנת</a:t>
            </a:r>
            <a:endParaRPr lang="he-IL" sz="900" dirty="0"/>
          </a:p>
        </p:txBody>
      </p:sp>
      <p:sp>
        <p:nvSpPr>
          <p:cNvPr id="7" name="Shape 5"/>
          <p:cNvSpPr/>
          <p:nvPr/>
        </p:nvSpPr>
        <p:spPr>
          <a:xfrm>
            <a:off x="613562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2706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2706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חולים</a:t>
            </a:r>
            <a:endParaRPr lang="he-IL" sz="900" dirty="0"/>
          </a:p>
        </p:txBody>
      </p:sp>
      <p:sp>
        <p:nvSpPr>
          <p:cNvPr id="10" name="Shape 8"/>
          <p:cNvSpPr/>
          <p:nvPr/>
        </p:nvSpPr>
        <p:spPr>
          <a:xfrm>
            <a:off x="483717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2861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2861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ניסיון</a:t>
            </a:r>
            <a:endParaRPr lang="he-IL" sz="900" dirty="0"/>
          </a:p>
        </p:txBody>
      </p:sp>
      <p:sp>
        <p:nvSpPr>
          <p:cNvPr id="13" name="Shape 11"/>
          <p:cNvSpPr/>
          <p:nvPr/>
        </p:nvSpPr>
        <p:spPr>
          <a:xfrm>
            <a:off x="353872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3016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בשנה</a:t>
            </a:r>
            <a:endParaRPr lang="he-IL" sz="900" dirty="0"/>
          </a:p>
        </p:txBody>
      </p:sp>
      <p:pic>
        <p:nvPicPr>
          <p:cNvPr id="16" name="Image 0" descr="/home/claude/rev06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520440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יצרן ומפתח של מוצרי IP לבריאות – מרכז בספרד ונציגות בארה"ב</a:t>
            </a:r>
            <a:endParaRPr lang="he-IL" sz="1100" dirty="0"/>
          </a:p>
        </p:txBody>
      </p:sp>
      <p:pic>
        <p:nvPicPr>
          <p:cNvPr id="18" name="Image 1" descr="/home/claude/rev06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20440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שפועלות בבתי חולים, מרפאות ודיור מוגן באירופה ובאמריקה</a:t>
            </a:r>
            <a:endParaRPr lang="he-IL" sz="1100" dirty="0"/>
          </a:p>
        </p:txBody>
      </p:sp>
      <p:pic>
        <p:nvPicPr>
          <p:cNvPr id="20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520440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של Advantecnia בישראל, עם תמיכה מקומית</a:t>
            </a:r>
            <a:endParaRPr lang="he-IL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1780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000" dirty="0"/>
          </a:p>
        </p:txBody>
      </p:sp>
      <p:pic>
        <p:nvPicPr>
          <p:cNvPr id="23" name="Image 3" descr="/home/claude/rev06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החדר החכם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Smart Room?</a:t>
            </a:r>
            <a:endParaRPr lang="he-IL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"החדר החכם" הוא סביבה טיפולית מתקדמת שעושה שימוש בטכנולוגיות דיגיטליות לשיפור הטיפול בחולים ולייעול עבודת הצוות.</a:t>
            </a:r>
            <a:endParaRPr lang="he-IL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החולה נהנה משהות נוחה ומותאמת אישית, והצוות הרפואי מקבל כלים שמסייעים לו בעבודה השוטפת.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655624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7473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6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טוב יותר</a:t>
            </a:r>
            <a:endParaRPr lang="he-IL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רציף אחר מצב החולה</a:t>
            </a:r>
            <a:endParaRPr lang="he-IL" sz="900" dirty="0"/>
          </a:p>
        </p:txBody>
      </p:sp>
      <p:sp>
        <p:nvSpPr>
          <p:cNvPr id="11" name="Shape 8"/>
          <p:cNvSpPr/>
          <p:nvPr/>
        </p:nvSpPr>
        <p:spPr>
          <a:xfrm>
            <a:off x="436168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017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6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80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יעיל יותר</a:t>
            </a:r>
            <a:endParaRPr lang="he-IL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קריאה מגיעה לאדם הנכון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655624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6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40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</a:t>
            </a:r>
            <a:endParaRPr lang="he-IL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 בזמן אמת, ביום ובלילה</a:t>
            </a:r>
            <a:endParaRPr lang="he-IL" sz="900" dirty="0"/>
          </a:p>
        </p:txBody>
      </p:sp>
      <p:sp>
        <p:nvSpPr>
          <p:cNvPr id="21" name="Shape 16"/>
          <p:cNvSpPr/>
          <p:nvPr/>
        </p:nvSpPr>
        <p:spPr>
          <a:xfrm>
            <a:off x="436168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8017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6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180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48056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חוויית מטופל</a:t>
            </a:r>
            <a:endParaRPr lang="he-IL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נוחות, מידע ובידור ליד המיטה</a:t>
            </a:r>
            <a:endParaRPr lang="he-IL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6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המערכות שלנו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המערכות – בחדר אחד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4904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32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ותקשורת</a:t>
            </a:r>
            <a:endParaRPr lang="he-IL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39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רפואי וסביבתי ללא מגע</a:t>
            </a:r>
            <a:endParaRPr lang="he-IL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516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0292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ומסכים לחולה ולצוות</a:t>
            </a:r>
            <a:endParaRPr lang="he-IL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398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0292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בשירותים</a:t>
            </a:r>
            <a:endParaRPr lang="he-IL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35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0292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ואוטומציה</a:t>
            </a:r>
            <a:endParaRPr lang="he-IL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834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0292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אח/ות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עם לחצנים לקריאה לאח/ות, לרופא/ה ולאינטרקום</a:t>
            </a:r>
            <a:endParaRPr lang="he-IL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 ארגונומי עם תאורת לד – משמש גם כמנורת לילה</a:t>
            </a:r>
            <a:endParaRPr lang="he-IL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לחצנים גדולים עם סימונים מובלטים לליקויי ראייה</a:t>
            </a:r>
            <a:endParaRPr lang="he-IL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בשירותים</a:t>
            </a:r>
            <a:endParaRPr lang="he-IL" sz="1000" dirty="0"/>
          </a:p>
        </p:txBody>
      </p:sp>
      <p:pic>
        <p:nvPicPr>
          <p:cNvPr id="15" name="Image 6" descr="/home/claude/rev06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עומד בתקן הבטיחות DIN VDE 0834-1:2016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תוכנה: כל הקריאות בתמונה אחת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5532120" y="1325880"/>
            <a:ext cx="3108960" cy="2194560"/>
          </a:xfrm>
          <a:prstGeom prst="roundRect">
            <a:avLst>
              <a:gd name="adj" fmla="val 5833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23560" y="1417320"/>
            <a:ext cx="292608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623560" y="1417320"/>
            <a:ext cx="2926080" cy="292608"/>
          </a:xfrm>
          <a:prstGeom prst="rect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46520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· כירורגיה</a:t>
            </a:r>
            <a:endParaRPr lang="he-IL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4447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10:24</a:t>
            </a:r>
            <a:endParaRPr lang="he-IL" sz="950" dirty="0"/>
          </a:p>
        </p:txBody>
      </p:sp>
      <p:sp>
        <p:nvSpPr>
          <p:cNvPr id="9" name="Shape 6"/>
          <p:cNvSpPr/>
          <p:nvPr/>
        </p:nvSpPr>
        <p:spPr>
          <a:xfrm>
            <a:off x="8385048" y="1801368"/>
            <a:ext cx="45720" cy="31089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73952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 · מיטה B</a:t>
            </a:r>
            <a:endParaRPr lang="he-IL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</a:t>
            </a:r>
            <a:endParaRPr lang="he-IL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1837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00:42</a:t>
            </a:r>
            <a:endParaRPr lang="he-IL" sz="850" dirty="0"/>
          </a:p>
        </p:txBody>
      </p:sp>
      <p:sp>
        <p:nvSpPr>
          <p:cNvPr id="13" name="Shape 10"/>
          <p:cNvSpPr/>
          <p:nvPr/>
        </p:nvSpPr>
        <p:spPr>
          <a:xfrm>
            <a:off x="8385048" y="2212848"/>
            <a:ext cx="45720" cy="31089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73952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B3</a:t>
            </a:r>
            <a:endParaRPr lang="he-IL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מצוקה</a:t>
            </a:r>
            <a:endParaRPr lang="he-IL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249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01:10</a:t>
            </a:r>
            <a:endParaRPr lang="he-IL" sz="850" dirty="0"/>
          </a:p>
        </p:txBody>
      </p:sp>
      <p:sp>
        <p:nvSpPr>
          <p:cNvPr id="17" name="Shape 14"/>
          <p:cNvSpPr/>
          <p:nvPr/>
        </p:nvSpPr>
        <p:spPr>
          <a:xfrm>
            <a:off x="8385048" y="2624328"/>
            <a:ext cx="45720" cy="310896"/>
          </a:xfrm>
          <a:prstGeom prst="rect">
            <a:avLst/>
          </a:prstGeom>
          <a:solidFill>
            <a:srgbClr val="1E9E3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2587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473952" y="2770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אחות בחדר</a:t>
            </a:r>
            <a:endParaRPr lang="he-IL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660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03:05</a:t>
            </a:r>
            <a:endParaRPr lang="he-IL" sz="850" dirty="0"/>
          </a:p>
        </p:txBody>
      </p:sp>
      <p:sp>
        <p:nvSpPr>
          <p:cNvPr id="21" name="Shape 18"/>
          <p:cNvSpPr/>
          <p:nvPr/>
        </p:nvSpPr>
        <p:spPr>
          <a:xfrm>
            <a:off x="8385048" y="3035808"/>
            <a:ext cx="45720" cy="310896"/>
          </a:xfrm>
          <a:prstGeom prst="rect">
            <a:avLst/>
          </a:prstGeom>
          <a:solidFill>
            <a:srgbClr val="8A8FA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73952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 · מיטה A</a:t>
            </a:r>
            <a:endParaRPr lang="he-IL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473952" y="3182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נסגרה</a:t>
            </a:r>
            <a:endParaRPr lang="he-IL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30723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10:21</a:t>
            </a:r>
            <a:endParaRPr lang="he-IL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טאבלט, iPad או מחשב All-in-One</a:t>
            </a:r>
            <a:endParaRPr lang="he-IL" sz="950" dirty="0"/>
          </a:p>
        </p:txBody>
      </p:sp>
      <p:sp>
        <p:nvSpPr>
          <p:cNvPr id="26" name="Shape 23"/>
          <p:cNvSpPr/>
          <p:nvPr/>
        </p:nvSpPr>
        <p:spPr>
          <a:xfrm>
            <a:off x="342900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9300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56616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 · כירורגיה</a:t>
            </a:r>
            <a:endParaRPr lang="he-IL" sz="750" dirty="0"/>
          </a:p>
        </p:txBody>
      </p:sp>
      <p:sp>
        <p:nvSpPr>
          <p:cNvPr id="29" name="Shape 26"/>
          <p:cNvSpPr/>
          <p:nvPr/>
        </p:nvSpPr>
        <p:spPr>
          <a:xfrm>
            <a:off x="470001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0001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00" dirty="0"/>
          </a:p>
        </p:txBody>
      </p:sp>
      <p:sp>
        <p:nvSpPr>
          <p:cNvPr id="31" name="Shape 28"/>
          <p:cNvSpPr/>
          <p:nvPr/>
        </p:nvSpPr>
        <p:spPr>
          <a:xfrm>
            <a:off x="413308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3308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00" dirty="0"/>
          </a:p>
        </p:txBody>
      </p:sp>
      <p:sp>
        <p:nvSpPr>
          <p:cNvPr id="33" name="Shape 30"/>
          <p:cNvSpPr/>
          <p:nvPr/>
        </p:nvSpPr>
        <p:spPr>
          <a:xfrm>
            <a:off x="356616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00" dirty="0"/>
          </a:p>
        </p:txBody>
      </p:sp>
      <p:sp>
        <p:nvSpPr>
          <p:cNvPr id="35" name="Shape 32"/>
          <p:cNvSpPr/>
          <p:nvPr/>
        </p:nvSpPr>
        <p:spPr>
          <a:xfrm>
            <a:off x="470001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70001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00" dirty="0"/>
          </a:p>
        </p:txBody>
      </p:sp>
      <p:sp>
        <p:nvSpPr>
          <p:cNvPr id="37" name="Shape 34"/>
          <p:cNvSpPr/>
          <p:nvPr/>
        </p:nvSpPr>
        <p:spPr>
          <a:xfrm>
            <a:off x="413308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13308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he-IL" sz="800" dirty="0"/>
          </a:p>
        </p:txBody>
      </p:sp>
      <p:sp>
        <p:nvSpPr>
          <p:cNvPr id="39" name="Shape 36"/>
          <p:cNvSpPr/>
          <p:nvPr/>
        </p:nvSpPr>
        <p:spPr>
          <a:xfrm>
            <a:off x="356616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56616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he-IL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342900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</a:t>
            </a:r>
            <a:endParaRPr lang="he-IL" sz="950" dirty="0"/>
          </a:p>
        </p:txBody>
      </p:sp>
      <p:sp>
        <p:nvSpPr>
          <p:cNvPr id="42" name="Shape 39"/>
          <p:cNvSpPr/>
          <p:nvPr/>
        </p:nvSpPr>
        <p:spPr>
          <a:xfrm>
            <a:off x="434340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39826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43484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001768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44398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he-IL" sz="550" dirty="0"/>
          </a:p>
        </p:txBody>
      </p:sp>
      <p:sp>
        <p:nvSpPr>
          <p:cNvPr id="47" name="Text 44"/>
          <p:cNvSpPr txBox="1"/>
          <p:nvPr/>
        </p:nvSpPr>
        <p:spPr>
          <a:xfrm>
            <a:off x="444398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חדשה</a:t>
            </a:r>
            <a:endParaRPr lang="he-IL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444398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 · מיטה B</a:t>
            </a:r>
            <a:endParaRPr lang="he-IL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315468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לסמארטפון</a:t>
            </a:r>
            <a:endParaRPr lang="he-IL" sz="950" dirty="0"/>
          </a:p>
        </p:txBody>
      </p:sp>
      <p:sp>
        <p:nvSpPr>
          <p:cNvPr id="50" name="Shape 47"/>
          <p:cNvSpPr/>
          <p:nvPr/>
        </p:nvSpPr>
        <p:spPr>
          <a:xfrm>
            <a:off x="50292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1" name="Image 1" descr="/home/claude/rev06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517904"/>
            <a:ext cx="201168" cy="201168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621792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תיעדוף קריאות לפי סוג ודחיפות</a:t>
            </a:r>
            <a:endParaRPr lang="he-IL" sz="1000" dirty="0"/>
          </a:p>
        </p:txBody>
      </p:sp>
      <p:pic>
        <p:nvPicPr>
          <p:cNvPr id="53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01952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621792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למסופים ולטלפונים ניידים</a:t>
            </a:r>
            <a:endParaRPr lang="he-IL" sz="1000" dirty="0"/>
          </a:p>
        </p:txBody>
      </p:sp>
      <p:pic>
        <p:nvPicPr>
          <p:cNvPr id="55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2286000"/>
            <a:ext cx="201168" cy="201168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621792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טלפון IP או טלפון שולחני אנדרואיד</a:t>
            </a:r>
            <a:endParaRPr lang="he-IL" sz="1000" dirty="0"/>
          </a:p>
        </p:txBody>
      </p:sp>
      <p:pic>
        <p:nvPicPr>
          <p:cNvPr id="57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2670048"/>
            <a:ext cx="201168" cy="201168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621792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היסטורי, דוחות וגרפים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854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ושלטי חיווי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– נגיש גם לחולה שנפל</a:t>
            </a:r>
            <a:endParaRPr lang="he-IL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חיווי תאורה במסדרון, בכניסה לחדר – אדום, כחול או ירוק לפי סוג ההתרעה</a:t>
            </a:r>
            <a:endParaRPr lang="he-IL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פועל באופן מקומי, גם ללא תקשורת עם השרת המרכזי</a:t>
            </a:r>
            <a:endParaRPr lang="he-IL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 מואר עם מספר החדר והסטטוס שלו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לחולה ולצוות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לפי קטגוריות: אח/ות, תרופה, אוכל ושתייה, שירותים, שינוי תנוחה</a:t>
            </a:r>
            <a:endParaRPr lang="he-IL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שמע ווידאו עם הצוות ועם בני המשפחה</a:t>
            </a:r>
            <a:endParaRPr lang="he-IL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בידור, טלוויזיה ומידע רפואי – עם קוד גישה אישי</a:t>
            </a:r>
            <a:endParaRPr lang="he-IL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מחוץ לחדר: סטטוס קריאות, אינטרקום ומשימות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6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009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רציף – ללא מגע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6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קימה מהמיטה, נפילות ונוכחות בחדר</a:t>
            </a:r>
            <a:endParaRPr lang="he-IL" sz="1000" dirty="0"/>
          </a:p>
        </p:txBody>
      </p:sp>
      <p:pic>
        <p:nvPicPr>
          <p:cNvPr id="9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לב ונשימה ואיכות השינה – ללא חוטים</a:t>
            </a:r>
            <a:endParaRPr lang="he-IL" sz="1000" dirty="0"/>
          </a:p>
        </p:txBody>
      </p:sp>
      <p:pic>
        <p:nvPicPr>
          <p:cNvPr id="11" name="Image 4" descr="/home/claude/rev06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חיישן גוף רפואי – עד 9 פרמטרים קליניים</a:t>
            </a:r>
            <a:endParaRPr lang="he-IL" sz="1000" dirty="0"/>
          </a:p>
        </p:txBody>
      </p:sp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חיישני סביבה: טמפרטורה, לחות, CO, CO2 ורעש</a:t>
            </a:r>
            <a:endParaRPr lang="he-IL" sz="1000" dirty="0"/>
          </a:p>
        </p:txBody>
      </p:sp>
      <p:sp>
        <p:nvSpPr>
          <p:cNvPr id="15" name="Shape 7"/>
          <p:cNvSpPr/>
          <p:nvPr/>
        </p:nvSpPr>
        <p:spPr>
          <a:xfrm>
            <a:off x="214884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222199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222199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נפילות</a:t>
            </a:r>
            <a:endParaRPr lang="he-IL" sz="950" dirty="0"/>
          </a:p>
        </p:txBody>
      </p:sp>
      <p:sp>
        <p:nvSpPr>
          <p:cNvPr id="18" name="Shape 10"/>
          <p:cNvSpPr/>
          <p:nvPr/>
        </p:nvSpPr>
        <p:spPr>
          <a:xfrm>
            <a:off x="6858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5895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5895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פצעי לחץ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ואיתור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ואיתור בזמן אמת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6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89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6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מנעול חכם: Bluetooth, כרטיס, טביעת אצבע או קוד</a:t>
            </a:r>
            <a:endParaRPr lang="he-IL" sz="1000" dirty="0"/>
          </a:p>
        </p:txBody>
      </p:sp>
      <p:pic>
        <p:nvPicPr>
          <p:cNvPr id="10" name="Image 3" descr="/home/claude/rev06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0080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מצלמות, בקרת גישה ומסופי מגע</a:t>
            </a:r>
            <a:endParaRPr lang="he-IL" sz="1000" dirty="0"/>
          </a:p>
        </p:txBody>
      </p:sp>
      <p:pic>
        <p:nvPicPr>
          <p:cNvPr id="12" name="Image 4" descr="/home/claude/rev06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133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6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 – תג, צמיד או כרטיס</a:t>
            </a:r>
            <a:endParaRPr lang="he-IL" sz="1000" dirty="0"/>
          </a:p>
        </p:txBody>
      </p:sp>
      <p:pic>
        <p:nvPicPr>
          <p:cNvPr id="15" name="Image 6" descr="/home/claude/rev06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גרסת רדיו ו-Bluetooth, עם לחצן מצוקה לצוות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הפוטנציאל המלא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סדרות המוצרים של Advantecnia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672084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7979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6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35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122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</a:t>
            </a:r>
            <a:endParaRPr lang="he-IL" sz="1000" dirty="0"/>
          </a:p>
        </p:txBody>
      </p:sp>
      <p:sp>
        <p:nvSpPr>
          <p:cNvPr id="8" name="Shape 5"/>
          <p:cNvSpPr/>
          <p:nvPr/>
        </p:nvSpPr>
        <p:spPr>
          <a:xfrm>
            <a:off x="4672584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31536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6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097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6402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בזמן אמת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262432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6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41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1576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אינטרקום</a:t>
            </a:r>
            <a:endParaRPr lang="he-IL" sz="1000" dirty="0"/>
          </a:p>
        </p:txBody>
      </p:sp>
      <p:sp>
        <p:nvSpPr>
          <p:cNvPr id="16" name="Shape 11"/>
          <p:cNvSpPr/>
          <p:nvPr/>
        </p:nvSpPr>
        <p:spPr>
          <a:xfrm>
            <a:off x="57607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3502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6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585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כריזה</a:t>
            </a:r>
            <a:endParaRPr lang="he-IL" sz="1000" dirty="0"/>
          </a:p>
        </p:txBody>
      </p:sp>
      <p:sp>
        <p:nvSpPr>
          <p:cNvPr id="20" name="Shape 14"/>
          <p:cNvSpPr/>
          <p:nvPr/>
        </p:nvSpPr>
        <p:spPr>
          <a:xfrm>
            <a:off x="672084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7979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6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35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1228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שלטי חיווי ולחצני מצוקה</a:t>
            </a:r>
            <a:endParaRPr lang="he-IL" sz="1000" dirty="0"/>
          </a:p>
        </p:txBody>
      </p:sp>
      <p:sp>
        <p:nvSpPr>
          <p:cNvPr id="24" name="Shape 17"/>
          <p:cNvSpPr/>
          <p:nvPr/>
        </p:nvSpPr>
        <p:spPr>
          <a:xfrm>
            <a:off x="4672584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431536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6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097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764024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 ואבטחה</a:t>
            </a:r>
            <a:endParaRPr lang="he-IL" sz="1000" dirty="0"/>
          </a:p>
        </p:txBody>
      </p:sp>
      <p:sp>
        <p:nvSpPr>
          <p:cNvPr id="28" name="Shape 20"/>
          <p:cNvSpPr/>
          <p:nvPr/>
        </p:nvSpPr>
        <p:spPr>
          <a:xfrm>
            <a:off x="262432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38328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6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841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71576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מיקום בזמן אמת</a:t>
            </a:r>
            <a:endParaRPr lang="he-IL" sz="1000" dirty="0"/>
          </a:p>
        </p:txBody>
      </p:sp>
      <p:sp>
        <p:nvSpPr>
          <p:cNvPr id="32" name="Shape 23"/>
          <p:cNvSpPr/>
          <p:nvPr/>
        </p:nvSpPr>
        <p:spPr>
          <a:xfrm>
            <a:off x="57607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33502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6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1585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751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בקרה וחיסכון אנרגטי</a:t>
            </a:r>
            <a:endParaRPr lang="he-IL" sz="1000" dirty="0"/>
          </a:p>
        </p:txBody>
      </p:sp>
      <p:sp>
        <p:nvSpPr>
          <p:cNvPr id="36" name="Shape 26"/>
          <p:cNvSpPr/>
          <p:nvPr/>
        </p:nvSpPr>
        <p:spPr>
          <a:xfrm>
            <a:off x="672084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47979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6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635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1228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שעונים</a:t>
            </a:r>
            <a:endParaRPr lang="he-IL" sz="1000" dirty="0"/>
          </a:p>
        </p:txBody>
      </p:sp>
      <p:sp>
        <p:nvSpPr>
          <p:cNvPr id="40" name="Shape 29"/>
          <p:cNvSpPr/>
          <p:nvPr/>
        </p:nvSpPr>
        <p:spPr>
          <a:xfrm>
            <a:off x="4672584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5431536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6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8097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764024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הכוונה ובידור</a:t>
            </a:r>
            <a:endParaRPr lang="he-IL" sz="1000" dirty="0"/>
          </a:p>
        </p:txBody>
      </p:sp>
      <p:sp>
        <p:nvSpPr>
          <p:cNvPr id="44" name="Shape 32"/>
          <p:cNvSpPr/>
          <p:nvPr/>
        </p:nvSpPr>
        <p:spPr>
          <a:xfrm>
            <a:off x="262432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338328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6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9841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271576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תורים</a:t>
            </a:r>
            <a:endParaRPr lang="he-IL" sz="1000" dirty="0"/>
          </a:p>
        </p:txBody>
      </p:sp>
      <p:sp>
        <p:nvSpPr>
          <p:cNvPr id="48" name="Shape 35"/>
          <p:cNvSpPr/>
          <p:nvPr/>
        </p:nvSpPr>
        <p:spPr>
          <a:xfrm>
            <a:off x="57607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133502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6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585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6751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שילוט דיגיטלי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92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2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25780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במרכז הרפואי יוספטל</a:t>
            </a:r>
            <a:endParaRPr lang="he-IL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5780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כירורגית · מערכת קריאת אח/ות AdvantCare</a:t>
            </a:r>
            <a:endParaRPr lang="he-IL" sz="1150" dirty="0"/>
          </a:p>
        </p:txBody>
      </p:sp>
      <p:sp>
        <p:nvSpPr>
          <p:cNvPr id="5" name="Shape 3"/>
          <p:cNvSpPr/>
          <p:nvPr/>
        </p:nvSpPr>
        <p:spPr>
          <a:xfrm>
            <a:off x="704088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1403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</a:t>
            </a:r>
            <a:endParaRPr lang="he-IL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2239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חדרי אשפוז</a:t>
            </a:r>
            <a:endParaRPr lang="he-IL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552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63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6/a/bed3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המחלקה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כל התקן – על תוכנית הקומה</a:t>
            </a:r>
            <a:endParaRPr lang="he-IL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4008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8580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האינטראקטיבית ←</a:t>
            </a:r>
            <a:endParaRPr lang="he-IL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משרד</a:t>
            </a:r>
            <a:endParaRPr lang="he-IL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מסדרון</a:t>
            </a:r>
            <a:endParaRPr lang="he-IL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צוות</a:t>
            </a:r>
            <a:endParaRPr lang="he-IL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B2</a:t>
            </a:r>
            <a:endParaRPr lang="he-IL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B3</a:t>
            </a:r>
            <a:endParaRPr lang="he-IL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7031736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025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+ אגס</a:t>
            </a:r>
            <a:endParaRPr lang="he-IL" sz="850" dirty="0"/>
          </a:p>
        </p:txBody>
      </p:sp>
      <p:sp>
        <p:nvSpPr>
          <p:cNvPr id="73" name="Shape 71"/>
          <p:cNvSpPr/>
          <p:nvPr/>
        </p:nvSpPr>
        <p:spPr>
          <a:xfrm>
            <a:off x="5888736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82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חבל מצוקה</a:t>
            </a:r>
            <a:endParaRPr lang="he-IL" sz="850" dirty="0"/>
          </a:p>
        </p:txBody>
      </p:sp>
      <p:sp>
        <p:nvSpPr>
          <p:cNvPr id="75" name="Shape 73"/>
          <p:cNvSpPr/>
          <p:nvPr/>
        </p:nvSpPr>
        <p:spPr>
          <a:xfrm>
            <a:off x="4745736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739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נוכחות / ביטול</a:t>
            </a:r>
            <a:endParaRPr lang="he-IL" sz="850" dirty="0"/>
          </a:p>
        </p:txBody>
      </p:sp>
      <p:sp>
        <p:nvSpPr>
          <p:cNvPr id="77" name="Shape 75"/>
          <p:cNvSpPr/>
          <p:nvPr/>
        </p:nvSpPr>
        <p:spPr>
          <a:xfrm>
            <a:off x="3602736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596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850" dirty="0"/>
          </a:p>
        </p:txBody>
      </p:sp>
      <p:sp>
        <p:nvSpPr>
          <p:cNvPr id="79" name="Shape 77"/>
          <p:cNvSpPr/>
          <p:nvPr/>
        </p:nvSpPr>
        <p:spPr>
          <a:xfrm>
            <a:off x="2459736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453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אחות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במחלקה הכירורגית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4864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47872" y="1280160"/>
            <a:ext cx="1874520" cy="2578608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6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93592" y="1325880"/>
            <a:ext cx="1783080" cy="2487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5321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מיטה בחדר עם וילונות</a:t>
            </a:r>
            <a:endParaRPr lang="he-IL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593592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1000" dirty="0"/>
          </a:p>
        </p:txBody>
      </p:sp>
      <p:sp>
        <p:nvSpPr>
          <p:cNvPr id="10" name="Shape 6"/>
          <p:cNvSpPr/>
          <p:nvPr/>
        </p:nvSpPr>
        <p:spPr>
          <a:xfrm>
            <a:off x="54882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82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12" name="Shape 8"/>
          <p:cNvSpPr/>
          <p:nvPr/>
        </p:nvSpPr>
        <p:spPr>
          <a:xfrm>
            <a:off x="58613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613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14" name="Shape 10"/>
          <p:cNvSpPr/>
          <p:nvPr/>
        </p:nvSpPr>
        <p:spPr>
          <a:xfrm>
            <a:off x="63649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649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16" name="Shape 12"/>
          <p:cNvSpPr/>
          <p:nvPr/>
        </p:nvSpPr>
        <p:spPr>
          <a:xfrm>
            <a:off x="6032297" y="175638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32297" y="1756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18" name="Shape 14"/>
          <p:cNvSpPr/>
          <p:nvPr/>
        </p:nvSpPr>
        <p:spPr>
          <a:xfrm>
            <a:off x="3926517" y="1783643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926517" y="17836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0" name="Shape 16"/>
          <p:cNvSpPr/>
          <p:nvPr/>
        </p:nvSpPr>
        <p:spPr>
          <a:xfrm>
            <a:off x="4550595" y="170233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50595" y="17023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2" name="Shape 18"/>
          <p:cNvSpPr/>
          <p:nvPr/>
        </p:nvSpPr>
        <p:spPr>
          <a:xfrm>
            <a:off x="5029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97180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971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9436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קריאה ליד כל מיטה</a:t>
            </a:r>
            <a:endParaRPr lang="he-IL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9436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הקיר, ליד ראש המיטה</a:t>
            </a:r>
            <a:endParaRPr lang="he-IL" sz="850" dirty="0"/>
          </a:p>
        </p:txBody>
      </p:sp>
      <p:sp>
        <p:nvSpPr>
          <p:cNvPr id="27" name="Shape 23"/>
          <p:cNvSpPr/>
          <p:nvPr/>
        </p:nvSpPr>
        <p:spPr>
          <a:xfrm>
            <a:off x="297180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9718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9436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</a:t>
            </a:r>
            <a:endParaRPr lang="he-IL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בהישג יד המטופל, בכל מיטה</a:t>
            </a:r>
            <a:endParaRPr lang="he-IL" sz="850" dirty="0"/>
          </a:p>
        </p:txBody>
      </p:sp>
      <p:sp>
        <p:nvSpPr>
          <p:cNvPr id="31" name="Shape 27"/>
          <p:cNvSpPr/>
          <p:nvPr/>
        </p:nvSpPr>
        <p:spPr>
          <a:xfrm>
            <a:off x="297180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971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9436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</a:t>
            </a:r>
            <a:endParaRPr lang="he-IL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בשירותים ובמקלחת</a:t>
            </a:r>
            <a:endParaRPr lang="he-IL" sz="850" dirty="0"/>
          </a:p>
        </p:txBody>
      </p:sp>
      <p:sp>
        <p:nvSpPr>
          <p:cNvPr id="35" name="Shape 31"/>
          <p:cNvSpPr/>
          <p:nvPr/>
        </p:nvSpPr>
        <p:spPr>
          <a:xfrm>
            <a:off x="297180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9718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59436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59436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כל דלת – הצוות רואה מרחוק</a:t>
            </a:r>
            <a:endParaRPr lang="he-IL" sz="850" dirty="0"/>
          </a:p>
        </p:txBody>
      </p:sp>
      <p:sp>
        <p:nvSpPr>
          <p:cNvPr id="39" name="Shape 35"/>
          <p:cNvSpPr/>
          <p:nvPr/>
        </p:nvSpPr>
        <p:spPr>
          <a:xfrm>
            <a:off x="297180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29718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59436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נוכחות / ביטול</a:t>
            </a:r>
            <a:endParaRPr lang="he-IL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59436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ליד הדלת – האחות מסמנת הגעה וסוגרת</a:t>
            </a:r>
            <a:endParaRPr lang="he-IL" sz="850" dirty="0"/>
          </a:p>
        </p:txBody>
      </p:sp>
      <p:sp>
        <p:nvSpPr>
          <p:cNvPr id="43" name="Shape 39"/>
          <p:cNvSpPr/>
          <p:nvPr/>
        </p:nvSpPr>
        <p:spPr>
          <a:xfrm>
            <a:off x="297180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29718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59436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על iPad</a:t>
            </a:r>
            <a:endParaRPr lang="he-IL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59436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הקריאות במקום אחד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קריאה – מהמטופל ועד הסגירה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6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59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780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he-IL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 קורא</a:t>
            </a:r>
            <a:endParaRPr lang="he-IL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לוחץ על האגס או מושך בידית בשירותים</a:t>
            </a:r>
            <a:endParaRPr lang="he-IL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6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he-IL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המסדרון מאותת</a:t>
            </a:r>
            <a:endParaRPr lang="he-IL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המנורה מעל הדלת נדלקת</a:t>
            </a:r>
            <a:endParaRPr lang="he-IL" sz="950" dirty="0"/>
          </a:p>
        </p:txBody>
      </p:sp>
      <p:sp>
        <p:nvSpPr>
          <p:cNvPr id="15" name="Shape 11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6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862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מקבלת</a:t>
            </a:r>
            <a:endParaRPr lang="he-IL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8862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מופיעה ב-iPad עם החדר והמיטה</a:t>
            </a:r>
            <a:endParaRPr lang="he-IL" sz="950" dirty="0"/>
          </a:p>
        </p:txBody>
      </p:sp>
      <p:sp>
        <p:nvSpPr>
          <p:cNvPr id="20" name="Shape 15"/>
          <p:cNvSpPr/>
          <p:nvPr/>
        </p:nvSpPr>
        <p:spPr>
          <a:xfrm>
            <a:off x="25603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6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8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2402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he-IL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22402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בחדר</a:t>
            </a:r>
            <a:endParaRPr lang="he-IL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22402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לוחצת נוכחות ליד הדלת</a:t>
            </a:r>
            <a:endParaRPr lang="he-IL" sz="950" dirty="0"/>
          </a:p>
        </p:txBody>
      </p:sp>
      <p:sp>
        <p:nvSpPr>
          <p:cNvPr id="25" name="Shape 19"/>
          <p:cNvSpPr/>
          <p:nvPr/>
        </p:nvSpPr>
        <p:spPr>
          <a:xfrm>
            <a:off x="91440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6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he-IL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נסגרת</a:t>
            </a:r>
            <a:endParaRPr lang="he-IL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 הטיפול – נשמרת בהיסטוריה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ומחר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בקריאת אח/ות – ממשיכים לחדר חכם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 עכשיו</a:t>
            </a:r>
            <a:endParaRPr lang="he-IL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6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4613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מהמיטה ומהמסדרון</a:t>
            </a:r>
            <a:endParaRPr lang="he-IL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6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636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מצוקה בשירותים ובמקלחת</a:t>
            </a:r>
            <a:endParaRPr lang="he-IL" sz="950" dirty="0"/>
          </a:p>
        </p:txBody>
      </p:sp>
      <p:pic>
        <p:nvPicPr>
          <p:cNvPr id="12" name="Image 2" descr="/home/claude/rev06/a/i_LuArrowLef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להוסיף בהמשך, על אותה תשתית</a:t>
            </a:r>
            <a:endParaRPr lang="he-IL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6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23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ליד כל מיטה</a:t>
            </a:r>
            <a:endParaRPr lang="he-IL" sz="950" dirty="0"/>
          </a:p>
        </p:txBody>
      </p:sp>
      <p:sp>
        <p:nvSpPr>
          <p:cNvPr id="17" name="Shape 11"/>
          <p:cNvSpPr/>
          <p:nvPr/>
        </p:nvSpPr>
        <p:spPr>
          <a:xfrm>
            <a:off x="50292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6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874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0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ללא מגע ומניעת נפילות</a:t>
            </a:r>
            <a:endParaRPr lang="he-IL" sz="950" dirty="0"/>
          </a:p>
        </p:txBody>
      </p:sp>
      <p:sp>
        <p:nvSpPr>
          <p:cNvPr id="20" name="Shape 13"/>
          <p:cNvSpPr/>
          <p:nvPr/>
        </p:nvSpPr>
        <p:spPr>
          <a:xfrm>
            <a:off x="50292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6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781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צוות וציוד</a:t>
            </a:r>
            <a:endParaRPr lang="he-IL" sz="950" dirty="0"/>
          </a:p>
        </p:txBody>
      </p:sp>
      <p:sp>
        <p:nvSpPr>
          <p:cNvPr id="23" name="Shape 15"/>
          <p:cNvSpPr/>
          <p:nvPr/>
        </p:nvSpPr>
        <p:spPr>
          <a:xfrm>
            <a:off x="50292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6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8671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ומנעולים חכמים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ADVANTECNIA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הבחירה הנכונה ליוספטל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10488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0488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6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847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9632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מ-45,000 מיטות</a:t>
            </a:r>
            <a:endParaRPr lang="he-IL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9632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אחות מוכחת ביותר מ-400 בתי חולים</a:t>
            </a:r>
            <a:endParaRPr lang="he-IL" sz="900" dirty="0"/>
          </a:p>
        </p:txBody>
      </p:sp>
      <p:sp>
        <p:nvSpPr>
          <p:cNvPr id="10" name="Shape 7"/>
          <p:cNvSpPr/>
          <p:nvPr/>
        </p:nvSpPr>
        <p:spPr>
          <a:xfrm>
            <a:off x="545896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5896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597103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6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7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5040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5040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381304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1304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2511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6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07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0448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מוכן</a:t>
            </a:r>
            <a:endParaRPr lang="he-IL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90448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תוכניות, מודל 3D ותמונות – כל התקן במקומו</a:t>
            </a:r>
            <a:endParaRPr lang="he-IL" sz="900" dirty="0"/>
          </a:p>
        </p:txBody>
      </p:sp>
      <p:sp>
        <p:nvSpPr>
          <p:cNvPr id="22" name="Shape 17"/>
          <p:cNvSpPr/>
          <p:nvPr/>
        </p:nvSpPr>
        <p:spPr>
          <a:xfrm>
            <a:off x="216712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16712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267919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6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087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25856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שותף מקומי</a:t>
            </a:r>
            <a:endParaRPr lang="he-IL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25856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בישראל – התקנה, הדרכה ותמיכה</a:t>
            </a:r>
            <a:endParaRPr lang="he-IL" sz="900" dirty="0"/>
          </a:p>
        </p:txBody>
      </p:sp>
      <p:sp>
        <p:nvSpPr>
          <p:cNvPr id="28" name="Shape 22"/>
          <p:cNvSpPr/>
          <p:nvPr/>
        </p:nvSpPr>
        <p:spPr>
          <a:xfrm>
            <a:off x="52120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2120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327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6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67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1264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מוכן לעתיד</a:t>
            </a:r>
            <a:endParaRPr lang="he-IL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1264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תשתית מתרחבת לחדר חכם מלא</a:t>
            </a:r>
            <a:endParaRPr lang="he-IL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נדרש היום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הבא: אישור והתקדמות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90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290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התכנון עם המחלקה</a:t>
            </a:r>
            <a:endParaRPr lang="he-IL" sz="1250" dirty="0"/>
          </a:p>
        </p:txBody>
      </p:sp>
      <p:sp>
        <p:nvSpPr>
          <p:cNvPr id="8" name="Shape 6"/>
          <p:cNvSpPr/>
          <p:nvPr/>
        </p:nvSpPr>
        <p:spPr>
          <a:xfrm>
            <a:off x="60716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716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אתר סופי</a:t>
            </a:r>
            <a:endParaRPr lang="he-IL" sz="1250" dirty="0"/>
          </a:p>
        </p:txBody>
      </p:sp>
      <p:sp>
        <p:nvSpPr>
          <p:cNvPr id="11" name="Shape 9"/>
          <p:cNvSpPr/>
          <p:nvPr/>
        </p:nvSpPr>
        <p:spPr>
          <a:xfrm>
            <a:off x="40142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התקנה מפורטת</a:t>
            </a:r>
            <a:endParaRPr lang="he-IL" sz="1250" dirty="0"/>
          </a:p>
        </p:txBody>
      </p:sp>
      <p:sp>
        <p:nvSpPr>
          <p:cNvPr id="14" name="Shape 12"/>
          <p:cNvSpPr/>
          <p:nvPr/>
        </p:nvSpPr>
        <p:spPr>
          <a:xfrm>
            <a:off x="1956816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568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הפעלה והדרכת הצוות</a:t>
            </a:r>
            <a:endParaRPr lang="he-IL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2356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</a:t>
            </a:r>
            <a:endParaRPr lang="he-IL" sz="4000" dirty="0"/>
          </a:p>
        </p:txBody>
      </p:sp>
      <p:pic>
        <p:nvPicPr>
          <p:cNvPr id="19" name="Image 0" descr="/home/claude/rev06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01752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</a:t>
            </a:r>
            <a:endParaRPr lang="he-IL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המפיץ של Advantecnia בישראל</a:t>
            </a:r>
            <a:endParaRPr lang="he-IL" sz="950" dirty="0"/>
          </a:p>
        </p:txBody>
      </p:sp>
      <p:pic>
        <p:nvPicPr>
          <p:cNvPr id="22" name="Image 1" descr="/home/claude/rev06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9436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he-IL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היצרן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את המחלקה לפני ההתקנה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9476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6/a/plan2d_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2D</a:t>
            </a:r>
            <a:endParaRPr lang="he-IL" sz="950" dirty="0"/>
          </a:p>
        </p:txBody>
      </p:sp>
      <p:sp>
        <p:nvSpPr>
          <p:cNvPr id="8" name="Shape 5"/>
          <p:cNvSpPr/>
          <p:nvPr/>
        </p:nvSpPr>
        <p:spPr>
          <a:xfrm>
            <a:off x="388620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6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81728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681728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endParaRPr lang="he-IL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התכנון של יוספטל זמין אונליין, מכל מכשיר:</a:t>
            </a:r>
            <a:endParaRPr lang="he-IL" sz="1100" dirty="0"/>
          </a:p>
        </p:txBody>
      </p:sp>
      <p:sp>
        <p:nvSpPr>
          <p:cNvPr id="13" name="Shape 9"/>
          <p:cNvSpPr/>
          <p:nvPr/>
        </p:nvSpPr>
        <p:spPr>
          <a:xfrm>
            <a:off x="3182112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6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463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 2D ושרטוטי חיווט</a:t>
            </a:r>
            <a:endParaRPr lang="he-IL" sz="1100" dirty="0"/>
          </a:p>
        </p:txBody>
      </p:sp>
      <p:sp>
        <p:nvSpPr>
          <p:cNvPr id="16" name="Shape 11"/>
          <p:cNvSpPr/>
          <p:nvPr/>
        </p:nvSpPr>
        <p:spPr>
          <a:xfrm>
            <a:off x="3182112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6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ומודל תלת-ממד אינטראקטיבי</a:t>
            </a:r>
            <a:endParaRPr lang="he-IL" sz="1100" dirty="0"/>
          </a:p>
        </p:txBody>
      </p:sp>
      <p:sp>
        <p:nvSpPr>
          <p:cNvPr id="19" name="Shape 13"/>
          <p:cNvSpPr/>
          <p:nvPr/>
        </p:nvSpPr>
        <p:spPr>
          <a:xfrm>
            <a:off x="3182112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6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4632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 סיור במחלקה</a:t>
            </a:r>
            <a:endParaRPr lang="he-IL" sz="1100" dirty="0"/>
          </a:p>
        </p:txBody>
      </p:sp>
      <p:sp>
        <p:nvSpPr>
          <p:cNvPr id="22" name="Shape 15"/>
          <p:cNvSpPr/>
          <p:nvPr/>
        </p:nvSpPr>
        <p:spPr>
          <a:xfrm>
            <a:off x="3182112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6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84632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מראש של מיקום כל התקן</a:t>
            </a:r>
            <a:endParaRPr lang="he-IL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0292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6/a/qr_he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624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5943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סרקו לצפייה</a:t>
            </a:r>
            <a:endParaRPr lang="he-IL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0292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0292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←</a:t>
            </a:r>
            <a:endParaRPr lang="he-I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מרכז רפואי יוספטל</dc:title>
  <dc:subject>PptxGenJS Presentation</dc:subject>
  <dc:creator>PptxGenJS</dc:creator>
  <cp:lastModifiedBy>PptxGenJS</cp:lastModifiedBy>
  <cp:revision>1</cp:revision>
  <dcterms:created xsi:type="dcterms:W3CDTF">2026-10-26T09:30:01Z</dcterms:created>
  <dcterms:modified xsi:type="dcterms:W3CDTF">2026-10-26T09:30:01Z</dcterms:modified>
</cp:coreProperties>
</file>
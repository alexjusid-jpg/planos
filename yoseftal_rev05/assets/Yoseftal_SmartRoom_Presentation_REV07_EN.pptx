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Advantecnia and Orad, and what we will present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manufacturer: experience, international presence and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smart room is and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systems – all on one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AdvantCare – the core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Software: nurse station, wall screen and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AdvantSOS – emergency in toilets and corridor signalling.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CarePad – the bedside tablet.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AdvantSense – contactless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AdvantControl and AdvantTrack.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product lines – for the next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project: the surgical ward at Yoseftal.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device on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install in every room and toilet.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 flow in five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nurse call – expand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reasons to choose Advantecnia.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 and thanks.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planning online – photos, plans and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BASE-image-3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274320"/>
            <a:ext cx="329184" cy="429768"/>
          </a:xfrm>
          <a:prstGeom prst="rect">
            <a:avLst/>
          </a:prstGeom>
        </p:spPr>
      </p:pic>
      <p:pic>
        <p:nvPicPr>
          <p:cNvPr id="3" name="Image 1" descr="/home/claude/rev07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29184"/>
            <a:ext cx="868680" cy="2651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image" Target="../media/image-5-3.png"/><Relationship Id="rId7" Type="http://schemas.openxmlformats.org/officeDocument/2006/relationships/image" Target="../media/image-5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image" Target="../media/image-6-3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5.png"/><Relationship Id="rId6" Type="http://schemas.openxmlformats.org/officeDocument/2006/relationships/image" Target="../media/image-10-3.png"/><Relationship Id="rId7" Type="http://schemas.openxmlformats.org/officeDocument/2006/relationships/image" Target="../media/image-10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lexjusid-jpg.github.io/planos/yoseftal_rev05/en/" TargetMode="External"/><Relationship Id="rId2" Type="http://schemas.openxmlformats.org/officeDocument/2006/relationships/hyperlink" Target="https://alexjusid-jpg.github.io/planos/yoseftal_rev05/en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hyperlink" Target="https://alexjusid-jpg.github.io/planos/yoseftal_rev05/en/" TargetMode="External"/><Relationship Id="rId9" Type="http://schemas.openxmlformats.org/officeDocument/2006/relationships/hyperlink" Target="https://alexjusid-jpg.github.io/planos/yoseftal_rev05/en/" TargetMode="External"/><Relationship Id="rId10" Type="http://schemas.openxmlformats.org/officeDocument/2006/relationships/hyperlink" Target="https://alexjusid-jpg.github.io/planos/yoseftal_rev05/en/" TargetMode="External"/><Relationship Id="rId11" Type="http://schemas.openxmlformats.org/officeDocument/2006/relationships/hyperlink" Target="https://alexjusid-jpg.github.io/planos/yoseftal_rev05/en/" TargetMode="External"/><Relationship Id="rId12" Type="http://schemas.openxmlformats.org/officeDocument/2006/relationships/hyperlink" Target="https://alexjusid-jpg.github.io/planos/yoseftal_rev05/en/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8" Type="http://schemas.openxmlformats.org/officeDocument/2006/relationships/image" Target="../media/image-19-7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658368"/>
          </a:xfrm>
          <a:prstGeom prst="rect">
            <a:avLst/>
          </a:prstGeom>
        </p:spPr>
      </p:pic>
      <p:pic>
        <p:nvPicPr>
          <p:cNvPr id="3" name="Image 1" descr="/home/claude/rev07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621792"/>
            <a:ext cx="1463040" cy="4480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29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Yoseftal Medical Center · Eilat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173736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2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call, communication, medical monitoring and location systems for hospitals</a:t>
            </a:r>
            <a:endParaRPr lang="en-US" sz="27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3474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3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solutions – and what we will install in the surgical ward</a:t>
            </a:r>
            <a:endParaRPr lang="en-US" sz="1300" dirty="0"/>
          </a:p>
        </p:txBody>
      </p:sp>
      <p:pic>
        <p:nvPicPr>
          <p:cNvPr id="7" name="Image 2" descr="/home/claude/rev07/a/advantecn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51960"/>
            <a:ext cx="1005840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91640" y="4224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– official distributor in Israel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1691640" y="4425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937760" y="82296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1" name="Image 3" descr="Yoseftal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83480" y="868680"/>
            <a:ext cx="3657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by ACE BG: technology for people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 with nurse call installed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01368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911096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11096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99816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09544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09544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98264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07992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07992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per year</a:t>
            </a:r>
            <a:endParaRPr lang="en-US" sz="900" dirty="0"/>
          </a:p>
        </p:txBody>
      </p:sp>
      <p:pic>
        <p:nvPicPr>
          <p:cNvPr id="16" name="Image 0" descr="/home/claude/rev07/a/i_LuCircleCheck_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23744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5528" y="24963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 and developer of IP healthcare products – based in Spain with a US branch</a:t>
            </a:r>
            <a:endParaRPr lang="en-US" sz="1100" dirty="0"/>
          </a:p>
        </p:txBody>
      </p:sp>
      <p:pic>
        <p:nvPicPr>
          <p:cNvPr id="18" name="Image 1" descr="/home/claude/rev07/a/i_LuCircleCheck_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07792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95528" y="2880360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running in hospitals, clinics and assisted living across Europe and America</a:t>
            </a:r>
            <a:endParaRPr lang="en-US" sz="1100" dirty="0"/>
          </a:p>
        </p:txBody>
      </p:sp>
      <p:pic>
        <p:nvPicPr>
          <p:cNvPr id="20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95528" y="3264408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is the Advantecnia distributor in Israel, with local support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standards</a:t>
            </a:r>
            <a:endParaRPr lang="en-US" sz="1000" dirty="0"/>
          </a:p>
        </p:txBody>
      </p:sp>
      <p:pic>
        <p:nvPicPr>
          <p:cNvPr id="23" name="Image 3" descr="/home/claude/rev07/a/cer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767328"/>
            <a:ext cx="2148840" cy="53035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852160" y="1280160"/>
            <a:ext cx="2834640" cy="33375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5" name="Image 4" descr="Nur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897880" y="1325880"/>
            <a:ext cx="274320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 ROOM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Smart Room?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"Smart Room" is an advanced care environment that uses digital technology to improve patient care and make staff work more efficient.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20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enjoy a comfortable, personalized stay, and medical staff get tools that support their daily work.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8" name="Image 0" descr="/home/claude/rev07/a/i_LuHeartPul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084" y="2803916"/>
            <a:ext cx="171176" cy="171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care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follow-up of the patient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97480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34640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7/a/i_Lu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644" y="2803916"/>
            <a:ext cx="171176" cy="171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3464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efficient staff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83464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reaches the right person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2" descr="/home/claude/rev07/a/i_LuShiel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84" y="3791468"/>
            <a:ext cx="171176" cy="171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alerts, day and night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697480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834640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3" name="Image 3" descr="/home/claude/rev07/a/i_LuSparkle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644" y="3791468"/>
            <a:ext cx="171176" cy="171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83464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experience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283464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Comfort, information and entertainment at the bed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029200" y="118872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7" name="Image 4" descr="/home/claude/rev07/a/room2_clea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74920" y="1234440"/>
            <a:ext cx="356616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system – in one room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377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7/a/door_n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4846320" cy="3337560"/>
          </a:xfrm>
          <a:prstGeom prst="rect">
            <a:avLst/>
          </a:prstGeom>
        </p:spPr>
      </p:pic>
      <p:pic>
        <p:nvPicPr>
          <p:cNvPr id="6" name="Image 1" descr="c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61872"/>
            <a:ext cx="884408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2356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and communication</a:t>
            </a:r>
            <a:endParaRPr lang="en-US" sz="950" dirty="0"/>
          </a:p>
        </p:txBody>
      </p:sp>
      <p:pic>
        <p:nvPicPr>
          <p:cNvPr id="8" name="Image 2" descr="sen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10512"/>
            <a:ext cx="948050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623560" y="2057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Contactless medical and environment monitoring</a:t>
            </a:r>
            <a:endParaRPr lang="en-US" sz="950" dirty="0"/>
          </a:p>
        </p:txBody>
      </p:sp>
      <p:pic>
        <p:nvPicPr>
          <p:cNvPr id="10" name="Image 3" descr="p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359152"/>
            <a:ext cx="675924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623560" y="2606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 and screens for patient and staff</a:t>
            </a:r>
            <a:endParaRPr lang="en-US" sz="950" dirty="0"/>
          </a:p>
        </p:txBody>
      </p:sp>
      <p:pic>
        <p:nvPicPr>
          <p:cNvPr id="12" name="Image 4" descr="s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907792"/>
            <a:ext cx="790042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62356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buttons in toilets</a:t>
            </a:r>
            <a:endParaRPr lang="en-US" sz="950" dirty="0"/>
          </a:p>
        </p:txBody>
      </p:sp>
      <p:pic>
        <p:nvPicPr>
          <p:cNvPr id="14" name="Image 5" descr="contr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456432"/>
            <a:ext cx="1174090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623560" y="3703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automation</a:t>
            </a:r>
            <a:endParaRPr lang="en-US" sz="950" dirty="0"/>
          </a:p>
        </p:txBody>
      </p:sp>
      <p:pic>
        <p:nvPicPr>
          <p:cNvPr id="16" name="Image 6" descr="tra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4005072"/>
            <a:ext cx="965606" cy="219456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623560" y="4251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 of people and equipment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system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7/a/roomA2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with buttons for nurse call, doctor call and intercom</a:t>
            </a:r>
            <a:endParaRPr lang="en-US" sz="1000" dirty="0"/>
          </a:p>
        </p:txBody>
      </p:sp>
      <p:pic>
        <p:nvPicPr>
          <p:cNvPr id="9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39112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2011680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Ergonomic pear handset with LED light – also a night light</a:t>
            </a:r>
            <a:endParaRPr lang="en-US" sz="1000" dirty="0"/>
          </a:p>
        </p:txBody>
      </p:sp>
      <p:pic>
        <p:nvPicPr>
          <p:cNvPr id="11" name="Image 4" descr="/home/claude/rev07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53288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505456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buttons with raised marking for the visually impaired</a:t>
            </a:r>
            <a:endParaRPr lang="en-US" sz="1000" dirty="0"/>
          </a:p>
        </p:txBody>
      </p:sp>
      <p:pic>
        <p:nvPicPr>
          <p:cNvPr id="13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0266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2999232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Pull-cord emergency button in toilets</a:t>
            </a:r>
            <a:endParaRPr lang="en-US" sz="1000" dirty="0"/>
          </a:p>
        </p:txBody>
      </p:sp>
      <p:pic>
        <p:nvPicPr>
          <p:cNvPr id="15" name="Image 6" descr="/home/claude/rev07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3520440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5916168" y="3493008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Complies with DIN VDE 0834-1:2016 safety standard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Software: every call in one view</a:t>
            </a:r>
            <a:endParaRPr lang="en-US" sz="2400" dirty="0"/>
          </a:p>
        </p:txBody>
      </p:sp>
      <p:pic>
        <p:nvPicPr>
          <p:cNvPr id="4" name="Image 1" descr="Consola Moni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325880"/>
            <a:ext cx="3072384" cy="2194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– Consola Monitor software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3822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PC, tablet or iPad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3794760" y="13258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858768" y="1389888"/>
            <a:ext cx="1792224" cy="11064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393192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7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screen · Surgery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931920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1E9E3E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931920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1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498848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D93025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498848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2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065776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065776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3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931920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931920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4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498848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498848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065776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F3920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065776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3794760" y="2606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screen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023360" y="2926080"/>
            <a:ext cx="777240" cy="1417320"/>
          </a:xfrm>
          <a:prstGeom prst="roundRect">
            <a:avLst>
              <a:gd name="adj" fmla="val 14118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078224" y="2999232"/>
            <a:ext cx="667512" cy="1271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114800" y="3108960"/>
            <a:ext cx="594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114800" y="3108960"/>
            <a:ext cx="27432" cy="566928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169664" y="312724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5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Notifcare</a:t>
            </a:r>
            <a:endParaRPr lang="en-US" sz="550" dirty="0"/>
          </a:p>
        </p:txBody>
      </p:sp>
      <p:sp>
        <p:nvSpPr>
          <p:cNvPr id="28" name="Text 24"/>
          <p:cNvSpPr txBox="1"/>
          <p:nvPr/>
        </p:nvSpPr>
        <p:spPr>
          <a:xfrm>
            <a:off x="4169664" y="32461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call</a:t>
            </a:r>
            <a:endParaRPr lang="en-US" sz="700" dirty="0"/>
          </a:p>
        </p:txBody>
      </p:sp>
      <p:sp>
        <p:nvSpPr>
          <p:cNvPr id="29" name="Text 25"/>
          <p:cNvSpPr txBox="1"/>
          <p:nvPr/>
        </p:nvSpPr>
        <p:spPr>
          <a:xfrm>
            <a:off x="4169664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2 · Bed B</a:t>
            </a:r>
            <a:endParaRPr lang="en-US" sz="600" dirty="0"/>
          </a:p>
        </p:txBody>
      </p:sp>
      <p:sp>
        <p:nvSpPr>
          <p:cNvPr id="30" name="Text 26"/>
          <p:cNvSpPr txBox="1"/>
          <p:nvPr/>
        </p:nvSpPr>
        <p:spPr>
          <a:xfrm>
            <a:off x="4892040" y="35204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app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5897880" y="132588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32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517904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345936" y="149047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priority by type and urgency</a:t>
            </a:r>
            <a:endParaRPr lang="en-US" sz="1000" dirty="0"/>
          </a:p>
        </p:txBody>
      </p:sp>
      <p:pic>
        <p:nvPicPr>
          <p:cNvPr id="34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901952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345936" y="1874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to mobile terminals and phones</a:t>
            </a:r>
            <a:endParaRPr lang="en-US" sz="1000" dirty="0"/>
          </a:p>
        </p:txBody>
      </p:sp>
      <p:pic>
        <p:nvPicPr>
          <p:cNvPr id="36" name="Image 4" descr="/home/claude/rev07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2286000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345936" y="22585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phone or Android desk phone</a:t>
            </a:r>
            <a:endParaRPr lang="en-US" sz="1000" dirty="0"/>
          </a:p>
        </p:txBody>
      </p:sp>
      <p:pic>
        <p:nvPicPr>
          <p:cNvPr id="38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2670048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345936" y="26426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 reports and charts</a:t>
            </a:r>
            <a:endParaRPr lang="en-US" sz="1000" dirty="0"/>
          </a:p>
        </p:txBody>
      </p:sp>
      <p:pic>
        <p:nvPicPr>
          <p:cNvPr id="40" name="Image 6" descr="mini_call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3291840"/>
            <a:ext cx="868680" cy="49743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89788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800" dirty="0"/>
          </a:p>
        </p:txBody>
      </p:sp>
      <p:pic>
        <p:nvPicPr>
          <p:cNvPr id="42" name="Image 7" descr="mini_sta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140" y="3291840"/>
            <a:ext cx="868680" cy="49743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83514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</a:t>
            </a:r>
            <a:endParaRPr lang="en-US" sz="800" dirty="0"/>
          </a:p>
        </p:txBody>
      </p:sp>
      <p:pic>
        <p:nvPicPr>
          <p:cNvPr id="44" name="Image 8" descr="mini_his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3291840"/>
            <a:ext cx="868680" cy="497434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77240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800" dirty="0"/>
          </a:p>
        </p:txBody>
      </p:sp>
      <p:sp>
        <p:nvSpPr>
          <p:cNvPr id="46" name="Text 35"/>
          <p:cNvSpPr txBox="1"/>
          <p:nvPr/>
        </p:nvSpPr>
        <p:spPr>
          <a:xfrm>
            <a:off x="5897880" y="3063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screens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w_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11922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buttons and indicator lights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7/a/p2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Pull-cord emergency button – reachable even after a fall</a:t>
            </a:r>
            <a:endParaRPr lang="en-US" sz="1000" dirty="0"/>
          </a:p>
        </p:txBody>
      </p:sp>
      <p:pic>
        <p:nvPicPr>
          <p:cNvPr id="9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57400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2029968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 at the room entrance – red, blue or green by alert type</a:t>
            </a:r>
            <a:endParaRPr lang="en-US" sz="1000" dirty="0"/>
          </a:p>
        </p:txBody>
      </p:sp>
      <p:pic>
        <p:nvPicPr>
          <p:cNvPr id="11" name="Image 4" descr="/home/claude/rev07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569464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542032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locally, even without communication with the central server</a:t>
            </a:r>
            <a:endParaRPr lang="en-US" sz="1000" dirty="0"/>
          </a:p>
        </p:txBody>
      </p:sp>
      <p:pic>
        <p:nvPicPr>
          <p:cNvPr id="13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08152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3054096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Illuminated sign with the room number and its status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w_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95756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tablet for patient and staff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7/a/room1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by category: nurse, medication, food and drink, toilet, repositioning</a:t>
            </a:r>
            <a:endParaRPr lang="en-US" sz="1000" dirty="0"/>
          </a:p>
        </p:txBody>
      </p:sp>
      <p:pic>
        <p:nvPicPr>
          <p:cNvPr id="9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75688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2048256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video calls with staff and family</a:t>
            </a:r>
            <a:endParaRPr lang="en-US" sz="1000" dirty="0"/>
          </a:p>
        </p:txBody>
      </p:sp>
      <p:pic>
        <p:nvPicPr>
          <p:cNvPr id="11" name="Image 4" descr="/home/claude/rev07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606040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57860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Entertainment, TV and medical information – with a personal access code</a:t>
            </a:r>
            <a:endParaRPr lang="en-US" sz="1000" dirty="0"/>
          </a:p>
        </p:txBody>
      </p:sp>
      <p:pic>
        <p:nvPicPr>
          <p:cNvPr id="13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136392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3108960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outside the room: call status, intercom and tasks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w_s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34307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 – without contact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7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bed exit, falls and presence in the room</a:t>
            </a:r>
            <a:endParaRPr lang="en-US" sz="1000" dirty="0"/>
          </a:p>
        </p:txBody>
      </p:sp>
      <p:pic>
        <p:nvPicPr>
          <p:cNvPr id="9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02536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19751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rate, breathing and sleep quality – no wires</a:t>
            </a:r>
            <a:endParaRPr lang="en-US" sz="1000" dirty="0"/>
          </a:p>
        </p:txBody>
      </p:sp>
      <p:pic>
        <p:nvPicPr>
          <p:cNvPr id="11" name="Image 4" descr="/home/claude/rev07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459736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4323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body sensor – up to 9 clinical parameters</a:t>
            </a:r>
            <a:endParaRPr lang="en-US" sz="1000" dirty="0"/>
          </a:p>
        </p:txBody>
      </p:sp>
      <p:pic>
        <p:nvPicPr>
          <p:cNvPr id="13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916936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28895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sensors: temperature, humidity, CO, CO2 and noise</a:t>
            </a: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562356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6" name="Text 8"/>
          <p:cNvSpPr txBox="1"/>
          <p:nvPr/>
        </p:nvSpPr>
        <p:spPr>
          <a:xfrm>
            <a:off x="5733288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2200" dirty="0"/>
          </a:p>
        </p:txBody>
      </p:sp>
      <p:sp>
        <p:nvSpPr>
          <p:cNvPr id="17" name="Text 9"/>
          <p:cNvSpPr txBox="1"/>
          <p:nvPr/>
        </p:nvSpPr>
        <p:spPr>
          <a:xfrm>
            <a:off x="5733288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</a:t>
            </a:r>
            <a:endParaRPr lang="en-US" sz="950" dirty="0"/>
          </a:p>
        </p:txBody>
      </p:sp>
      <p:sp>
        <p:nvSpPr>
          <p:cNvPr id="18" name="Shape 10"/>
          <p:cNvSpPr/>
          <p:nvPr/>
        </p:nvSpPr>
        <p:spPr>
          <a:xfrm>
            <a:off x="708660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196328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-70%</a:t>
            </a:r>
            <a:endParaRPr lang="en-US" sz="2200" dirty="0"/>
          </a:p>
        </p:txBody>
      </p:sp>
      <p:sp>
        <p:nvSpPr>
          <p:cNvPr id="20" name="Text 12"/>
          <p:cNvSpPr txBox="1"/>
          <p:nvPr/>
        </p:nvSpPr>
        <p:spPr>
          <a:xfrm>
            <a:off x="7196328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ulcers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LOCATION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real-time location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7/a/corr_cl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0680" y="132588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7/a/w_con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08760"/>
            <a:ext cx="1320851" cy="246888"/>
          </a:xfrm>
          <a:prstGeom prst="rect">
            <a:avLst/>
          </a:prstGeom>
        </p:spPr>
      </p:pic>
      <p:pic>
        <p:nvPicPr>
          <p:cNvPr id="8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83664"/>
            <a:ext cx="201168" cy="2011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16168" y="18562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lock: Bluetooth, card, fingerprint or code</a:t>
            </a:r>
            <a:endParaRPr lang="en-US" sz="1000" dirty="0"/>
          </a:p>
        </p:txBody>
      </p:sp>
      <p:pic>
        <p:nvPicPr>
          <p:cNvPr id="10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340864"/>
            <a:ext cx="201168" cy="20116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916168" y="23134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Cameras, access control and touch terminals</a:t>
            </a:r>
            <a:endParaRPr lang="en-US" sz="1000" dirty="0"/>
          </a:p>
        </p:txBody>
      </p:sp>
      <p:pic>
        <p:nvPicPr>
          <p:cNvPr id="12" name="Image 4" descr="/home/claude/rev07/a/w_tr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880360"/>
            <a:ext cx="1086307" cy="246888"/>
          </a:xfrm>
          <a:prstGeom prst="rect">
            <a:avLst/>
          </a:prstGeom>
        </p:spPr>
      </p:pic>
      <p:pic>
        <p:nvPicPr>
          <p:cNvPr id="13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2552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32278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 of people and equipment – tag, wristband or card</a:t>
            </a:r>
            <a:endParaRPr lang="en-US" sz="1000" dirty="0"/>
          </a:p>
        </p:txBody>
      </p:sp>
      <p:pic>
        <p:nvPicPr>
          <p:cNvPr id="15" name="Image 6" descr="/home/claude/rev07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3712464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5916168" y="36850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and Bluetooth versions, with staff panic button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POTENTIAL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product lines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6" name="Image 0" descr="/home/claude/rev07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8433" y="1532169"/>
            <a:ext cx="209215" cy="2092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51176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10128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0" name="Image 1" descr="/home/claude/rev07/a/i_LuHeartPuls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689" y="153216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42616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99432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58384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4" name="Image 2" descr="/home/claude/rev07/a/i_LuPhon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945" y="1532169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90872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Intercom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647688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06640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3" descr="/home/claude/rev07/a/i_LuMegapho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201" y="1532169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39128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address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02920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261872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2" name="Image 4" descr="/home/claude/rev07/a/i_LuSire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433" y="2611161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9436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lights and emergency buttons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551176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310128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6" name="Image 5" descr="/home/claude/rev07/a/i_LuLo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689" y="2611161"/>
            <a:ext cx="209215" cy="20921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642616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and security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599432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358384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0" name="Image 6" descr="/home/claude/rev07/a/i_LuMapPi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4945" y="2611161"/>
            <a:ext cx="209215" cy="20921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690872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647688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406640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4" name="Image 7" descr="/home/claude/rev07/a/i_LuZap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3201" y="2611161"/>
            <a:ext cx="209215" cy="20921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739128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control and saving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502920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261872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8" name="Image 8" descr="/home/claude/rev07/a/i_LuAlarmClock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8433" y="3690153"/>
            <a:ext cx="209215" cy="20921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94360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synchronization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2551176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3310128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2" name="Image 9" descr="/home/claude/rev07/a/i_LuTv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6689" y="3690153"/>
            <a:ext cx="209215" cy="20921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2642616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Wayfinding and entertainment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4599432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5358384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6" name="Image 10" descr="/home/claude/rev07/a/i_LuUsers_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4945" y="3690153"/>
            <a:ext cx="209215" cy="20921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690872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management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6647688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7406640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50" name="Image 11" descr="/home/claude/rev07/a/i_LuMonitor_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3201" y="3690153"/>
            <a:ext cx="209215" cy="20921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739128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07008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at Yoseftal Medical Center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542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ward · AdvantCare nurse call system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33172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rooms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toilets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33172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852928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8" name="Image 0" descr="/home/claude/rev07/a/bed3_nota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PLAN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device positioned on the floor plan</a:t>
            </a:r>
            <a:endParaRPr lang="en-US" sz="2500" dirty="0"/>
          </a:p>
        </p:txBody>
      </p:sp>
      <p:sp>
        <p:nvSpPr>
          <p:cNvPr id="4" name="Shape 2">
            <a:hlinkClick r:id="rId1" tooltip=""/>
          </p:cNvPr>
          <p:cNvSpPr/>
          <p:nvPr/>
        </p:nvSpPr>
        <p:spPr>
          <a:xfrm>
            <a:off x="6172200" y="1463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>
            <a:hlinkClick r:id="rId2" tooltip=""/>
          </p:cNvPr>
          <p:cNvSpPr txBox="1"/>
          <p:nvPr/>
        </p:nvSpPr>
        <p:spPr>
          <a:xfrm>
            <a:off x="6217920" y="14630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interactive plan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138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857500"/>
            <a:ext cx="5120640" cy="428625"/>
          </a:xfrm>
          <a:prstGeom prst="rect">
            <a:avLst/>
          </a:prstGeom>
          <a:solidFill>
            <a:srgbClr val="EEEDF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628775"/>
            <a:ext cx="10172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691640"/>
            <a:ext cx="10172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8026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625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026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625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8026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25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203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763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Shape 16"/>
          <p:cNvSpPr/>
          <p:nvPr/>
        </p:nvSpPr>
        <p:spPr>
          <a:xfrm>
            <a:off x="302895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2895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9753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352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309753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352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309753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352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6" name="Shape 24"/>
          <p:cNvSpPr/>
          <p:nvPr/>
        </p:nvSpPr>
        <p:spPr>
          <a:xfrm>
            <a:off x="355930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27" name="Shape 25"/>
          <p:cNvSpPr/>
          <p:nvPr/>
        </p:nvSpPr>
        <p:spPr>
          <a:xfrm>
            <a:off x="38050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8" name="Shape 26"/>
          <p:cNvSpPr/>
          <p:nvPr/>
        </p:nvSpPr>
        <p:spPr>
          <a:xfrm>
            <a:off x="4057650" y="1628775"/>
            <a:ext cx="9029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57650" y="1691640"/>
            <a:ext cx="902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60620" y="1628775"/>
            <a:ext cx="11430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60620" y="16916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65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5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5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8" name="Shape 36"/>
          <p:cNvSpPr/>
          <p:nvPr/>
        </p:nvSpPr>
        <p:spPr>
          <a:xfrm>
            <a:off x="5490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39" name="Shape 37"/>
          <p:cNvSpPr/>
          <p:nvPr/>
        </p:nvSpPr>
        <p:spPr>
          <a:xfrm>
            <a:off x="58510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0" name="Shape 38"/>
          <p:cNvSpPr/>
          <p:nvPr/>
        </p:nvSpPr>
        <p:spPr>
          <a:xfrm>
            <a:off x="610362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0362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08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4" name="Shape 42"/>
          <p:cNvSpPr/>
          <p:nvPr/>
        </p:nvSpPr>
        <p:spPr>
          <a:xfrm>
            <a:off x="6172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6" name="Shape 44"/>
          <p:cNvSpPr/>
          <p:nvPr/>
        </p:nvSpPr>
        <p:spPr>
          <a:xfrm>
            <a:off x="6172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08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8" name="Shape 46"/>
          <p:cNvSpPr/>
          <p:nvPr/>
        </p:nvSpPr>
        <p:spPr>
          <a:xfrm>
            <a:off x="6633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49" name="Shape 47"/>
          <p:cNvSpPr/>
          <p:nvPr/>
        </p:nvSpPr>
        <p:spPr>
          <a:xfrm>
            <a:off x="68797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011680" y="3000375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114550" y="3160395"/>
            <a:ext cx="4800600" cy="0"/>
          </a:xfrm>
          <a:prstGeom prst="line">
            <a:avLst/>
          </a:prstGeom>
          <a:noFill/>
          <a:ln w="19050">
            <a:solidFill>
              <a:srgbClr val="1E9E3E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097655" y="3286125"/>
            <a:ext cx="942975" cy="69723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97655" y="3743325"/>
            <a:ext cx="942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429125" y="3451860"/>
            <a:ext cx="285750" cy="19431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5C2D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83555" y="3286125"/>
            <a:ext cx="474345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583555" y="4000500"/>
            <a:ext cx="4743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WC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752148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57900" y="3286125"/>
            <a:ext cx="51435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057900" y="4000500"/>
            <a:ext cx="514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B2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24649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3392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641680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3" name="Shape 61"/>
          <p:cNvSpPr/>
          <p:nvPr/>
        </p:nvSpPr>
        <p:spPr>
          <a:xfrm>
            <a:off x="627392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4" name="Shape 62"/>
          <p:cNvSpPr/>
          <p:nvPr/>
        </p:nvSpPr>
        <p:spPr>
          <a:xfrm>
            <a:off x="6572250" y="3286125"/>
            <a:ext cx="56007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72250" y="4000500"/>
            <a:ext cx="5600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B3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78370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4827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8" name="Shape 66"/>
          <p:cNvSpPr/>
          <p:nvPr/>
        </p:nvSpPr>
        <p:spPr>
          <a:xfrm>
            <a:off x="693115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9" name="Shape 67"/>
          <p:cNvSpPr/>
          <p:nvPr/>
        </p:nvSpPr>
        <p:spPr>
          <a:xfrm>
            <a:off x="681113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0" name="Shape 68"/>
          <p:cNvSpPr/>
          <p:nvPr/>
        </p:nvSpPr>
        <p:spPr>
          <a:xfrm>
            <a:off x="6982587" y="3399282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1" name="Shape 69"/>
          <p:cNvSpPr/>
          <p:nvPr/>
        </p:nvSpPr>
        <p:spPr>
          <a:xfrm>
            <a:off x="2011680" y="4370832"/>
            <a:ext cx="100584" cy="100584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2157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+ pear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154680" y="4370832"/>
            <a:ext cx="100584" cy="100584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300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pull-cord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297680" y="4370832"/>
            <a:ext cx="100584" cy="100584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443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cancel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440680" y="4370832"/>
            <a:ext cx="100584" cy="10058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5586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583680" y="4370832"/>
            <a:ext cx="100584" cy="100584"/>
          </a:xfrm>
          <a:prstGeom prst="ellipse">
            <a:avLst/>
          </a:prstGeom>
          <a:solidFill>
            <a:srgbClr val="5C2D8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729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INSTALL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AdvantCare in the surgical ward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2004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7/a/s14_b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3108960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21608" y="1280160"/>
            <a:ext cx="187452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7/a/s14_w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7328" y="1325880"/>
            <a:ext cx="1783080" cy="16276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721608" y="3200400"/>
            <a:ext cx="1874520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9" name="Image 2" descr="/home/claude/rev07/a/s14_n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67328" y="3246120"/>
            <a:ext cx="1783080" cy="13350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Curtained bed bay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3767328" y="2990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toilet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3767328" y="46085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– outside the room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02920" y="4187952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4EA"/>
          </a:solidFill>
          <a:ln w="9525">
            <a:solidFill>
              <a:srgbClr val="F39200"/>
            </a:solidFill>
            <a:prstDash val="solid"/>
          </a:ln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594360" y="41879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CarePad tablet at the bed – for the patient (entertainment, requests, call)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59029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9029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32104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32104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335756" y="203929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335756" y="20392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47649" y="1756380"/>
            <a:ext cx="585216" cy="219456"/>
          </a:xfrm>
          <a:prstGeom prst="roundRect">
            <a:avLst>
              <a:gd name="adj" fmla="val 50000"/>
            </a:avLst>
          </a:prstGeom>
          <a:solidFill>
            <a:srgbClr val="2B275B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47649" y="175638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CarePad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4100253" y="1417461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100253" y="14174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24331" y="134855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724331" y="13485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012055" y="3692754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012055" y="36927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760720" y="132588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897880" y="146304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8978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263640" y="1426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panel at every bed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6263640" y="1636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wall, by the bed head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5897880" y="1975104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58978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6263640" y="1938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 handset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626364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the patient's reach, at every bed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5897880" y="2487168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89788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6263640" y="2450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Pull-cord emergency button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6263640" y="2660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toilets and shower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5897880" y="2999232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589788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6263640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6263640" y="3172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every door – visible from afar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5897880" y="3511296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589788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6263640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cancel button</a:t>
            </a:r>
            <a:endParaRPr lang="en-US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6263640" y="3685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door – the nurse marks arrival and closes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5897880" y="402336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589788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626364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– Consola Monitor</a:t>
            </a:r>
            <a:endParaRPr lang="en-US" sz="1050" dirty="0"/>
          </a:p>
        </p:txBody>
      </p:sp>
      <p:sp>
        <p:nvSpPr>
          <p:cNvPr id="53" name="Text 48"/>
          <p:cNvSpPr txBox="1"/>
          <p:nvPr/>
        </p:nvSpPr>
        <p:spPr>
          <a:xfrm>
            <a:off x="6263640" y="4197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the room: all calls, history, statistics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call, from the patient to closure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694944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822960" cy="822960"/>
          </a:xfrm>
          <a:prstGeom prst="ellipse">
            <a:avLst/>
          </a:prstGeom>
          <a:solidFill>
            <a:srgbClr val="D93025"/>
          </a:solidFill>
          <a:ln/>
        </p:spPr>
      </p:sp>
      <p:pic>
        <p:nvPicPr>
          <p:cNvPr id="6" name="Image 0" descr="/home/claude/rev07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6605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calls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Presses the pear or pulls the cord in the toilet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1463040"/>
            <a:ext cx="822960" cy="822960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1" name="Image 1" descr="/home/claude/rev07/a/i_LuLight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90" y="16605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4884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21488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signals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light above the door turns 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114800" y="1463040"/>
            <a:ext cx="822960" cy="822960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6" name="Image 2" descr="/home/claude/rev07/a/i_LuTabl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310" y="16605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9476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379476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is alerted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79476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appears at the nurse station with room and bed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760720" y="1463040"/>
            <a:ext cx="822960" cy="822960"/>
          </a:xfrm>
          <a:prstGeom prst="ellipse">
            <a:avLst/>
          </a:prstGeom>
          <a:solidFill>
            <a:srgbClr val="1E9E3E"/>
          </a:solidFill>
          <a:ln/>
        </p:spPr>
      </p:sp>
      <p:pic>
        <p:nvPicPr>
          <p:cNvPr id="21" name="Image 3" descr="/home/claude/rev07/a/i_LuDoorOpe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230" y="166055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4068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544068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in the room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44068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Presses presence by the door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406640" y="1463040"/>
            <a:ext cx="822960" cy="822960"/>
          </a:xfrm>
          <a:prstGeom prst="ellipse">
            <a:avLst/>
          </a:prstGeom>
          <a:solidFill>
            <a:srgbClr val="5C2D82"/>
          </a:solidFill>
          <a:ln/>
        </p:spPr>
      </p:sp>
      <p:pic>
        <p:nvPicPr>
          <p:cNvPr id="26" name="Image 4" descr="/home/claude/rev07/a/i_LuCircle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150" y="166055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8660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708660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closed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708660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care is done – logged in the history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AND TOMORROW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nurse call – grow into a smart room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97480" cy="2606040"/>
          </a:xfrm>
          <a:prstGeom prst="roundRect">
            <a:avLst>
              <a:gd name="adj" fmla="val 4912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install now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rev07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93392"/>
            <a:ext cx="810707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258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from the bed and the corridor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1520" y="2862072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10" name="Image 1" descr="/home/claude/rev07/a/w_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80944"/>
            <a:ext cx="724205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in toilets and shower</a:t>
            </a:r>
            <a:endParaRPr lang="en-US" sz="950" dirty="0"/>
          </a:p>
        </p:txBody>
      </p:sp>
      <p:pic>
        <p:nvPicPr>
          <p:cNvPr id="12" name="Image 2" descr="/home/claude/rev07/a/i_LuArrowRigh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5146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86200" y="13533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added later, on the same infrastructure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886200" y="1664208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5" name="Image 3" descr="/home/claude/rev07/a/w_p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819656"/>
            <a:ext cx="619597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126480" y="1810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tablet at every bed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3886200" y="2267712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8" name="Image 4" descr="/home/claude/rev07/a/w_sen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2423160"/>
            <a:ext cx="869046" cy="2011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126480" y="24140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Contactless monitoring and fall prevention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886200" y="2871216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1" name="Image 5" descr="/home/claude/rev07/a/w_tra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3026664"/>
            <a:ext cx="885139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2648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and equipment location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3886200" y="3474720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4" name="Image 6" descr="/home/claude/rev07/a/w_contro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9080" y="3630168"/>
            <a:ext cx="1076249" cy="20116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126480" y="36210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smart locks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ADVANTECNIA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choice for Yoseftal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7" name="Image 0" descr="/home/claude/rev07/a/i_LuAw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879" y="1905975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 beds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proven in 400+ hospitals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4884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4884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Shape 9"/>
          <p:cNvSpPr/>
          <p:nvPr/>
        </p:nvSpPr>
        <p:spPr>
          <a:xfrm>
            <a:off x="266090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7/a/i_LuShield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799" y="190597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4028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standards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24028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UL · ISO 9001 · DIN VDE 0834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79476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9476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8" name="Shape 14"/>
          <p:cNvSpPr/>
          <p:nvPr/>
        </p:nvSpPr>
        <p:spPr>
          <a:xfrm>
            <a:off x="430682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9" name="Image 2" descr="/home/claude/rev07/a/i_LuClipboar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719" y="190597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88620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ready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88620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3D model and images – every device in place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4068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4068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4" name="Shape 19"/>
          <p:cNvSpPr/>
          <p:nvPr/>
        </p:nvSpPr>
        <p:spPr>
          <a:xfrm>
            <a:off x="595274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5" name="Image 3" descr="/home/claude/rev07/a/i_LuHandshak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639" y="190597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53212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partner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53212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in Israel – installation, training and support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08660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08660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0" name="Shape 24"/>
          <p:cNvSpPr/>
          <p:nvPr/>
        </p:nvSpPr>
        <p:spPr>
          <a:xfrm>
            <a:off x="759866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1" name="Image 4" descr="/home/claude/rev07/a/i_LuTrendingU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559" y="190597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17804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future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17804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infrastructure grows into a full smart room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TODAY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approve and move forward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673352"/>
            <a:ext cx="621792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approval with the ward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site survey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installation plan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512064" cy="512064"/>
          </a:xfrm>
          <a:prstGeom prst="ellipse">
            <a:avLst/>
          </a:prstGeom>
          <a:solidFill>
            <a:srgbClr val="F392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Installation, start-up and staff training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8138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2918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4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pic>
        <p:nvPicPr>
          <p:cNvPr id="19" name="Image 0" descr="/home/claude/rev07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520440"/>
            <a:ext cx="365760" cy="47548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297680" y="3520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3767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distributor in Israel</a:t>
            </a:r>
            <a:endParaRPr lang="en-US" sz="950" dirty="0"/>
          </a:p>
        </p:txBody>
      </p:sp>
      <p:pic>
        <p:nvPicPr>
          <p:cNvPr id="22" name="Image 1" descr="/home/claude/rev07/a/advantec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611880"/>
            <a:ext cx="914400" cy="26517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315200" y="3520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315200" y="3767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BG – the manufacturer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ward before installation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846320" cy="3108960"/>
          </a:xfrm>
          <a:prstGeom prst="roundRect">
            <a:avLst>
              <a:gd name="adj" fmla="val 5882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7/a/plan2d_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457200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600200"/>
            <a:ext cx="822960" cy="274320"/>
          </a:xfrm>
          <a:prstGeom prst="ellipse">
            <a:avLst/>
          </a:prstGeom>
          <a:solidFill>
            <a:srgbClr val="2B275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plan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74720" y="32004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9" name="Image 1" descr="/home/claude/rev07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20440" y="3246120"/>
            <a:ext cx="1691640" cy="1051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93592" y="331012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B275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593592" y="3310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325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Yoseftal planning is online, on any device: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0" y="18105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4" name="Image 2" descr="/home/claude/rev07/a/i_LuFileTex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87452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53328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plans and wiring drawings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0" y="21945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7" name="Image 3" descr="/home/claude/rev07/a/i_LuBox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225856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53328" y="2221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and interactive 3D model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669280" y="257860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0" name="Image 4" descr="/home/claude/rev07/a/i_LuPlay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642616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53328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walkthrough video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669280" y="29626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3" name="Image 5" descr="/home/claude/rev07/a/i_LuClipboard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288" y="3026664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53328" y="29900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device position approved in advance</a:t>
            </a:r>
            <a:endParaRPr lang="en-US" sz="1100" dirty="0"/>
          </a:p>
        </p:txBody>
      </p:sp>
      <p:sp>
        <p:nvSpPr>
          <p:cNvPr id="25" name="Shape 17">
            <a:hlinkClick r:id="rId7" tooltip=""/>
          </p:cNvPr>
          <p:cNvSpPr/>
          <p:nvPr/>
        </p:nvSpPr>
        <p:spPr>
          <a:xfrm>
            <a:off x="5669280" y="3429000"/>
            <a:ext cx="2971800" cy="841248"/>
          </a:xfrm>
          <a:prstGeom prst="roundRect">
            <a:avLst>
              <a:gd name="adj" fmla="val 1521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6" name="Image 6" descr="/home/claude/rev07/a/qr_en.png">
            <a:hlinkClick r:id="rId9" tooltip="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3520440"/>
            <a:ext cx="658368" cy="658368"/>
          </a:xfrm>
          <a:prstGeom prst="rect">
            <a:avLst/>
          </a:prstGeom>
        </p:spPr>
      </p:pic>
      <p:sp>
        <p:nvSpPr>
          <p:cNvPr id="27" name="Text 18">
            <a:hlinkClick r:id="rId10" tooltip=""/>
          </p:cNvPr>
          <p:cNvSpPr txBox="1"/>
          <p:nvPr/>
        </p:nvSpPr>
        <p:spPr>
          <a:xfrm>
            <a:off x="6537960" y="35204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Scan to view</a:t>
            </a:r>
            <a:endParaRPr lang="en-US" sz="1600" dirty="0"/>
          </a:p>
        </p:txBody>
      </p:sp>
      <p:sp>
        <p:nvSpPr>
          <p:cNvPr id="28" name="Shape 19">
            <a:hlinkClick r:id="rId11" tooltip=""/>
          </p:cNvPr>
          <p:cNvSpPr/>
          <p:nvPr/>
        </p:nvSpPr>
        <p:spPr>
          <a:xfrm>
            <a:off x="5669280" y="4370832"/>
            <a:ext cx="297180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Text 20">
            <a:hlinkClick r:id="rId12" tooltip=""/>
          </p:cNvPr>
          <p:cNvSpPr txBox="1"/>
          <p:nvPr/>
        </p:nvSpPr>
        <p:spPr>
          <a:xfrm>
            <a:off x="5669280" y="4370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plan →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Orad · Advantecnia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– Yoseftal Medical Center</dc:title>
  <dc:subject>PptxGenJS Presentation</dc:subject>
  <dc:creator>PptxGenJS</dc:creator>
  <cp:lastModifiedBy>PptxGenJS</cp:lastModifiedBy>
  <cp:revision>1</cp:revision>
  <dcterms:created xsi:type="dcterms:W3CDTF">2026-10-26T10:45:54Z</dcterms:created>
  <dcterms:modified xsi:type="dcterms:W3CDTF">2026-10-26T10:45:54Z</dcterms:modified>
</cp:coreProperties>
</file>
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Advantecnia and Orad, and what we will present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manufacturer: experience, international presence and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 smart room is and why it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systems – all on one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AdvantCare – the core of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Software: nurse station, wall screen and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AdvantSOS – emergency in toilets and corridor signalling.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CarePad – the bedside tablet.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AdvantSense – contactless 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AdvantControl and AdvantTrack.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product lines – for the next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project: the surgical ward at Yoseftal.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device on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install in every room and toilet.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call flow in five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nurse call – expand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reasons to choose Advantecnia.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 and thanks.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planning online – photos, plans and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BASE-image-3.jpe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orad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274320"/>
            <a:ext cx="329184" cy="429768"/>
          </a:xfrm>
          <a:prstGeom prst="rect">
            <a:avLst/>
          </a:prstGeom>
        </p:spPr>
      </p:pic>
      <p:pic>
        <p:nvPicPr>
          <p:cNvPr id="3" name="Image 1" descr="/home/claude/rev07/a/smart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29184"/>
            <a:ext cx="868680" cy="2651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3.png"/><Relationship Id="rId5" Type="http://schemas.openxmlformats.org/officeDocument/2006/relationships/image" Target="../media/image-5-3.png"/><Relationship Id="rId6" Type="http://schemas.openxmlformats.org/officeDocument/2006/relationships/image" Target="../media/image-5-3.png"/><Relationship Id="rId7" Type="http://schemas.openxmlformats.org/officeDocument/2006/relationships/image" Target="../media/image-5-3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[object Object]" TargetMode="External"/><Relationship Id="rId4" Type="http://schemas.openxmlformats.org/officeDocument/2006/relationships/hyperlink" Target="[object Object]" TargetMode="External"/><Relationship Id="rId5" Type="http://schemas.openxmlformats.org/officeDocument/2006/relationships/hyperlink" Target="[object Object]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6" Type="http://schemas.openxmlformats.org/officeDocument/2006/relationships/image" Target="../media/image-6-3.png"/><Relationship Id="rId7" Type="http://schemas.openxmlformats.org/officeDocument/2006/relationships/image" Target="../media/image-6-3.png"/><Relationship Id="rId8" Type="http://schemas.openxmlformats.org/officeDocument/2006/relationships/image" Target="../media/image-6-3.png"/><Relationship Id="rId9" Type="http://schemas.openxmlformats.org/officeDocument/2006/relationships/image" Target="../media/image-6-3.png"/><Relationship Id="rId10" Type="http://schemas.openxmlformats.org/officeDocument/2006/relationships/image" Target="../media/image-6-7.png"/><Relationship Id="rId11" Type="http://schemas.openxmlformats.org/officeDocument/2006/relationships/image" Target="../media/image-6-8.png"/><Relationship Id="rId12" Type="http://schemas.openxmlformats.org/officeDocument/2006/relationships/image" Target="../media/image-6-9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3.png"/><Relationship Id="rId5" Type="http://schemas.openxmlformats.org/officeDocument/2006/relationships/image" Target="../media/image-7-3.png"/><Relationship Id="rId6" Type="http://schemas.openxmlformats.org/officeDocument/2006/relationships/image" Target="../media/image-7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3.png"/><Relationship Id="rId5" Type="http://schemas.openxmlformats.org/officeDocument/2006/relationships/image" Target="../media/image-8-3.png"/><Relationship Id="rId6" Type="http://schemas.openxmlformats.org/officeDocument/2006/relationships/image" Target="../media/image-8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3.png"/><Relationship Id="rId5" Type="http://schemas.openxmlformats.org/officeDocument/2006/relationships/image" Target="../media/image-9-3.png"/><Relationship Id="rId6" Type="http://schemas.openxmlformats.org/officeDocument/2006/relationships/image" Target="../media/image-9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3.png"/><Relationship Id="rId5" Type="http://schemas.openxmlformats.org/officeDocument/2006/relationships/image" Target="../media/image-10-5.png"/><Relationship Id="rId6" Type="http://schemas.openxmlformats.org/officeDocument/2006/relationships/image" Target="../media/image-10-3.png"/><Relationship Id="rId7" Type="http://schemas.openxmlformats.org/officeDocument/2006/relationships/image" Target="../media/image-10-3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lexjusid-jpg.github.io/planos/yoseftal_rev05/en/" TargetMode="External"/><Relationship Id="rId2" Type="http://schemas.openxmlformats.org/officeDocument/2006/relationships/hyperlink" Target="https://alexjusid-jpg.github.io/planos/yoseftal_rev05/en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7" Type="http://schemas.openxmlformats.org/officeDocument/2006/relationships/hyperlink" Target="https://alexjusid-jpg.github.io/planos/yoseftal_rev05/en/" TargetMode="External"/><Relationship Id="rId9" Type="http://schemas.openxmlformats.org/officeDocument/2006/relationships/hyperlink" Target="https://alexjusid-jpg.github.io/planos/yoseftal_rev05/en/" TargetMode="External"/><Relationship Id="rId10" Type="http://schemas.openxmlformats.org/officeDocument/2006/relationships/hyperlink" Target="https://alexjusid-jpg.github.io/planos/yoseftal_rev05/en/" TargetMode="External"/><Relationship Id="rId11" Type="http://schemas.openxmlformats.org/officeDocument/2006/relationships/hyperlink" Target="https://alexjusid-jpg.github.io/planos/yoseftal_rev05/en/" TargetMode="External"/><Relationship Id="rId12" Type="http://schemas.openxmlformats.org/officeDocument/2006/relationships/hyperlink" Target="https://alexjusid-jpg.github.io/planos/yoseftal_rev05/en/" TargetMode="External"/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8" Type="http://schemas.openxmlformats.org/officeDocument/2006/relationships/image" Target="../media/image-19-7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orad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502920" cy="658368"/>
          </a:xfrm>
          <a:prstGeom prst="rect">
            <a:avLst/>
          </a:prstGeom>
        </p:spPr>
      </p:pic>
      <p:pic>
        <p:nvPicPr>
          <p:cNvPr id="3" name="Image 1" descr="/home/claude/rev07/a/smartro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621792"/>
            <a:ext cx="1463040" cy="44805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0292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3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Yoseftal Medical Center · Eilat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02920" y="1737360"/>
            <a:ext cx="4206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2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call, communication, medical monitoring and location systems for hospitals</a:t>
            </a:r>
            <a:endParaRPr lang="en-US" sz="27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34747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3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 solutions – and what we will install in the surgical ward</a:t>
            </a:r>
            <a:endParaRPr lang="en-US" sz="1300" dirty="0"/>
          </a:p>
        </p:txBody>
      </p:sp>
      <p:pic>
        <p:nvPicPr>
          <p:cNvPr id="7" name="Image 2" descr="/home/claude/rev07/a/advantecn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251960"/>
            <a:ext cx="1005840" cy="29260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691640" y="42245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 – official distributor in Israel</a:t>
            </a:r>
            <a:endParaRPr lang="en-US" sz="1050" dirty="0"/>
          </a:p>
        </p:txBody>
      </p:sp>
      <p:sp>
        <p:nvSpPr>
          <p:cNvPr id="9" name="Text 4"/>
          <p:cNvSpPr txBox="1"/>
          <p:nvPr/>
        </p:nvSpPr>
        <p:spPr>
          <a:xfrm>
            <a:off x="1691640" y="44256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4937760" y="822960"/>
            <a:ext cx="37490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11" name="Image 3" descr="Yoseftal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983480" y="868680"/>
            <a:ext cx="36576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 by ACE BG: technology for people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12648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45,000+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beds with nurse call installed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01368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911096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11096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099816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209544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98264" y="1325880"/>
            <a:ext cx="1207008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07992" y="14173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10M+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per year</a:t>
            </a:r>
            <a:endParaRPr lang="en-US" sz="900" dirty="0"/>
          </a:p>
        </p:txBody>
      </p:sp>
      <p:pic>
        <p:nvPicPr>
          <p:cNvPr id="16" name="Image 0" descr="/home/claude/rev07/a/i_LuCircleCheck_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523744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5528" y="249631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 and developer of IP healthcare products – based in Spain with a US branch</a:t>
            </a:r>
            <a:endParaRPr lang="en-US" sz="1100" dirty="0"/>
          </a:p>
        </p:txBody>
      </p:sp>
      <p:pic>
        <p:nvPicPr>
          <p:cNvPr id="18" name="Image 1" descr="/home/claude/rev07/a/i_LuCircleCheck_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07792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95528" y="2880360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running in hospitals, clinics and assisted living across Europe and America</a:t>
            </a:r>
            <a:endParaRPr lang="en-US" sz="1100" dirty="0"/>
          </a:p>
        </p:txBody>
      </p:sp>
      <p:pic>
        <p:nvPicPr>
          <p:cNvPr id="20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91840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95528" y="3264408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 is the Advantecnia distributor in Israel, with local support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2920" y="38862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standards</a:t>
            </a:r>
            <a:endParaRPr lang="en-US" sz="1000" dirty="0"/>
          </a:p>
        </p:txBody>
      </p:sp>
      <p:pic>
        <p:nvPicPr>
          <p:cNvPr id="23" name="Image 3" descr="/home/claude/rev07/a/cer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767328"/>
            <a:ext cx="2148840" cy="53035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852160" y="1280160"/>
            <a:ext cx="2834640" cy="33375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25" name="Image 4" descr="Nurs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897880" y="1325880"/>
            <a:ext cx="2743200" cy="3246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SMART ROOM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Smart Room?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"Smart Room" is an advanced care environment that uses digital technology to improve patient care and make staff work more efficient.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9202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enjoy a comfortable, personalized stay, and medical staff get tools that support their daily work.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606040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24912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8" name="Image 0" descr="/home/claude/rev07/a/i_LuHeartPul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084" y="2803916"/>
            <a:ext cx="171176" cy="171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30815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care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27355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follow-up of the patient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97480" y="2606040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834640" y="2724912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3" name="Image 1" descr="/home/claude/rev07/a/i_Lu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3644" y="2803916"/>
            <a:ext cx="171176" cy="17117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834640" y="308152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efficient staff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834640" y="327355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 reaches the right person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593592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3712464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8" name="Image 2" descr="/home/claude/rev07/a/i_LuShield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4" y="3791468"/>
            <a:ext cx="171176" cy="17117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0080" y="4069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42611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alerts, day and night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2697480" y="3593592"/>
            <a:ext cx="2084832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2834640" y="3712464"/>
            <a:ext cx="329184" cy="32918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3" name="Image 3" descr="/home/claude/rev07/a/i_LuSparkle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644" y="3791468"/>
            <a:ext cx="171176" cy="17117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069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experience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834640" y="42611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Comfort, information and entertainment at the bed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5029200" y="118872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27" name="Image 4" descr="/home/claude/rev07/a/room2_clean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074920" y="1234440"/>
            <a:ext cx="3566160" cy="3246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SYSTEMS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system – in one room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93776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door_no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4846320" cy="3337560"/>
          </a:xfrm>
          <a:prstGeom prst="rect">
            <a:avLst/>
          </a:prstGeom>
        </p:spPr>
      </p:pic>
      <p:pic>
        <p:nvPicPr>
          <p:cNvPr id="6" name="Image 1" descr="c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61872"/>
            <a:ext cx="884408" cy="219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23560" y="15087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call and communication</a:t>
            </a:r>
            <a:endParaRPr lang="en-US" sz="950" dirty="0"/>
          </a:p>
        </p:txBody>
      </p:sp>
      <p:pic>
        <p:nvPicPr>
          <p:cNvPr id="8" name="Image 2" descr="sen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810512"/>
            <a:ext cx="948050" cy="2194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623560" y="20574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Contactless medical and environment monitoring</a:t>
            </a:r>
            <a:endParaRPr lang="en-US" sz="950" dirty="0"/>
          </a:p>
        </p:txBody>
      </p:sp>
      <p:pic>
        <p:nvPicPr>
          <p:cNvPr id="10" name="Image 3" descr="p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359152"/>
            <a:ext cx="675924" cy="21945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623560" y="26060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 and screens for patient and staff</a:t>
            </a:r>
            <a:endParaRPr lang="en-US" sz="950" dirty="0"/>
          </a:p>
        </p:txBody>
      </p:sp>
      <p:pic>
        <p:nvPicPr>
          <p:cNvPr id="12" name="Image 4" descr="s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907792"/>
            <a:ext cx="790042" cy="21945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623560" y="31546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buttons in toilets</a:t>
            </a:r>
            <a:endParaRPr lang="en-US" sz="950" dirty="0"/>
          </a:p>
        </p:txBody>
      </p:sp>
      <p:pic>
        <p:nvPicPr>
          <p:cNvPr id="14" name="Image 5" descr="contr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456432"/>
            <a:ext cx="1174090" cy="219456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623560" y="3703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and automation</a:t>
            </a:r>
            <a:endParaRPr lang="en-US" sz="950" dirty="0"/>
          </a:p>
        </p:txBody>
      </p:sp>
      <p:pic>
        <p:nvPicPr>
          <p:cNvPr id="16" name="Image 6" descr="tra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4005072"/>
            <a:ext cx="965606" cy="219456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5623560" y="42519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location of people and equipment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52911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call system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roomA2_clea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40680" y="132588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916168" y="1517904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with buttons for nurse call, doctor call and intercom</a:t>
            </a:r>
            <a:endParaRPr lang="en-US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039112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916168" y="2011680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Ergonomic pear handset with LED light – also a night light</a:t>
            </a:r>
            <a:endParaRPr lang="en-US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532888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5916168" y="2505456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buttons with raised marking for the visually impaired</a:t>
            </a:r>
            <a:endParaRPr lang="en-US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026664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916168" y="2999232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Pull-cord emergency button in toilets</a:t>
            </a:r>
            <a:endParaRPr lang="en-US" sz="1000" dirty="0"/>
          </a:p>
        </p:txBody>
      </p:sp>
      <p:pic>
        <p:nvPicPr>
          <p:cNvPr id="15" name="Image 6" descr="/home/claude/rev07/a/i_LuCircleChec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20440"/>
            <a:ext cx="201168" cy="201168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5916168" y="3493008"/>
            <a:ext cx="25877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Complies with DIN VDE 0834-1:2016 safety standard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52911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Software: every call in one view</a:t>
            </a:r>
            <a:endParaRPr lang="en-US" sz="2400" dirty="0"/>
          </a:p>
        </p:txBody>
      </p:sp>
      <p:pic>
        <p:nvPicPr>
          <p:cNvPr id="4" name="Image 1" descr="Consola Monitor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325880"/>
            <a:ext cx="3072384" cy="21945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3611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station – Consola Monitor software</a:t>
            </a:r>
            <a:endParaRPr lang="en-US" sz="95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382219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PC, tablet or iPad</a:t>
            </a:r>
            <a:endParaRPr lang="en-US" sz="850" dirty="0"/>
          </a:p>
        </p:txBody>
      </p:sp>
      <p:sp>
        <p:nvSpPr>
          <p:cNvPr id="7" name="Shape 3">
            <a:hlinkClick r:id="rId4" tooltip=""/>
          </p:cNvPr>
          <p:cNvSpPr/>
          <p:nvPr/>
        </p:nvSpPr>
        <p:spPr>
          <a:xfrm>
            <a:off x="502920" y="409651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3920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8" name="Text 4">
            <a:hlinkClick r:id="rId5" tooltip=""/>
          </p:cNvPr>
          <p:cNvSpPr txBox="1"/>
          <p:nvPr/>
        </p:nvSpPr>
        <p:spPr>
          <a:xfrm>
            <a:off x="502920" y="409651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Live software demo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794760" y="1325880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3858768" y="1389888"/>
            <a:ext cx="1792224" cy="11064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931920" y="142646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7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screen · Surgery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3931920" y="1645920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1E9E3E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931920" y="164592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498848" y="1645920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D9302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498848" y="164592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2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5065776" y="1645920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9E8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65776" y="1645920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3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931920" y="204825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9E8F0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3931920" y="20482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4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498848" y="204825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9E8F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498848" y="20482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5065776" y="204825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3920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065776" y="2048256"/>
            <a:ext cx="512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3794760" y="260604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screen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023360" y="2926080"/>
            <a:ext cx="777240" cy="1417320"/>
          </a:xfrm>
          <a:prstGeom prst="roundRect">
            <a:avLst>
              <a:gd name="adj" fmla="val 14118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078224" y="2999232"/>
            <a:ext cx="667512" cy="12710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3"/>
          <p:cNvSpPr/>
          <p:nvPr/>
        </p:nvSpPr>
        <p:spPr>
          <a:xfrm>
            <a:off x="4114800" y="3108960"/>
            <a:ext cx="59436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114800" y="3108960"/>
            <a:ext cx="27432" cy="566928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4169664" y="3127248"/>
            <a:ext cx="530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5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Notifcare</a:t>
            </a:r>
            <a:endParaRPr lang="en-US" sz="550" dirty="0"/>
          </a:p>
        </p:txBody>
      </p:sp>
      <p:sp>
        <p:nvSpPr>
          <p:cNvPr id="30" name="Text 26"/>
          <p:cNvSpPr txBox="1"/>
          <p:nvPr/>
        </p:nvSpPr>
        <p:spPr>
          <a:xfrm>
            <a:off x="4169664" y="324612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call</a:t>
            </a:r>
            <a:endParaRPr lang="en-US" sz="700" dirty="0"/>
          </a:p>
        </p:txBody>
      </p:sp>
      <p:sp>
        <p:nvSpPr>
          <p:cNvPr id="31" name="Text 27"/>
          <p:cNvSpPr txBox="1"/>
          <p:nvPr/>
        </p:nvSpPr>
        <p:spPr>
          <a:xfrm>
            <a:off x="4169664" y="343814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6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2 · Bed B</a:t>
            </a:r>
            <a:endParaRPr lang="en-US" sz="600" dirty="0"/>
          </a:p>
        </p:txBody>
      </p:sp>
      <p:sp>
        <p:nvSpPr>
          <p:cNvPr id="32" name="Text 28"/>
          <p:cNvSpPr txBox="1"/>
          <p:nvPr/>
        </p:nvSpPr>
        <p:spPr>
          <a:xfrm>
            <a:off x="4892040" y="352044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 app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897880" y="1325880"/>
            <a:ext cx="27432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34" name="Image 2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1517904"/>
            <a:ext cx="201168" cy="20116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6345936" y="14904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priority by type and urgency</a:t>
            </a:r>
            <a:endParaRPr lang="en-US" sz="1000" dirty="0"/>
          </a:p>
        </p:txBody>
      </p:sp>
      <p:pic>
        <p:nvPicPr>
          <p:cNvPr id="36" name="Image 3" descr="/home/claude/rev07/a/i_LuCircleChec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8" y="1901952"/>
            <a:ext cx="201168" cy="20116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6345936" y="187452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 to mobile terminals and phones</a:t>
            </a:r>
            <a:endParaRPr lang="en-US" sz="1000" dirty="0"/>
          </a:p>
        </p:txBody>
      </p:sp>
      <p:pic>
        <p:nvPicPr>
          <p:cNvPr id="38" name="Image 4" descr="/home/claude/rev07/a/i_LuCircleCheck_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53328" y="2286000"/>
            <a:ext cx="201168" cy="20116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6345936" y="2258568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phone or Android desk phone</a:t>
            </a:r>
            <a:endParaRPr lang="en-US" sz="1000" dirty="0"/>
          </a:p>
        </p:txBody>
      </p:sp>
      <p:pic>
        <p:nvPicPr>
          <p:cNvPr id="40" name="Image 5" descr="/home/claude/rev07/a/i_LuCircleCheck_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53328" y="2670048"/>
            <a:ext cx="201168" cy="201168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345936" y="264261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History, reports and charts</a:t>
            </a:r>
            <a:endParaRPr lang="en-US" sz="1000" dirty="0"/>
          </a:p>
        </p:txBody>
      </p:sp>
      <p:pic>
        <p:nvPicPr>
          <p:cNvPr id="42" name="Image 6" descr="mini_call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7880" y="3291840"/>
            <a:ext cx="868680" cy="49743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897880" y="38130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</a:t>
            </a:r>
            <a:endParaRPr lang="en-US" sz="800" dirty="0"/>
          </a:p>
        </p:txBody>
      </p:sp>
      <p:pic>
        <p:nvPicPr>
          <p:cNvPr id="44" name="Image 7" descr="mini_stat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5140" y="3291840"/>
            <a:ext cx="868680" cy="497434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6835140" y="38130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Statistics</a:t>
            </a:r>
            <a:endParaRPr lang="en-US" sz="800" dirty="0"/>
          </a:p>
        </p:txBody>
      </p:sp>
      <p:pic>
        <p:nvPicPr>
          <p:cNvPr id="46" name="Image 8" descr="mini_his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0" y="3291840"/>
            <a:ext cx="868680" cy="49743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772400" y="381304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5897880" y="30632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screens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11922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buttons and indicator lights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p2_non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40680" y="1325880"/>
            <a:ext cx="32004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916168" y="1517904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Pull-cord emergency button – reachable even after a fall</a:t>
            </a:r>
            <a:endParaRPr lang="en-US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057400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916168" y="2029968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light at the room entrance – red, blue or green by alert type</a:t>
            </a:r>
            <a:endParaRPr lang="en-US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569464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5916168" y="2542032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locally, even without communication with the central server</a:t>
            </a:r>
            <a:endParaRPr lang="en-US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081528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916168" y="3054096"/>
            <a:ext cx="25877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Illuminated sign with the room number and its status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957560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tablet for patient and staff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room1_clea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40680" y="1325880"/>
            <a:ext cx="32004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916168" y="1517904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 by category: nurse, medication, food and drink, toilet, repositioning</a:t>
            </a:r>
            <a:endParaRPr lang="en-US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075688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916168" y="2048256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and video calls with staff and family</a:t>
            </a:r>
            <a:endParaRPr lang="en-US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606040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5916168" y="2578608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Entertainment, TV and medical information – with a personal access code</a:t>
            </a:r>
            <a:endParaRPr lang="en-US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136392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916168" y="3108960"/>
            <a:ext cx="2587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outside the room: call status, intercom and tasks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rev07/a/w_sen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343071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6949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monitoring – without contact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1" descr="/home/claude/rev07/a/p3_non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1325880"/>
            <a:ext cx="4754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40680" y="1325880"/>
            <a:ext cx="320040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545336"/>
            <a:ext cx="201168" cy="20116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916168" y="15179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bed exit, falls and presence in the room</a:t>
            </a:r>
            <a:endParaRPr lang="en-US" sz="1000" dirty="0"/>
          </a:p>
        </p:txBody>
      </p:sp>
      <p:pic>
        <p:nvPicPr>
          <p:cNvPr id="9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002536"/>
            <a:ext cx="201168" cy="20116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916168" y="19751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 rate, breathing and sleep quality – no wires</a:t>
            </a:r>
            <a:endParaRPr lang="en-US" sz="1000" dirty="0"/>
          </a:p>
        </p:txBody>
      </p:sp>
      <p:pic>
        <p:nvPicPr>
          <p:cNvPr id="11" name="Image 4" descr="/home/claude/rev07/a/i_LuCircleCheck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459736"/>
            <a:ext cx="201168" cy="201168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5916168" y="24323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body sensor – up to 9 clinical parameters</a:t>
            </a:r>
            <a:endParaRPr lang="en-US" sz="1000" dirty="0"/>
          </a:p>
        </p:txBody>
      </p:sp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916936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916168" y="288950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sensors: temperature, humidity, CO, CO2 and noise</a:t>
            </a:r>
            <a:endParaRPr lang="en-US" sz="1000" dirty="0"/>
          </a:p>
        </p:txBody>
      </p:sp>
      <p:sp>
        <p:nvSpPr>
          <p:cNvPr id="15" name="Shape 7"/>
          <p:cNvSpPr/>
          <p:nvPr/>
        </p:nvSpPr>
        <p:spPr>
          <a:xfrm>
            <a:off x="5623560" y="352044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B275B"/>
          </a:solidFill>
          <a:ln/>
        </p:spPr>
      </p:sp>
      <p:sp>
        <p:nvSpPr>
          <p:cNvPr id="16" name="Text 8"/>
          <p:cNvSpPr txBox="1"/>
          <p:nvPr/>
        </p:nvSpPr>
        <p:spPr>
          <a:xfrm>
            <a:off x="5733288" y="35661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-40%</a:t>
            </a:r>
            <a:endParaRPr lang="en-US" sz="2200" dirty="0"/>
          </a:p>
        </p:txBody>
      </p:sp>
      <p:sp>
        <p:nvSpPr>
          <p:cNvPr id="17" name="Text 9"/>
          <p:cNvSpPr txBox="1"/>
          <p:nvPr/>
        </p:nvSpPr>
        <p:spPr>
          <a:xfrm>
            <a:off x="5733288" y="39867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</a:t>
            </a:r>
            <a:endParaRPr lang="en-US" sz="950" dirty="0"/>
          </a:p>
        </p:txBody>
      </p:sp>
      <p:sp>
        <p:nvSpPr>
          <p:cNvPr id="18" name="Shape 10"/>
          <p:cNvSpPr/>
          <p:nvPr/>
        </p:nvSpPr>
        <p:spPr>
          <a:xfrm>
            <a:off x="7086600" y="352044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B275B"/>
          </a:solidFill>
          <a:ln/>
        </p:spPr>
      </p:sp>
      <p:sp>
        <p:nvSpPr>
          <p:cNvPr id="19" name="Text 11"/>
          <p:cNvSpPr txBox="1"/>
          <p:nvPr/>
        </p:nvSpPr>
        <p:spPr>
          <a:xfrm>
            <a:off x="7196328" y="35661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-70%</a:t>
            </a:r>
            <a:endParaRPr lang="en-US" sz="2200" dirty="0"/>
          </a:p>
        </p:txBody>
      </p:sp>
      <p:sp>
        <p:nvSpPr>
          <p:cNvPr id="20" name="Text 12"/>
          <p:cNvSpPr txBox="1"/>
          <p:nvPr/>
        </p:nvSpPr>
        <p:spPr>
          <a:xfrm>
            <a:off x="7196328" y="398678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ulcers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LOCATION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and real-time location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corr_cle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25880"/>
            <a:ext cx="475488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40680" y="132588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1" descr="/home/claude/rev07/a/w_contr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508760"/>
            <a:ext cx="1320851" cy="246888"/>
          </a:xfrm>
          <a:prstGeom prst="rect">
            <a:avLst/>
          </a:prstGeom>
        </p:spPr>
      </p:pic>
      <p:pic>
        <p:nvPicPr>
          <p:cNvPr id="8" name="Image 2" descr="/home/claude/rev07/a/i_LuCircleCheck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883664"/>
            <a:ext cx="201168" cy="2011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16168" y="18562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lock: Bluetooth, card, fingerprint or code</a:t>
            </a:r>
            <a:endParaRPr lang="en-US" sz="1000" dirty="0"/>
          </a:p>
        </p:txBody>
      </p:sp>
      <p:pic>
        <p:nvPicPr>
          <p:cNvPr id="10" name="Image 3" descr="/home/claude/rev07/a/i_LuCircleCheck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2340864"/>
            <a:ext cx="201168" cy="20116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916168" y="23134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Cameras, access control and touch terminals</a:t>
            </a:r>
            <a:endParaRPr lang="en-US" sz="1000" dirty="0"/>
          </a:p>
        </p:txBody>
      </p:sp>
      <p:pic>
        <p:nvPicPr>
          <p:cNvPr id="12" name="Image 4" descr="/home/claude/rev07/a/w_tra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880360"/>
            <a:ext cx="1086307" cy="246888"/>
          </a:xfrm>
          <a:prstGeom prst="rect">
            <a:avLst/>
          </a:prstGeom>
        </p:spPr>
      </p:pic>
      <p:pic>
        <p:nvPicPr>
          <p:cNvPr id="13" name="Image 5" descr="/home/claude/rev07/a/i_LuCircle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255264"/>
            <a:ext cx="201168" cy="201168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916168" y="32278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location of people and equipment – tag, wristband or card</a:t>
            </a:r>
            <a:endParaRPr lang="en-US" sz="1000" dirty="0"/>
          </a:p>
        </p:txBody>
      </p:sp>
      <p:pic>
        <p:nvPicPr>
          <p:cNvPr id="15" name="Image 6" descr="/home/claude/rev07/a/i_LuCircleCheck_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712464"/>
            <a:ext cx="201168" cy="201168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5916168" y="36850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and Bluetooth versions, with staff panic button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POTENTIAL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 product lines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61872" y="1435608"/>
            <a:ext cx="402336" cy="402336"/>
          </a:xfrm>
          <a:prstGeom prst="ellipse">
            <a:avLst/>
          </a:prstGeom>
          <a:solidFill>
            <a:srgbClr val="F39200"/>
          </a:solidFill>
          <a:ln/>
        </p:spPr>
      </p:sp>
      <p:pic>
        <p:nvPicPr>
          <p:cNvPr id="6" name="Image 0" descr="/home/claude/rev07/a/i_LuBellR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8433" y="1532169"/>
            <a:ext cx="209215" cy="20921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call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51176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310128" y="1435608"/>
            <a:ext cx="402336" cy="402336"/>
          </a:xfrm>
          <a:prstGeom prst="ellipse">
            <a:avLst/>
          </a:prstGeom>
          <a:solidFill>
            <a:srgbClr val="F39200"/>
          </a:solidFill>
          <a:ln/>
        </p:spPr>
      </p:sp>
      <p:pic>
        <p:nvPicPr>
          <p:cNvPr id="10" name="Image 1" descr="/home/claude/rev07/a/i_LuHeartPuls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689" y="1532169"/>
            <a:ext cx="209215" cy="20921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42616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monitoring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99432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358384" y="1435608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4" name="Image 2" descr="/home/claude/rev07/a/i_LuPhon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945" y="1532169"/>
            <a:ext cx="209215" cy="20921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90872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Intercom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647688" y="132588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406640" y="1435608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8" name="Image 3" descr="/home/claude/rev07/a/i_LuMegaphon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201" y="1532169"/>
            <a:ext cx="209215" cy="20921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39128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address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02920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261872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2" name="Image 4" descr="/home/claude/rev07/a/i_LuSiren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433" y="2611161"/>
            <a:ext cx="209215" cy="20921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94360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Indicator lights and emergency buttons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2551176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310128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6" name="Image 5" descr="/home/claude/rev07/a/i_LuLock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6689" y="2611161"/>
            <a:ext cx="209215" cy="20921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642616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and security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4599432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5358384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0" name="Image 6" descr="/home/claude/rev07/a/i_LuMapPin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4945" y="2611161"/>
            <a:ext cx="209215" cy="20921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690872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location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647688" y="2404872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7406640" y="2514600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4" name="Image 7" descr="/home/claude/rev07/a/i_LuZap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3201" y="2611161"/>
            <a:ext cx="209215" cy="20921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739128" y="29535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control and saving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502920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1261872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8" name="Image 8" descr="/home/claude/rev07/a/i_LuAlarmClock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433" y="3690153"/>
            <a:ext cx="209215" cy="209215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594360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Clock synchronization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2551176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41" name="Shape 30"/>
          <p:cNvSpPr/>
          <p:nvPr/>
        </p:nvSpPr>
        <p:spPr>
          <a:xfrm>
            <a:off x="3310128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42" name="Image 9" descr="/home/claude/rev07/a/i_LuTv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06689" y="3690153"/>
            <a:ext cx="209215" cy="20921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2642616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Wayfinding and entertainment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4599432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5358384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46" name="Image 10" descr="/home/claude/rev07/a/i_LuUsers_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945" y="3690153"/>
            <a:ext cx="209215" cy="209215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4690872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management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6647688" y="3483864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49" name="Shape 36"/>
          <p:cNvSpPr/>
          <p:nvPr/>
        </p:nvSpPr>
        <p:spPr>
          <a:xfrm>
            <a:off x="7406640" y="3593592"/>
            <a:ext cx="402336" cy="402336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50" name="Image 11" descr="/home/claude/rev07/a/i_LuMonitor_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03201" y="3690153"/>
            <a:ext cx="209215" cy="209215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739128" y="4032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signage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3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07008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altLang="en-US" sz="2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 at Yoseftal Medical Center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5420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Surgical ward · AdvantCare nurse call system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310896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316382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310896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33172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852928" y="316382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rooms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858768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391363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toilets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94560" y="3858768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33172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4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91363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station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40480" y="1280160"/>
            <a:ext cx="484632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18" name="Image 0" descr="/home/claude/rev07/a/bed3_no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86200" y="1325880"/>
            <a:ext cx="4754880" cy="3246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 PLAN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device positioned on the floor plan</a:t>
            </a:r>
            <a:endParaRPr lang="en-US" sz="2500" dirty="0"/>
          </a:p>
        </p:txBody>
      </p:sp>
      <p:sp>
        <p:nvSpPr>
          <p:cNvPr id="4" name="Shape 2">
            <a:hlinkClick r:id="rId1" tooltip=""/>
          </p:cNvPr>
          <p:cNvSpPr/>
          <p:nvPr/>
        </p:nvSpPr>
        <p:spPr>
          <a:xfrm>
            <a:off x="6172200" y="1463040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F3920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Text 3">
            <a:hlinkClick r:id="rId2" tooltip=""/>
          </p:cNvPr>
          <p:cNvSpPr txBox="1"/>
          <p:nvPr/>
        </p:nvSpPr>
        <p:spPr>
          <a:xfrm>
            <a:off x="6217920" y="146304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interactive plan →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813816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0" y="2857500"/>
            <a:ext cx="5120640" cy="428625"/>
          </a:xfrm>
          <a:prstGeom prst="rect">
            <a:avLst/>
          </a:prstGeom>
          <a:solidFill>
            <a:srgbClr val="EEEDF5"/>
          </a:solidFill>
          <a:ln/>
        </p:spPr>
      </p:sp>
      <p:sp>
        <p:nvSpPr>
          <p:cNvPr id="8" name="Shape 6"/>
          <p:cNvSpPr/>
          <p:nvPr/>
        </p:nvSpPr>
        <p:spPr>
          <a:xfrm>
            <a:off x="2011680" y="1628775"/>
            <a:ext cx="101727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11680" y="1691640"/>
            <a:ext cx="10172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4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08026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625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2" name="Shape 10"/>
          <p:cNvSpPr/>
          <p:nvPr/>
        </p:nvSpPr>
        <p:spPr>
          <a:xfrm>
            <a:off x="208026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625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4" name="Shape 12"/>
          <p:cNvSpPr/>
          <p:nvPr/>
        </p:nvSpPr>
        <p:spPr>
          <a:xfrm>
            <a:off x="208026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625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6" name="Shape 14"/>
          <p:cNvSpPr/>
          <p:nvPr/>
        </p:nvSpPr>
        <p:spPr>
          <a:xfrm>
            <a:off x="254203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17" name="Shape 15"/>
          <p:cNvSpPr/>
          <p:nvPr/>
        </p:nvSpPr>
        <p:spPr>
          <a:xfrm>
            <a:off x="277634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8" name="Shape 16"/>
          <p:cNvSpPr/>
          <p:nvPr/>
        </p:nvSpPr>
        <p:spPr>
          <a:xfrm>
            <a:off x="3028950" y="1628775"/>
            <a:ext cx="102870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28950" y="1691640"/>
            <a:ext cx="10287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3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09753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352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2" name="Shape 20"/>
          <p:cNvSpPr/>
          <p:nvPr/>
        </p:nvSpPr>
        <p:spPr>
          <a:xfrm>
            <a:off x="309753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352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4" name="Shape 22"/>
          <p:cNvSpPr/>
          <p:nvPr/>
        </p:nvSpPr>
        <p:spPr>
          <a:xfrm>
            <a:off x="309753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352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6" name="Shape 24"/>
          <p:cNvSpPr/>
          <p:nvPr/>
        </p:nvSpPr>
        <p:spPr>
          <a:xfrm>
            <a:off x="355930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27" name="Shape 25"/>
          <p:cNvSpPr/>
          <p:nvPr/>
        </p:nvSpPr>
        <p:spPr>
          <a:xfrm>
            <a:off x="380504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28" name="Shape 26"/>
          <p:cNvSpPr/>
          <p:nvPr/>
        </p:nvSpPr>
        <p:spPr>
          <a:xfrm>
            <a:off x="4057650" y="1628775"/>
            <a:ext cx="90297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057650" y="1691640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60620" y="1628775"/>
            <a:ext cx="114300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960620" y="16916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2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2920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6519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4" name="Shape 32"/>
          <p:cNvSpPr/>
          <p:nvPr/>
        </p:nvSpPr>
        <p:spPr>
          <a:xfrm>
            <a:off x="502920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6519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920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6519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8" name="Shape 36"/>
          <p:cNvSpPr/>
          <p:nvPr/>
        </p:nvSpPr>
        <p:spPr>
          <a:xfrm>
            <a:off x="549097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39" name="Shape 37"/>
          <p:cNvSpPr/>
          <p:nvPr/>
        </p:nvSpPr>
        <p:spPr>
          <a:xfrm>
            <a:off x="585101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40" name="Shape 38"/>
          <p:cNvSpPr/>
          <p:nvPr/>
        </p:nvSpPr>
        <p:spPr>
          <a:xfrm>
            <a:off x="6103620" y="1628775"/>
            <a:ext cx="1028700" cy="1228725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03620" y="1691640"/>
            <a:ext cx="10287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172200" y="18459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08192" y="19248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44" name="Shape 42"/>
          <p:cNvSpPr/>
          <p:nvPr/>
        </p:nvSpPr>
        <p:spPr>
          <a:xfrm>
            <a:off x="6172200" y="2188845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08192" y="2267712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46" name="Shape 44"/>
          <p:cNvSpPr/>
          <p:nvPr/>
        </p:nvSpPr>
        <p:spPr>
          <a:xfrm>
            <a:off x="6172200" y="2514600"/>
            <a:ext cx="428625" cy="240030"/>
          </a:xfrm>
          <a:prstGeom prst="roundRect">
            <a:avLst>
              <a:gd name="adj" fmla="val 11429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08192" y="2593467"/>
            <a:ext cx="82296" cy="82296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48" name="Shape 46"/>
          <p:cNvSpPr/>
          <p:nvPr/>
        </p:nvSpPr>
        <p:spPr>
          <a:xfrm>
            <a:off x="6633972" y="267347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49" name="Shape 47"/>
          <p:cNvSpPr/>
          <p:nvPr/>
        </p:nvSpPr>
        <p:spPr>
          <a:xfrm>
            <a:off x="6879717" y="2884932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011680" y="3000375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114550" y="3160395"/>
            <a:ext cx="4800600" cy="0"/>
          </a:xfrm>
          <a:prstGeom prst="line">
            <a:avLst/>
          </a:prstGeom>
          <a:noFill/>
          <a:ln w="19050">
            <a:solidFill>
              <a:srgbClr val="1E9E3E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4097655" y="3286125"/>
            <a:ext cx="942975" cy="69723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097655" y="3743325"/>
            <a:ext cx="9429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8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station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429125" y="3451860"/>
            <a:ext cx="285750" cy="19431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25400">
            <a:solidFill>
              <a:srgbClr val="5C2D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83555" y="3286125"/>
            <a:ext cx="474345" cy="90297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583555" y="4000500"/>
            <a:ext cx="47434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WC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5752148" y="3657600"/>
            <a:ext cx="137160" cy="205740"/>
          </a:xfrm>
          <a:prstGeom prst="roundRect">
            <a:avLst>
              <a:gd name="adj" fmla="val 26667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57900" y="3286125"/>
            <a:ext cx="514350" cy="90297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057900" y="4000500"/>
            <a:ext cx="5143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B2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246495" y="3657600"/>
            <a:ext cx="137160" cy="205740"/>
          </a:xfrm>
          <a:prstGeom prst="roundRect">
            <a:avLst>
              <a:gd name="adj" fmla="val 26667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33922" y="3485007"/>
            <a:ext cx="82296" cy="82296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6416802" y="333641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63" name="Shape 61"/>
          <p:cNvSpPr/>
          <p:nvPr/>
        </p:nvSpPr>
        <p:spPr>
          <a:xfrm>
            <a:off x="6273927" y="3164967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64" name="Shape 62"/>
          <p:cNvSpPr/>
          <p:nvPr/>
        </p:nvSpPr>
        <p:spPr>
          <a:xfrm>
            <a:off x="6572250" y="3286125"/>
            <a:ext cx="560070" cy="902970"/>
          </a:xfrm>
          <a:prstGeom prst="rect">
            <a:avLst/>
          </a:prstGeom>
          <a:solidFill>
            <a:srgbClr val="FFFFFF"/>
          </a:solidFill>
          <a:ln w="25400">
            <a:solidFill>
              <a:srgbClr val="2B275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72250" y="4000500"/>
            <a:ext cx="5600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7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B3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6783705" y="3657600"/>
            <a:ext cx="137160" cy="205740"/>
          </a:xfrm>
          <a:prstGeom prst="roundRect">
            <a:avLst>
              <a:gd name="adj" fmla="val 26667"/>
            </a:avLst>
          </a:prstGeom>
          <a:solidFill>
            <a:srgbClr val="ECE8F6"/>
          </a:solidFill>
          <a:ln w="9525">
            <a:solidFill>
              <a:srgbClr val="C9C2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748272" y="3485007"/>
            <a:ext cx="82296" cy="82296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6931152" y="3336417"/>
            <a:ext cx="82296" cy="82296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811137" y="3164967"/>
            <a:ext cx="82296" cy="82296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70" name="Shape 68"/>
          <p:cNvSpPr/>
          <p:nvPr/>
        </p:nvSpPr>
        <p:spPr>
          <a:xfrm>
            <a:off x="6982587" y="3399282"/>
            <a:ext cx="82296" cy="82296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2011680" y="4370832"/>
            <a:ext cx="100584" cy="100584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157984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+ pear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3154680" y="4370832"/>
            <a:ext cx="100584" cy="100584"/>
          </a:xfrm>
          <a:prstGeom prst="ellipse">
            <a:avLst/>
          </a:prstGeom>
          <a:solidFill>
            <a:srgbClr val="E07A12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300984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pull-cord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297680" y="4370832"/>
            <a:ext cx="100584" cy="100584"/>
          </a:xfrm>
          <a:prstGeom prst="ellipse">
            <a:avLst/>
          </a:prstGeom>
          <a:solidFill>
            <a:srgbClr val="1E9E3E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443984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/ cancel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440680" y="4370832"/>
            <a:ext cx="100584" cy="100584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586984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light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583680" y="4370832"/>
            <a:ext cx="100584" cy="100584"/>
          </a:xfrm>
          <a:prstGeom prst="ellipse">
            <a:avLst/>
          </a:prstGeom>
          <a:solidFill>
            <a:srgbClr val="5C2D8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729984" y="431596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station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INSTALL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AdvantCare in the surgical ward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200400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s14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25880"/>
            <a:ext cx="3108960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721608" y="1280160"/>
            <a:ext cx="1874520" cy="1719072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7" name="Image 1" descr="/home/claude/rev07/a/s14_w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67328" y="1325880"/>
            <a:ext cx="1783080" cy="16276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721608" y="3200400"/>
            <a:ext cx="1874520" cy="1426464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9" name="Image 2" descr="/home/claude/rev07/a/s14_n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67328" y="3246120"/>
            <a:ext cx="1783080" cy="13350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38862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0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Curtained bed bay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3767328" y="299008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toilet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3767328" y="4608576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station – outside the room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502920" y="4187952"/>
            <a:ext cx="3108960" cy="384048"/>
          </a:xfrm>
          <a:prstGeom prst="roundRect">
            <a:avLst>
              <a:gd name="adj" fmla="val 23810"/>
            </a:avLst>
          </a:prstGeom>
          <a:solidFill>
            <a:srgbClr val="FFF4EA"/>
          </a:solidFill>
          <a:ln w="9525">
            <a:solidFill>
              <a:srgbClr val="F39200"/>
            </a:solidFill>
            <a:prstDash val="solid"/>
          </a:ln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94360" y="41879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CarePad tablet at the bed – for the patient (entertainment, requests, call)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459029" y="150144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9" y="15014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32104" y="150144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2104" y="150144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335756" y="203929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335756" y="20392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847649" y="1756380"/>
            <a:ext cx="585216" cy="219456"/>
          </a:xfrm>
          <a:prstGeom prst="roundRect">
            <a:avLst>
              <a:gd name="adj" fmla="val 50000"/>
            </a:avLst>
          </a:prstGeom>
          <a:solidFill>
            <a:srgbClr val="2B275B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47649" y="1756380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CarePad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4100253" y="1417461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100253" y="141746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724331" y="1348555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24331" y="13485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012055" y="3692754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012055" y="36927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760720" y="1325880"/>
            <a:ext cx="2880360" cy="32918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897880" y="1463040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897880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6263640" y="1426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panel at every bed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6263640" y="16367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wall, by the bed head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897880" y="1975104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5897880" y="1975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19385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Pear handset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6263640" y="214884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the patient's reach, at every bed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5897880" y="2487168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897880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6263640" y="24505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Pull-cord emergency button</a:t>
            </a:r>
            <a:endParaRPr lang="en-US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6263640" y="26609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toilets and shower</a:t>
            </a:r>
            <a:endParaRPr lang="en-US" sz="850" dirty="0"/>
          </a:p>
        </p:txBody>
      </p:sp>
      <p:sp>
        <p:nvSpPr>
          <p:cNvPr id="42" name="Shape 37"/>
          <p:cNvSpPr/>
          <p:nvPr/>
        </p:nvSpPr>
        <p:spPr>
          <a:xfrm>
            <a:off x="5897880" y="2999232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5897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263640" y="29626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light</a:t>
            </a:r>
            <a:endParaRPr lang="en-US" sz="1050" dirty="0"/>
          </a:p>
        </p:txBody>
      </p:sp>
      <p:sp>
        <p:nvSpPr>
          <p:cNvPr id="45" name="Text 40"/>
          <p:cNvSpPr txBox="1"/>
          <p:nvPr/>
        </p:nvSpPr>
        <p:spPr>
          <a:xfrm>
            <a:off x="6263640" y="31729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every door – visible from afar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5897880" y="3511296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589788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6263640" y="3474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/ cancel button</a:t>
            </a:r>
            <a:endParaRPr lang="en-US" sz="1050" dirty="0"/>
          </a:p>
        </p:txBody>
      </p:sp>
      <p:sp>
        <p:nvSpPr>
          <p:cNvPr id="49" name="Text 44"/>
          <p:cNvSpPr txBox="1"/>
          <p:nvPr/>
        </p:nvSpPr>
        <p:spPr>
          <a:xfrm>
            <a:off x="6263640" y="36850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door – the nurse marks arrival and closes</a:t>
            </a:r>
            <a:endParaRPr lang="en-US" sz="850" dirty="0"/>
          </a:p>
        </p:txBody>
      </p:sp>
      <p:sp>
        <p:nvSpPr>
          <p:cNvPr id="50" name="Shape 45"/>
          <p:cNvSpPr/>
          <p:nvPr/>
        </p:nvSpPr>
        <p:spPr>
          <a:xfrm>
            <a:off x="5897880" y="4023360"/>
            <a:ext cx="274320" cy="274320"/>
          </a:xfrm>
          <a:prstGeom prst="ellipse">
            <a:avLst/>
          </a:prstGeom>
          <a:solidFill>
            <a:srgbClr val="2B2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589788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6263640" y="39867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station – Consola Monitor</a:t>
            </a:r>
            <a:endParaRPr lang="en-US" sz="1050" dirty="0"/>
          </a:p>
        </p:txBody>
      </p:sp>
      <p:sp>
        <p:nvSpPr>
          <p:cNvPr id="53" name="Text 48"/>
          <p:cNvSpPr txBox="1"/>
          <p:nvPr/>
        </p:nvSpPr>
        <p:spPr>
          <a:xfrm>
            <a:off x="6263640" y="419709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8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the room: all calls, history, statistics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call, from the patient to closure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97280" y="1874520"/>
            <a:ext cx="6949440" cy="0"/>
          </a:xfrm>
          <a:prstGeom prst="line">
            <a:avLst/>
          </a:prstGeom>
          <a:noFill/>
          <a:ln w="25400">
            <a:solidFill>
              <a:srgbClr val="D9D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822960" cy="822960"/>
          </a:xfrm>
          <a:prstGeom prst="ellipse">
            <a:avLst/>
          </a:prstGeom>
          <a:solidFill>
            <a:srgbClr val="D93025"/>
          </a:solidFill>
          <a:ln/>
        </p:spPr>
      </p:sp>
      <p:pic>
        <p:nvPicPr>
          <p:cNvPr id="6" name="Image 0" descr="/home/claude/rev07/a/i_LuBellR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66055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calls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Presses the pear or pulls the cord in the toilet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468880" y="1463040"/>
            <a:ext cx="822960" cy="822960"/>
          </a:xfrm>
          <a:prstGeom prst="ellipse">
            <a:avLst/>
          </a:prstGeom>
          <a:solidFill>
            <a:srgbClr val="F39200"/>
          </a:solidFill>
          <a:ln/>
        </p:spPr>
      </p:sp>
      <p:pic>
        <p:nvPicPr>
          <p:cNvPr id="11" name="Image 1" descr="/home/claude/rev07/a/i_LuLightbulb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390" y="166055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4884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14884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signals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light above the door turns on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114800" y="1463040"/>
            <a:ext cx="822960" cy="822960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6" name="Image 2" descr="/home/claude/rev07/a/i_LuTabl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310" y="166055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9476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79476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is alerted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call appears at the nurse station with room and bed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760720" y="1463040"/>
            <a:ext cx="822960" cy="822960"/>
          </a:xfrm>
          <a:prstGeom prst="ellipse">
            <a:avLst/>
          </a:prstGeom>
          <a:solidFill>
            <a:srgbClr val="1E9E3E"/>
          </a:solidFill>
          <a:ln/>
        </p:spPr>
      </p:sp>
      <p:pic>
        <p:nvPicPr>
          <p:cNvPr id="21" name="Image 3" descr="/home/claude/rev07/a/i_LuDoorOpe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230" y="1660550"/>
            <a:ext cx="427939" cy="4279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4068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44068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in the room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544068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Presses presence by the door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7406640" y="1463040"/>
            <a:ext cx="822960" cy="822960"/>
          </a:xfrm>
          <a:prstGeom prst="ellipse">
            <a:avLst/>
          </a:prstGeom>
          <a:solidFill>
            <a:srgbClr val="5C2D82"/>
          </a:solidFill>
          <a:ln/>
        </p:spPr>
      </p:sp>
      <p:pic>
        <p:nvPicPr>
          <p:cNvPr id="26" name="Image 4" descr="/home/claude/rev07/a/i_LuCircle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4150" y="1660550"/>
            <a:ext cx="427939" cy="42793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86600" y="23774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708660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closed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7086600" y="287121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care is done – logged in the history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AND TOMORROW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nurse call – grow into a smart room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97480" cy="2606040"/>
          </a:xfrm>
          <a:prstGeom prst="roundRect">
            <a:avLst>
              <a:gd name="adj" fmla="val 4912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install now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pic>
        <p:nvPicPr>
          <p:cNvPr id="7" name="Image 0" descr="/home/claude/rev07/a/w_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93392"/>
            <a:ext cx="810707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2258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call from the bed and the corridor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31520" y="2862072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pic>
        <p:nvPicPr>
          <p:cNvPr id="10" name="Image 1" descr="/home/claude/rev07/a/w_s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80944"/>
            <a:ext cx="724205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868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in toilets and shower</a:t>
            </a:r>
            <a:endParaRPr lang="en-US" sz="950" dirty="0"/>
          </a:p>
        </p:txBody>
      </p:sp>
      <p:pic>
        <p:nvPicPr>
          <p:cNvPr id="12" name="Image 2" descr="/home/claude/rev07/a/i_LuArrowRigh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51460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86200" y="1353312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added later, on the same infrastructure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3886200" y="1664208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15" name="Image 3" descr="/home/claude/rev07/a/w_pa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1819656"/>
            <a:ext cx="619597" cy="20116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126480" y="18105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tablet at every bed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3886200" y="2267712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18" name="Image 4" descr="/home/claude/rev07/a/w_sen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9080" y="2423160"/>
            <a:ext cx="869046" cy="20116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26480" y="241401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Contactless monitoring and fall prevention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3886200" y="2871216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21" name="Image 5" descr="/home/claude/rev07/a/w_tra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3026664"/>
            <a:ext cx="885139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126480" y="3017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and equipment location</a:t>
            </a:r>
            <a:endParaRPr lang="en-US" sz="950" dirty="0"/>
          </a:p>
        </p:txBody>
      </p:sp>
      <p:sp>
        <p:nvSpPr>
          <p:cNvPr id="23" name="Shape 15"/>
          <p:cNvSpPr/>
          <p:nvPr/>
        </p:nvSpPr>
        <p:spPr>
          <a:xfrm>
            <a:off x="3886200" y="3474720"/>
            <a:ext cx="4754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EA"/>
            </a:solidFill>
            <a:prstDash val="dash"/>
          </a:ln>
        </p:spPr>
      </p:sp>
      <p:pic>
        <p:nvPicPr>
          <p:cNvPr id="24" name="Image 6" descr="/home/claude/rev07/a/w_contro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9080" y="3630168"/>
            <a:ext cx="1076249" cy="201168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126480" y="362102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and smart locks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ADVANTECNIA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choice for Yoseftal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7" name="Image 0" descr="/home/claude/rev07/a/i_LuAw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7879" y="1905975"/>
            <a:ext cx="266273" cy="26627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45,000+ beds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Nurse call proven in 400+ hospitals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48840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148840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2" name="Shape 9"/>
          <p:cNvSpPr/>
          <p:nvPr/>
        </p:nvSpPr>
        <p:spPr>
          <a:xfrm>
            <a:off x="2660904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3" name="Image 1" descr="/home/claude/rev07/a/i_LuShieldChe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799" y="1905975"/>
            <a:ext cx="266273" cy="26627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240280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standards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40280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· UL · ISO 9001 · DIN VDE 0834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794760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794760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18" name="Shape 14"/>
          <p:cNvSpPr/>
          <p:nvPr/>
        </p:nvSpPr>
        <p:spPr>
          <a:xfrm>
            <a:off x="4306824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19" name="Image 2" descr="/home/claude/rev07/a/i_LuClipboard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719" y="1905975"/>
            <a:ext cx="266273" cy="26627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86200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ready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886200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Plans, 3D model and images – every device in place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40680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440680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24" name="Shape 19"/>
          <p:cNvSpPr/>
          <p:nvPr/>
        </p:nvSpPr>
        <p:spPr>
          <a:xfrm>
            <a:off x="5952744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25" name="Image 3" descr="/home/claude/rev07/a/i_LuHandshak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5639" y="1905975"/>
            <a:ext cx="266273" cy="26627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532120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partner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532120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 in Israel – installation, training and support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7086600" y="1325880"/>
            <a:ext cx="1536192" cy="26517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086600" y="1325880"/>
            <a:ext cx="1536192" cy="54864"/>
          </a:xfrm>
          <a:prstGeom prst="rect">
            <a:avLst/>
          </a:prstGeom>
          <a:solidFill>
            <a:srgbClr val="F39200"/>
          </a:solidFill>
          <a:ln/>
        </p:spPr>
      </p:sp>
      <p:sp>
        <p:nvSpPr>
          <p:cNvPr id="30" name="Shape 24"/>
          <p:cNvSpPr/>
          <p:nvPr/>
        </p:nvSpPr>
        <p:spPr>
          <a:xfrm>
            <a:off x="7598664" y="1783080"/>
            <a:ext cx="512064" cy="512064"/>
          </a:xfrm>
          <a:prstGeom prst="ellipse">
            <a:avLst/>
          </a:prstGeom>
          <a:solidFill>
            <a:srgbClr val="2B275B"/>
          </a:solidFill>
          <a:ln/>
        </p:spPr>
      </p:sp>
      <p:pic>
        <p:nvPicPr>
          <p:cNvPr id="31" name="Image 4" descr="/home/claude/rev07/a/i_LuTrendingUp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559" y="1905975"/>
            <a:ext cx="266273" cy="26627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178040" y="2468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the future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7178040" y="2944368"/>
            <a:ext cx="1353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infrastructure grows into a full smart room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TODAY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approve and move forward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673352"/>
            <a:ext cx="6217920" cy="0"/>
          </a:xfrm>
          <a:prstGeom prst="line">
            <a:avLst/>
          </a:prstGeom>
          <a:noFill/>
          <a:ln w="25400">
            <a:solidFill>
              <a:srgbClr val="D9D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12064" cy="512064"/>
          </a:xfrm>
          <a:prstGeom prst="ellipse">
            <a:avLst/>
          </a:prstGeom>
          <a:solidFill>
            <a:srgbClr val="2B27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approval with the ward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512064" cy="512064"/>
          </a:xfrm>
          <a:prstGeom prst="ellipse">
            <a:avLst/>
          </a:prstGeom>
          <a:solidFill>
            <a:srgbClr val="2B27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site survey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17720" y="1417320"/>
            <a:ext cx="512064" cy="512064"/>
          </a:xfrm>
          <a:prstGeom prst="ellipse">
            <a:avLst/>
          </a:prstGeom>
          <a:solidFill>
            <a:srgbClr val="2B275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installation plan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1417320"/>
            <a:ext cx="512064" cy="512064"/>
          </a:xfrm>
          <a:prstGeom prst="ellipse">
            <a:avLst/>
          </a:prstGeom>
          <a:solidFill>
            <a:srgbClr val="F392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1031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5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Installation, start-up and staff training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8138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329184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40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pic>
        <p:nvPicPr>
          <p:cNvPr id="19" name="Image 0" descr="/home/claude/rev07/a/orad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3520440"/>
            <a:ext cx="365760" cy="47548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4297680" y="35204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Orad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37673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 distributor in Israel</a:t>
            </a:r>
            <a:endParaRPr lang="en-US" sz="950" dirty="0"/>
          </a:p>
        </p:txBody>
      </p:sp>
      <p:pic>
        <p:nvPicPr>
          <p:cNvPr id="22" name="Image 1" descr="/home/claude/rev07/a/advantec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611880"/>
            <a:ext cx="914400" cy="26517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315200" y="35204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2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Advantecnia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315200" y="376732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95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 BG – the manufacturer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6035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050" b="1" spc="200" kern="0" dirty="0">
                <a:solidFill>
                  <a:srgbClr val="F39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486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2500" b="1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ward before installation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846320" cy="3108960"/>
          </a:xfrm>
          <a:prstGeom prst="roundRect">
            <a:avLst>
              <a:gd name="adj" fmla="val 5882"/>
            </a:avLst>
          </a:prstGeom>
          <a:solidFill>
            <a:srgbClr val="1F243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5" name="Image 0" descr="/home/claude/rev07/a/plan2d_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08760"/>
            <a:ext cx="4572000" cy="2834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600200"/>
            <a:ext cx="822960" cy="274320"/>
          </a:xfrm>
          <a:prstGeom prst="ellipse">
            <a:avLst/>
          </a:prstGeom>
          <a:solidFill>
            <a:srgbClr val="2B275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plan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474720" y="3200400"/>
            <a:ext cx="1783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9" name="Image 1" descr="/home/claude/rev07/a/p3_non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20440" y="3246120"/>
            <a:ext cx="1691640" cy="1051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93592" y="331012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275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593592" y="33101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5669280" y="13258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5E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Yoseftal planning is online, on any device: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669280" y="1810512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14" name="Image 2" descr="/home/claude/rev07/a/i_LuFileText_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1874520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53328" y="18379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plans and wiring drawings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0" y="219456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17" name="Image 3" descr="/home/claude/rev07/a/i_LuBox_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2258568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53328" y="222199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 and interactive 3D model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669280" y="2578608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20" name="Image 4" descr="/home/claude/rev07/a/i_LuPlay_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2642616"/>
            <a:ext cx="164592" cy="16459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053328" y="260604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 walkthrough video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669280" y="296265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E9F6"/>
            </a:solidFill>
            <a:prstDash val="solid"/>
          </a:ln>
        </p:spPr>
      </p:sp>
      <p:pic>
        <p:nvPicPr>
          <p:cNvPr id="23" name="Image 5" descr="/home/claude/rev07/a/i_LuClipboardCheck_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3026664"/>
            <a:ext cx="164592" cy="16459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053328" y="299008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100" dirty="0">
                <a:solidFill>
                  <a:srgbClr val="2B27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device position approved in advance</a:t>
            </a:r>
            <a:endParaRPr lang="en-US" sz="1100" dirty="0"/>
          </a:p>
        </p:txBody>
      </p:sp>
      <p:sp>
        <p:nvSpPr>
          <p:cNvPr id="25" name="Shape 17">
            <a:hlinkClick r:id="rId7" tooltip=""/>
          </p:cNvPr>
          <p:cNvSpPr/>
          <p:nvPr/>
        </p:nvSpPr>
        <p:spPr>
          <a:xfrm>
            <a:off x="5669280" y="3429000"/>
            <a:ext cx="2971800" cy="841248"/>
          </a:xfrm>
          <a:prstGeom prst="roundRect">
            <a:avLst>
              <a:gd name="adj" fmla="val 15217"/>
            </a:avLst>
          </a:prstGeom>
          <a:solidFill>
            <a:srgbClr val="2B275B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pic>
        <p:nvPicPr>
          <p:cNvPr id="26" name="Image 6" descr="/home/claude/rev07/a/qr_en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9008" y="3520440"/>
            <a:ext cx="658368" cy="658368"/>
          </a:xfrm>
          <a:prstGeom prst="rect">
            <a:avLst/>
          </a:prstGeom>
        </p:spPr>
      </p:pic>
      <p:sp>
        <p:nvSpPr>
          <p:cNvPr id="27" name="Text 18">
            <a:hlinkClick r:id="rId10" tooltip=""/>
          </p:cNvPr>
          <p:cNvSpPr txBox="1"/>
          <p:nvPr/>
        </p:nvSpPr>
        <p:spPr>
          <a:xfrm>
            <a:off x="6537960" y="352044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altLang="en-US" sz="16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Scan to view</a:t>
            </a:r>
            <a:endParaRPr lang="en-US" sz="1600" dirty="0"/>
          </a:p>
        </p:txBody>
      </p:sp>
      <p:sp>
        <p:nvSpPr>
          <p:cNvPr id="28" name="Shape 19">
            <a:hlinkClick r:id="rId11" tooltip=""/>
          </p:cNvPr>
          <p:cNvSpPr/>
          <p:nvPr/>
        </p:nvSpPr>
        <p:spPr>
          <a:xfrm>
            <a:off x="5669280" y="4370832"/>
            <a:ext cx="2971800" cy="329184"/>
          </a:xfrm>
          <a:prstGeom prst="roundRect">
            <a:avLst>
              <a:gd name="adj" fmla="val 50000"/>
            </a:avLst>
          </a:prstGeom>
          <a:solidFill>
            <a:srgbClr val="F39200"/>
          </a:solidFill>
          <a:ln/>
          <a:effectLst>
            <a:outerShdw sx="100000" sy="100000" kx="0" ky="0" algn="bl" rotWithShape="0" blurRad="127000" dist="38100" dir="5400000">
              <a:srgbClr val="2B275B">
                <a:alpha val="12000"/>
              </a:srgbClr>
            </a:outerShdw>
          </a:effectLst>
        </p:spPr>
      </p:sp>
      <p:sp>
        <p:nvSpPr>
          <p:cNvPr id="29" name="Text 20">
            <a:hlinkClick r:id="rId12" tooltip=""/>
          </p:cNvPr>
          <p:cNvSpPr txBox="1"/>
          <p:nvPr/>
        </p:nvSpPr>
        <p:spPr>
          <a:xfrm>
            <a:off x="5669280" y="437083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alt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plan 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473659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A3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Orad · Advantecnia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Room – Yoseftal Medical Center</dc:title>
  <dc:subject>PptxGenJS Presentation</dc:subject>
  <dc:creator>PptxGenJS</dc:creator>
  <cp:lastModifiedBy>PptxGenJS</cp:lastModifiedBy>
  <cp:revision>1</cp:revision>
  <dcterms:created xsi:type="dcterms:W3CDTF">2026-10-26T10:49:41Z</dcterms:created>
  <dcterms:modified xsi:type="dcterms:W3CDTF">2026-10-26T10:49:41Z</dcterms:modified>
</cp:coreProperties>
</file>
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Advantecnia ואורד, ומה נציג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היצרן: ניסיון, נוכחות בינלאומית ותקנים.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זה חדר חכם ולמה זה חשוב לבית החולים.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המערכות שלנו – כולן על אותה תשתית.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הליבה של המערכת.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התוכנה: עמדת אחיות, מסך קיר ואפליקציה.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– מצוקה בשירותים וחיווי במסדרון.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הטאבלט ליד המיטה.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ניטור ללא מגע.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ו-AdvantTrack.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סדרות המוצרים – לשלב הבא.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הפרויקט: המחלקה הכירורגית ביוספטל.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מיקום כל התקן בתוכנית.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נתקין בכל חדר ובשירותים.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מסלול הקריאה בחמישה שלבים.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מתחילים בקריאת אחות – ומרחיבים בהמשך.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חמש סיבות לבחור ב-Advantecnia.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הצעד הבא ותודה.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התכנון המלא אונליין – תמונות, תוכניות וסרטון.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BASE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74320"/>
            <a:ext cx="329184" cy="429768"/>
          </a:xfrm>
          <a:prstGeom prst="rect">
            <a:avLst/>
          </a:prstGeom>
        </p:spPr>
      </p:pic>
      <p:pic>
        <p:nvPicPr>
          <p:cNvPr id="3" name="Image 1" descr="/home/claude/rev07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"/>
            <a:ext cx="86868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lexjusid-jpg.github.io/planos/yoseftal_rev05/he/" TargetMode="External"/><Relationship Id="rId2" Type="http://schemas.openxmlformats.org/officeDocument/2006/relationships/hyperlink" Target="https://alexjusid-jpg.github.io/planos/yoseftal_rev05/he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hyperlink" Target="https://alexjusid-jpg.github.io/planos/yoseftal_rev05/he/" TargetMode="External"/><Relationship Id="rId9" Type="http://schemas.openxmlformats.org/officeDocument/2006/relationships/hyperlink" Target="https://alexjusid-jpg.github.io/planos/yoseftal_rev05/he/" TargetMode="External"/><Relationship Id="rId10" Type="http://schemas.openxmlformats.org/officeDocument/2006/relationships/hyperlink" Target="https://alexjusid-jpg.github.io/planos/yoseftal_rev05/he/" TargetMode="External"/><Relationship Id="rId11" Type="http://schemas.openxmlformats.org/officeDocument/2006/relationships/hyperlink" Target="https://alexjusid-jpg.github.io/planos/yoseftal_rev05/he/" TargetMode="External"/><Relationship Id="rId12" Type="http://schemas.openxmlformats.org/officeDocument/2006/relationships/hyperlink" Target="https://alexjusid-jpg.github.io/planos/yoseftal_rev05/he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image" Target="../media/image-19-7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02920"/>
            <a:ext cx="502920" cy="658368"/>
          </a:xfrm>
          <a:prstGeom prst="rect">
            <a:avLst/>
          </a:prstGeom>
        </p:spPr>
      </p:pic>
      <p:pic>
        <p:nvPicPr>
          <p:cNvPr id="3" name="Image 1" descr="/home/claude/rev07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21792"/>
            <a:ext cx="146304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348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רפואי יוספטל · אילת</a:t>
            </a:r>
            <a:endParaRPr lang="he-IL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4434840" y="1737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אחות, תקשורת, ניטור רפואי ואיתור מיקום לבתי חולים</a:t>
            </a:r>
            <a:endParaRPr lang="he-IL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443484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הפתרונות של Advantecnia – ומה נתקין במחלקה הכירורגית</a:t>
            </a:r>
            <a:endParaRPr lang="he-IL" sz="1300" dirty="0"/>
          </a:p>
        </p:txBody>
      </p:sp>
      <p:pic>
        <p:nvPicPr>
          <p:cNvPr id="7" name="Image 2" descr="/home/claude/rev07/a/advantec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251960"/>
            <a:ext cx="1005840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2628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– המפיץ הרשמי בישראל</a:t>
            </a:r>
            <a:endParaRPr lang="he-IL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52628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אוקטובר 2026</a:t>
            </a:r>
            <a:endParaRPr lang="he-IL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8229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1" name="Image 3" descr="Yoseft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868680"/>
            <a:ext cx="365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אנחנו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by ACE BG: טכנולוגיה למען האדם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434072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25512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52551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מיטות עם מערכת קריאת אחות מותקנת</a:t>
            </a:r>
            <a:endParaRPr lang="he-IL" sz="900" dirty="0"/>
          </a:p>
        </p:txBody>
      </p:sp>
      <p:sp>
        <p:nvSpPr>
          <p:cNvPr id="7" name="Shape 5"/>
          <p:cNvSpPr/>
          <p:nvPr/>
        </p:nvSpPr>
        <p:spPr>
          <a:xfrm>
            <a:off x="6135624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27064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2706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חולים</a:t>
            </a:r>
            <a:endParaRPr lang="he-IL" sz="900" dirty="0"/>
          </a:p>
        </p:txBody>
      </p:sp>
      <p:sp>
        <p:nvSpPr>
          <p:cNvPr id="10" name="Shape 8"/>
          <p:cNvSpPr/>
          <p:nvPr/>
        </p:nvSpPr>
        <p:spPr>
          <a:xfrm>
            <a:off x="4837176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28616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2861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שנות ניסיון</a:t>
            </a:r>
            <a:endParaRPr lang="he-IL" sz="900" dirty="0"/>
          </a:p>
        </p:txBody>
      </p:sp>
      <p:sp>
        <p:nvSpPr>
          <p:cNvPr id="13" name="Shape 11"/>
          <p:cNvSpPr/>
          <p:nvPr/>
        </p:nvSpPr>
        <p:spPr>
          <a:xfrm>
            <a:off x="3538728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30168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בשנה</a:t>
            </a:r>
            <a:endParaRPr lang="he-IL" sz="900" dirty="0"/>
          </a:p>
        </p:txBody>
      </p:sp>
      <p:pic>
        <p:nvPicPr>
          <p:cNvPr id="16" name="Image 0" descr="/home/claude/rev07/a/i_LuCircle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252374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520440" y="24963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יצרן ומפתח של מוצרי IP לבריאות – מרכז בספרד ונציגות בארה"ב</a:t>
            </a:r>
            <a:endParaRPr lang="he-IL" sz="1100" dirty="0"/>
          </a:p>
        </p:txBody>
      </p:sp>
      <p:pic>
        <p:nvPicPr>
          <p:cNvPr id="18" name="Image 1" descr="/home/claude/rev07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20440" y="28803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 שפועלות בבתי חולים, מרפאות ודיור מוגן באירופה ובאמריקה</a:t>
            </a:r>
            <a:endParaRPr lang="he-IL" sz="1100" dirty="0"/>
          </a:p>
        </p:txBody>
      </p:sp>
      <p:pic>
        <p:nvPicPr>
          <p:cNvPr id="20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329184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520440" y="326440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– המפיץ של Advantecnia בישראל, עם תמיכה מקומית</a:t>
            </a:r>
            <a:endParaRPr lang="he-IL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1780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תקנים בינלאומיים</a:t>
            </a:r>
            <a:endParaRPr lang="he-IL" sz="1000" dirty="0"/>
          </a:p>
        </p:txBody>
      </p:sp>
      <p:pic>
        <p:nvPicPr>
          <p:cNvPr id="23" name="Image 3" descr="/home/claude/rev07/a/c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2148840" cy="5303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128016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5" name="Image 4" descr="Nur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1325880"/>
            <a:ext cx="274320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החדר החכם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Smart Room?</a:t>
            </a:r>
            <a:endParaRPr lang="he-IL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34340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"החדר החכם" הוא סביבה טיפולית מתקדמת שעושה שימוש בטכנולוגיות דיגיטליות לשיפור הטיפול בחולים ולייעול עבודת הצוות.</a:t>
            </a:r>
            <a:endParaRPr lang="he-IL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החולה נהנה משהות נוחה ומותאמת אישית, והצוות הרפואי מקבל כלים שמסייעים לו בעבודה השוטפת.</a:t>
            </a:r>
            <a:endParaRPr lang="he-IL" sz="1100" dirty="0"/>
          </a:p>
        </p:txBody>
      </p:sp>
      <p:sp>
        <p:nvSpPr>
          <p:cNvPr id="6" name="Shape 4"/>
          <p:cNvSpPr/>
          <p:nvPr/>
        </p:nvSpPr>
        <p:spPr>
          <a:xfrm>
            <a:off x="6556248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74736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8" name="Image 0" descr="/home/claude/rev07/a/i_LuHeartPul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2803916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טוב יותר</a:t>
            </a:r>
            <a:endParaRPr lang="he-IL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רציף אחר מצב החולה</a:t>
            </a:r>
            <a:endParaRPr lang="he-IL" sz="900" dirty="0"/>
          </a:p>
        </p:txBody>
      </p:sp>
      <p:sp>
        <p:nvSpPr>
          <p:cNvPr id="11" name="Shape 8"/>
          <p:cNvSpPr/>
          <p:nvPr/>
        </p:nvSpPr>
        <p:spPr>
          <a:xfrm>
            <a:off x="4361688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0176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7/a/i_Lu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180" y="2803916"/>
            <a:ext cx="171176" cy="171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8056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יעיל יותר</a:t>
            </a:r>
            <a:endParaRPr lang="he-IL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קריאה מגיעה לאדם הנכון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6556248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4736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2" descr="/home/claude/rev07/a/i_LuShiel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740" y="379146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7512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</a:t>
            </a:r>
            <a:endParaRPr lang="he-IL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התרעות בזמן אמת, ביום ובלילה</a:t>
            </a:r>
            <a:endParaRPr lang="he-IL" sz="900" dirty="0"/>
          </a:p>
        </p:txBody>
      </p:sp>
      <p:sp>
        <p:nvSpPr>
          <p:cNvPr id="21" name="Shape 16"/>
          <p:cNvSpPr/>
          <p:nvPr/>
        </p:nvSpPr>
        <p:spPr>
          <a:xfrm>
            <a:off x="4361688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80176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3" name="Image 3" descr="/home/claude/rev07/a/i_LuSparkl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180" y="3791468"/>
            <a:ext cx="171176" cy="171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48056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חוויית מטופל</a:t>
            </a:r>
            <a:endParaRPr lang="he-IL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43484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נוחות, מידע ובידור ליד המיטה</a:t>
            </a:r>
            <a:endParaRPr lang="he-IL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118872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7" name="Image 4" descr="/home/claude/rev07/a/room2_clea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1234440"/>
            <a:ext cx="356616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המערכות שלנו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המערכות – בחדר אחד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749040" y="118872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door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234440"/>
            <a:ext cx="4846320" cy="3337560"/>
          </a:xfrm>
          <a:prstGeom prst="rect">
            <a:avLst/>
          </a:prstGeom>
        </p:spPr>
      </p:pic>
      <p:pic>
        <p:nvPicPr>
          <p:cNvPr id="6" name="Image 1" descr="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32" y="1261872"/>
            <a:ext cx="884408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 ותקשורת</a:t>
            </a:r>
            <a:endParaRPr lang="he-IL" sz="950" dirty="0"/>
          </a:p>
        </p:txBody>
      </p:sp>
      <p:pic>
        <p:nvPicPr>
          <p:cNvPr id="8" name="Image 2" descr="sen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390" y="1810512"/>
            <a:ext cx="948050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292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רפואי וסביבתי ללא מגע</a:t>
            </a:r>
            <a:endParaRPr lang="he-IL" sz="950" dirty="0"/>
          </a:p>
        </p:txBody>
      </p:sp>
      <p:pic>
        <p:nvPicPr>
          <p:cNvPr id="10" name="Image 3" descr="p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516" y="2359152"/>
            <a:ext cx="675924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0292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ומסכים לחולה ולצוות</a:t>
            </a:r>
            <a:endParaRPr lang="he-IL" sz="950" dirty="0"/>
          </a:p>
        </p:txBody>
      </p:sp>
      <p:pic>
        <p:nvPicPr>
          <p:cNvPr id="12" name="Image 4" descr="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398" y="2907792"/>
            <a:ext cx="790042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0292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 מצוקה בשירותים</a:t>
            </a:r>
            <a:endParaRPr lang="he-IL" sz="950" dirty="0"/>
          </a:p>
        </p:txBody>
      </p:sp>
      <p:pic>
        <p:nvPicPr>
          <p:cNvPr id="14" name="Image 5" descr="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350" y="3456432"/>
            <a:ext cx="1174090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0292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ואוטומציה</a:t>
            </a:r>
            <a:endParaRPr lang="he-IL" sz="950" dirty="0"/>
          </a:p>
        </p:txBody>
      </p:sp>
      <p:pic>
        <p:nvPicPr>
          <p:cNvPr id="16" name="Image 6" descr="tr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834" y="4005072"/>
            <a:ext cx="96560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0292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אנשים וציוד בזמן אמת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קריאת אח/ות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roomA2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פנל עם לחצנים לקריאה לאח/ות, לרופא/ה ולאינטרקום</a:t>
            </a:r>
            <a:endParaRPr lang="he-IL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39112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11680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אגס ארגונומי עם תאורת לד – משמש גם כמנורת לילה</a:t>
            </a:r>
            <a:endParaRPr lang="he-IL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5328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0545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לחצנים גדולים עם סימונים מובלטים לליקויי ראייה</a:t>
            </a:r>
            <a:endParaRPr lang="he-IL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266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299923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 בשירותים</a:t>
            </a:r>
            <a:endParaRPr lang="he-IL" sz="1000" dirty="0"/>
          </a:p>
        </p:txBody>
      </p:sp>
      <p:pic>
        <p:nvPicPr>
          <p:cNvPr id="15" name="Image 6" descr="/home/claude/rev07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5204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40080" y="3493008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עומד בתקן הבטיחות DIN VDE 0834-1:2016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תוכנה: כל הקריאות בתמונה אחת</a:t>
            </a:r>
            <a:endParaRPr lang="he-IL" sz="2400" dirty="0"/>
          </a:p>
        </p:txBody>
      </p:sp>
      <p:pic>
        <p:nvPicPr>
          <p:cNvPr id="4" name="Image 1" descr="Consola Moni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325880"/>
            <a:ext cx="3072384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3212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תוכנת Consola Monitor</a:t>
            </a:r>
            <a:endParaRPr lang="he-IL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532120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 All-in-One, טאבלט או iPad</a:t>
            </a:r>
            <a:endParaRPr lang="he-IL" sz="850" dirty="0"/>
          </a:p>
        </p:txBody>
      </p:sp>
      <p:sp>
        <p:nvSpPr>
          <p:cNvPr id="7" name="Shape 3"/>
          <p:cNvSpPr/>
          <p:nvPr/>
        </p:nvSpPr>
        <p:spPr>
          <a:xfrm>
            <a:off x="3429000" y="1325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493008" y="1389888"/>
            <a:ext cx="1792224" cy="11064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56616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7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קיר · כירורגיה</a:t>
            </a:r>
            <a:endParaRPr lang="he-IL" sz="750" dirty="0"/>
          </a:p>
        </p:txBody>
      </p:sp>
      <p:sp>
        <p:nvSpPr>
          <p:cNvPr id="10" name="Shape 6"/>
          <p:cNvSpPr/>
          <p:nvPr/>
        </p:nvSpPr>
        <p:spPr>
          <a:xfrm>
            <a:off x="4700016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1E9E3E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700016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800" dirty="0"/>
          </a:p>
        </p:txBody>
      </p:sp>
      <p:sp>
        <p:nvSpPr>
          <p:cNvPr id="12" name="Shape 8"/>
          <p:cNvSpPr/>
          <p:nvPr/>
        </p:nvSpPr>
        <p:spPr>
          <a:xfrm>
            <a:off x="4133088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D93025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133088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</a:t>
            </a:r>
            <a:endParaRPr lang="he-IL" sz="800" dirty="0"/>
          </a:p>
        </p:txBody>
      </p:sp>
      <p:sp>
        <p:nvSpPr>
          <p:cNvPr id="14" name="Shape 10"/>
          <p:cNvSpPr/>
          <p:nvPr/>
        </p:nvSpPr>
        <p:spPr>
          <a:xfrm>
            <a:off x="3566160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566160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3</a:t>
            </a:r>
            <a:endParaRPr lang="he-IL" sz="800" dirty="0"/>
          </a:p>
        </p:txBody>
      </p:sp>
      <p:sp>
        <p:nvSpPr>
          <p:cNvPr id="16" name="Shape 12"/>
          <p:cNvSpPr/>
          <p:nvPr/>
        </p:nvSpPr>
        <p:spPr>
          <a:xfrm>
            <a:off x="4700016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700016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</a:t>
            </a:r>
            <a:endParaRPr lang="he-IL" sz="800" dirty="0"/>
          </a:p>
        </p:txBody>
      </p:sp>
      <p:sp>
        <p:nvSpPr>
          <p:cNvPr id="18" name="Shape 14"/>
          <p:cNvSpPr/>
          <p:nvPr/>
        </p:nvSpPr>
        <p:spPr>
          <a:xfrm>
            <a:off x="4133088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133088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he-IL" sz="800" dirty="0"/>
          </a:p>
        </p:txBody>
      </p:sp>
      <p:sp>
        <p:nvSpPr>
          <p:cNvPr id="20" name="Shape 16"/>
          <p:cNvSpPr/>
          <p:nvPr/>
        </p:nvSpPr>
        <p:spPr>
          <a:xfrm>
            <a:off x="3566160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3920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566160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he-IL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3429000" y="2606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קיר</a:t>
            </a:r>
            <a:endParaRPr lang="he-IL" sz="950" dirty="0"/>
          </a:p>
        </p:txBody>
      </p:sp>
      <p:sp>
        <p:nvSpPr>
          <p:cNvPr id="23" name="Shape 19"/>
          <p:cNvSpPr/>
          <p:nvPr/>
        </p:nvSpPr>
        <p:spPr>
          <a:xfrm>
            <a:off x="4343400" y="2926080"/>
            <a:ext cx="777240" cy="1417320"/>
          </a:xfrm>
          <a:prstGeom prst="roundRect">
            <a:avLst>
              <a:gd name="adj" fmla="val 14118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98264" y="2999232"/>
            <a:ext cx="667512" cy="127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434840" y="31089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01768" y="3108960"/>
            <a:ext cx="27432" cy="5669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443984" y="31272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5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Notifcare</a:t>
            </a:r>
            <a:endParaRPr lang="he-IL" sz="550" dirty="0"/>
          </a:p>
        </p:txBody>
      </p:sp>
      <p:sp>
        <p:nvSpPr>
          <p:cNvPr id="28" name="Text 24"/>
          <p:cNvSpPr txBox="1"/>
          <p:nvPr/>
        </p:nvSpPr>
        <p:spPr>
          <a:xfrm>
            <a:off x="444398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חדשה</a:t>
            </a:r>
            <a:endParaRPr lang="he-IL" sz="700" dirty="0"/>
          </a:p>
        </p:txBody>
      </p:sp>
      <p:sp>
        <p:nvSpPr>
          <p:cNvPr id="29" name="Text 25"/>
          <p:cNvSpPr txBox="1"/>
          <p:nvPr/>
        </p:nvSpPr>
        <p:spPr>
          <a:xfrm>
            <a:off x="444398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 · מיטה B</a:t>
            </a:r>
            <a:endParaRPr lang="he-IL" sz="600" dirty="0"/>
          </a:p>
        </p:txBody>
      </p:sp>
      <p:sp>
        <p:nvSpPr>
          <p:cNvPr id="30" name="Text 26"/>
          <p:cNvSpPr txBox="1"/>
          <p:nvPr/>
        </p:nvSpPr>
        <p:spPr>
          <a:xfrm>
            <a:off x="329184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לסמארטפון</a:t>
            </a:r>
            <a:endParaRPr lang="he-IL" sz="950" dirty="0"/>
          </a:p>
        </p:txBody>
      </p:sp>
      <p:sp>
        <p:nvSpPr>
          <p:cNvPr id="31" name="Shape 27"/>
          <p:cNvSpPr/>
          <p:nvPr/>
        </p:nvSpPr>
        <p:spPr>
          <a:xfrm>
            <a:off x="502920" y="132588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32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51790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21792" y="14904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תיעדוף קריאות לפי סוג ודחיפות</a:t>
            </a:r>
            <a:endParaRPr lang="he-IL" sz="1000" dirty="0"/>
          </a:p>
        </p:txBody>
      </p:sp>
      <p:pic>
        <p:nvPicPr>
          <p:cNvPr id="34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4" y="1901952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21792" y="1874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למסופים ולטלפונים ניידים</a:t>
            </a:r>
            <a:endParaRPr lang="he-IL" sz="1000" dirty="0"/>
          </a:p>
        </p:txBody>
      </p:sp>
      <p:pic>
        <p:nvPicPr>
          <p:cNvPr id="36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228600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21792" y="22585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טלפון IP או טלפון שולחני אנדרואיד</a:t>
            </a:r>
            <a:endParaRPr lang="he-IL" sz="1000" dirty="0"/>
          </a:p>
        </p:txBody>
      </p:sp>
      <p:pic>
        <p:nvPicPr>
          <p:cNvPr id="38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504" y="2670048"/>
            <a:ext cx="201168" cy="20116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21792" y="26426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היסטורי, דוחות וגרפים</a:t>
            </a:r>
            <a:endParaRPr lang="he-IL" sz="1000" dirty="0"/>
          </a:p>
        </p:txBody>
      </p:sp>
      <p:pic>
        <p:nvPicPr>
          <p:cNvPr id="40" name="Image 6" descr="mini_call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3291840"/>
            <a:ext cx="868680" cy="497434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237744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קריאות</a:t>
            </a:r>
            <a:endParaRPr lang="he-IL" sz="800" dirty="0"/>
          </a:p>
        </p:txBody>
      </p:sp>
      <p:pic>
        <p:nvPicPr>
          <p:cNvPr id="42" name="Image 7" descr="mini_sta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" y="3291840"/>
            <a:ext cx="868680" cy="49743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44018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סטטיסטיקה</a:t>
            </a:r>
            <a:endParaRPr lang="he-IL" sz="800" dirty="0"/>
          </a:p>
        </p:txBody>
      </p:sp>
      <p:pic>
        <p:nvPicPr>
          <p:cNvPr id="44" name="Image 8" descr="mini_his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3291840"/>
            <a:ext cx="868680" cy="49743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50292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היסטוריה</a:t>
            </a:r>
            <a:endParaRPr lang="he-IL" sz="800" dirty="0"/>
          </a:p>
        </p:txBody>
      </p:sp>
      <p:sp>
        <p:nvSpPr>
          <p:cNvPr id="46" name="Text 35"/>
          <p:cNvSpPr txBox="1"/>
          <p:nvPr/>
        </p:nvSpPr>
        <p:spPr>
          <a:xfrm>
            <a:off x="50292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מסכי התוכנה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854" y="329184"/>
            <a:ext cx="111922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 מצוקה ושלטי חיווי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p2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 – נגיש גם לחולה שנפל</a:t>
            </a:r>
            <a:endParaRPr lang="he-IL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574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2996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חיווי תאורה במסדרון, בכניסה לחדר – אדום, כחול או ירוק לפי סוג ההתרעה</a:t>
            </a:r>
            <a:endParaRPr lang="he-IL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56946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42032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פועל באופן מקומי, גם ללא תקשורת עם השרת המרכזי</a:t>
            </a:r>
            <a:endParaRPr lang="he-IL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815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054096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 מואר עם מספר החדר והסטטוס שלו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20" y="329184"/>
            <a:ext cx="95756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חכם לחולה ולצוות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room1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לפי קטגוריות: אח/ות, תרופה, אוכל ושתייה, שירותים, שינוי תנוחה</a:t>
            </a:r>
            <a:endParaRPr lang="he-IL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756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48256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שיחות שמע ווידאו עם הצוות ועם בני המשפחה</a:t>
            </a:r>
            <a:endParaRPr lang="he-IL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60604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7860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בידור, טלוויזיה ומידע רפואי – עם קוד גישה אישי</a:t>
            </a:r>
            <a:endParaRPr lang="he-IL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13639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10896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מחוץ לחדר: סטטוס קריאות, אינטרקום ומשימות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7/a/w_s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009" y="329184"/>
            <a:ext cx="134307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רציף – ללא מגע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7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קימה מהמיטה, נפילות ונוכחות בחדר</a:t>
            </a:r>
            <a:endParaRPr lang="he-IL" sz="1000" dirty="0"/>
          </a:p>
        </p:txBody>
      </p:sp>
      <p:pic>
        <p:nvPicPr>
          <p:cNvPr id="9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025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19751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קצב לב ונשימה ואיכות השינה – ללא חוטים</a:t>
            </a:r>
            <a:endParaRPr lang="he-IL" sz="1000" dirty="0"/>
          </a:p>
        </p:txBody>
      </p:sp>
      <p:pic>
        <p:nvPicPr>
          <p:cNvPr id="11" name="Image 4" descr="/home/claude/rev07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4597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4323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חיישן גוף רפואי – עד 9 פרמטרים קליניים</a:t>
            </a:r>
            <a:endParaRPr lang="he-IL" sz="1000" dirty="0"/>
          </a:p>
        </p:txBody>
      </p:sp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2916936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28895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חיישני סביבה: טמפרטורה, לחות, CO, CO2 ורעש</a:t>
            </a:r>
            <a:endParaRPr lang="he-IL" sz="1000" dirty="0"/>
          </a:p>
        </p:txBody>
      </p:sp>
      <p:sp>
        <p:nvSpPr>
          <p:cNvPr id="15" name="Shape 7"/>
          <p:cNvSpPr/>
          <p:nvPr/>
        </p:nvSpPr>
        <p:spPr>
          <a:xfrm>
            <a:off x="214884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2221992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2200" dirty="0"/>
          </a:p>
        </p:txBody>
      </p:sp>
      <p:sp>
        <p:nvSpPr>
          <p:cNvPr id="17" name="Text 9"/>
          <p:cNvSpPr txBox="1"/>
          <p:nvPr/>
        </p:nvSpPr>
        <p:spPr>
          <a:xfrm>
            <a:off x="2221992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נפילות</a:t>
            </a:r>
            <a:endParaRPr lang="he-IL" sz="950" dirty="0"/>
          </a:p>
        </p:txBody>
      </p:sp>
      <p:sp>
        <p:nvSpPr>
          <p:cNvPr id="18" name="Shape 10"/>
          <p:cNvSpPr/>
          <p:nvPr/>
        </p:nvSpPr>
        <p:spPr>
          <a:xfrm>
            <a:off x="68580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58952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758952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פצעי לחץ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ואיתור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ואיתור בזמן אמת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corr_c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7/a/w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589" y="1508760"/>
            <a:ext cx="1320851" cy="246888"/>
          </a:xfrm>
          <a:prstGeom prst="rect">
            <a:avLst/>
          </a:prstGeom>
        </p:spPr>
      </p:pic>
      <p:pic>
        <p:nvPicPr>
          <p:cNvPr id="8" name="Image 2" descr="/home/claude/rev07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8836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מנעול חכם: Bluetooth, כרטיס, טביעת אצבע או קוד</a:t>
            </a:r>
            <a:endParaRPr lang="he-IL" sz="1000" dirty="0"/>
          </a:p>
        </p:txBody>
      </p:sp>
      <p:pic>
        <p:nvPicPr>
          <p:cNvPr id="10" name="Image 3" descr="/home/claude/rev07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3408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0080" y="2313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מצלמות, בקרת גישה ומסופי מגע</a:t>
            </a:r>
            <a:endParaRPr lang="he-IL" sz="1000" dirty="0"/>
          </a:p>
        </p:txBody>
      </p:sp>
      <p:pic>
        <p:nvPicPr>
          <p:cNvPr id="12" name="Image 4" descr="/home/claude/rev07/a/w_tr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133" y="2880360"/>
            <a:ext cx="1086307" cy="246888"/>
          </a:xfrm>
          <a:prstGeom prst="rect">
            <a:avLst/>
          </a:prstGeom>
        </p:spPr>
      </p:pic>
      <p:pic>
        <p:nvPicPr>
          <p:cNvPr id="13" name="Image 5" descr="/home/claude/rev07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2552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2278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אנשים וציוד בזמן אמת – תג, צמיד או כרטיס</a:t>
            </a:r>
            <a:endParaRPr lang="he-IL" sz="1000" dirty="0"/>
          </a:p>
        </p:txBody>
      </p:sp>
      <p:pic>
        <p:nvPicPr>
          <p:cNvPr id="15" name="Image 6" descr="/home/claude/rev07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71246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40080" y="36850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גרסת רדיו ו-Bluetooth, עם לחצן מצוקה לצוות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הפוטנציאל המלא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סדרות המוצרים של Advantecnia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672084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79792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6" name="Image 0" descr="/home/claude/rev07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6353" y="153216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122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</a:t>
            </a:r>
            <a:endParaRPr lang="he-IL" sz="1000" dirty="0"/>
          </a:p>
        </p:txBody>
      </p:sp>
      <p:sp>
        <p:nvSpPr>
          <p:cNvPr id="8" name="Shape 5"/>
          <p:cNvSpPr/>
          <p:nvPr/>
        </p:nvSpPr>
        <p:spPr>
          <a:xfrm>
            <a:off x="4672584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31536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0" name="Image 1" descr="/home/claude/rev07/a/i_LuHeartPul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097" y="15321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64024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בזמן אמת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2624328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4" name="Image 2" descr="/home/claude/rev07/a/i_LuPho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41" y="1532169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1576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אינטרקום</a:t>
            </a:r>
            <a:endParaRPr lang="he-IL" sz="1000" dirty="0"/>
          </a:p>
        </p:txBody>
      </p:sp>
      <p:sp>
        <p:nvSpPr>
          <p:cNvPr id="16" name="Shape 11"/>
          <p:cNvSpPr/>
          <p:nvPr/>
        </p:nvSpPr>
        <p:spPr>
          <a:xfrm>
            <a:off x="576072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35024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3" descr="/home/claude/rev07/a/i_LuMega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585" y="15321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כריזה</a:t>
            </a:r>
            <a:endParaRPr lang="he-IL" sz="1000" dirty="0"/>
          </a:p>
        </p:txBody>
      </p:sp>
      <p:sp>
        <p:nvSpPr>
          <p:cNvPr id="20" name="Shape 14"/>
          <p:cNvSpPr/>
          <p:nvPr/>
        </p:nvSpPr>
        <p:spPr>
          <a:xfrm>
            <a:off x="6720840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79792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2" name="Image 4" descr="/home/claude/rev07/a/i_LuSire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353" y="26111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1228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שלטי חיווי ולחצני מצוקה</a:t>
            </a:r>
            <a:endParaRPr lang="he-IL" sz="1000" dirty="0"/>
          </a:p>
        </p:txBody>
      </p:sp>
      <p:sp>
        <p:nvSpPr>
          <p:cNvPr id="24" name="Shape 17"/>
          <p:cNvSpPr/>
          <p:nvPr/>
        </p:nvSpPr>
        <p:spPr>
          <a:xfrm>
            <a:off x="4672584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431536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6" name="Image 5" descr="/home/claude/rev07/a/i_Lu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097" y="26111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764024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 ואבטחה</a:t>
            </a:r>
            <a:endParaRPr lang="he-IL" sz="1000" dirty="0"/>
          </a:p>
        </p:txBody>
      </p:sp>
      <p:sp>
        <p:nvSpPr>
          <p:cNvPr id="28" name="Shape 20"/>
          <p:cNvSpPr/>
          <p:nvPr/>
        </p:nvSpPr>
        <p:spPr>
          <a:xfrm>
            <a:off x="2624328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383280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0" name="Image 6" descr="/home/claude/rev07/a/i_LuMapPi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841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715768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מיקום בזמן אמת</a:t>
            </a:r>
            <a:endParaRPr lang="he-IL" sz="1000" dirty="0"/>
          </a:p>
        </p:txBody>
      </p:sp>
      <p:sp>
        <p:nvSpPr>
          <p:cNvPr id="32" name="Shape 23"/>
          <p:cNvSpPr/>
          <p:nvPr/>
        </p:nvSpPr>
        <p:spPr>
          <a:xfrm>
            <a:off x="576072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335024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4" name="Image 7" descr="/home/claude/rev07/a/i_LuZa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1585" y="2611161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7512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בקרה וחיסכון אנרגטי</a:t>
            </a:r>
            <a:endParaRPr lang="he-IL" sz="1000" dirty="0"/>
          </a:p>
        </p:txBody>
      </p:sp>
      <p:sp>
        <p:nvSpPr>
          <p:cNvPr id="36" name="Shape 26"/>
          <p:cNvSpPr/>
          <p:nvPr/>
        </p:nvSpPr>
        <p:spPr>
          <a:xfrm>
            <a:off x="6720840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479792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8" name="Image 8" descr="/home/claude/rev07/a/i_LuAlarmClo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6353" y="3690153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1228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 שעונים</a:t>
            </a:r>
            <a:endParaRPr lang="he-IL" sz="1000" dirty="0"/>
          </a:p>
        </p:txBody>
      </p:sp>
      <p:sp>
        <p:nvSpPr>
          <p:cNvPr id="40" name="Shape 29"/>
          <p:cNvSpPr/>
          <p:nvPr/>
        </p:nvSpPr>
        <p:spPr>
          <a:xfrm>
            <a:off x="4672584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5431536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2" name="Image 9" descr="/home/claude/rev07/a/i_LuTv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8097" y="3690153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764024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הכוונה ובידור</a:t>
            </a:r>
            <a:endParaRPr lang="he-IL" sz="1000" dirty="0"/>
          </a:p>
        </p:txBody>
      </p:sp>
      <p:sp>
        <p:nvSpPr>
          <p:cNvPr id="44" name="Shape 32"/>
          <p:cNvSpPr/>
          <p:nvPr/>
        </p:nvSpPr>
        <p:spPr>
          <a:xfrm>
            <a:off x="2624328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3383280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6" name="Image 10" descr="/home/claude/rev07/a/i_LuUsers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9841" y="3690153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2715768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תורים</a:t>
            </a:r>
            <a:endParaRPr lang="he-IL" sz="1000" dirty="0"/>
          </a:p>
        </p:txBody>
      </p:sp>
      <p:sp>
        <p:nvSpPr>
          <p:cNvPr id="48" name="Shape 35"/>
          <p:cNvSpPr/>
          <p:nvPr/>
        </p:nvSpPr>
        <p:spPr>
          <a:xfrm>
            <a:off x="576072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1335024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50" name="Image 11" descr="/home/claude/rev07/a/i_LuMonitor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585" y="3690153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67512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שילוט דיגיטלי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924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2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25780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במרכז הרפואי יוספטל</a:t>
            </a:r>
            <a:endParaRPr lang="he-IL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5780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 כירורגית · מערכת קריאת אח/ות AdvantCare</a:t>
            </a:r>
            <a:endParaRPr lang="he-IL" sz="1150" dirty="0"/>
          </a:p>
        </p:txBody>
      </p:sp>
      <p:sp>
        <p:nvSpPr>
          <p:cNvPr id="5" name="Shape 3"/>
          <p:cNvSpPr/>
          <p:nvPr/>
        </p:nvSpPr>
        <p:spPr>
          <a:xfrm>
            <a:off x="704088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he-IL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14032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מיטות</a:t>
            </a:r>
            <a:endParaRPr lang="he-IL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6364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22392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חדרי אשפוז</a:t>
            </a:r>
            <a:endParaRPr lang="he-IL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552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מטופלים</a:t>
            </a:r>
            <a:endParaRPr lang="he-IL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63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</a:t>
            </a:r>
            <a:endParaRPr lang="he-IL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8" name="Image 0" descr="/home/claude/rev07/a/bed3_not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המחלקה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מיקום כל התקן – על תוכנית הקומה</a:t>
            </a:r>
            <a:endParaRPr lang="he-IL" sz="25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40080" y="1463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8580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לפתוח את התוכנית האינטראקטיבית ←</a:t>
            </a:r>
            <a:endParaRPr lang="he-IL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857500"/>
            <a:ext cx="5120640" cy="428625"/>
          </a:xfrm>
          <a:prstGeom prst="rect">
            <a:avLst/>
          </a:prstGeom>
          <a:solidFill>
            <a:srgbClr val="EEEDF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28775"/>
            <a:ext cx="10172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691640"/>
            <a:ext cx="1017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</a:t>
            </a:r>
            <a:endParaRPr lang="he-IL" sz="850" dirty="0"/>
          </a:p>
        </p:txBody>
      </p:sp>
      <p:sp>
        <p:nvSpPr>
          <p:cNvPr id="10" name="Shape 8"/>
          <p:cNvSpPr/>
          <p:nvPr/>
        </p:nvSpPr>
        <p:spPr>
          <a:xfrm>
            <a:off x="208026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25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026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026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25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63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02895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895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3</a:t>
            </a:r>
            <a:endParaRPr lang="he-IL" sz="850" dirty="0"/>
          </a:p>
        </p:txBody>
      </p:sp>
      <p:sp>
        <p:nvSpPr>
          <p:cNvPr id="20" name="Shape 18"/>
          <p:cNvSpPr/>
          <p:nvPr/>
        </p:nvSpPr>
        <p:spPr>
          <a:xfrm>
            <a:off x="309753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352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309753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352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09753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352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930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50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50" y="1628775"/>
            <a:ext cx="9029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7650" y="1691640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משרד</a:t>
            </a:r>
            <a:endParaRPr lang="he-IL" sz="850" dirty="0"/>
          </a:p>
        </p:txBody>
      </p:sp>
      <p:sp>
        <p:nvSpPr>
          <p:cNvPr id="30" name="Shape 28"/>
          <p:cNvSpPr/>
          <p:nvPr/>
        </p:nvSpPr>
        <p:spPr>
          <a:xfrm>
            <a:off x="4960620" y="1628775"/>
            <a:ext cx="11430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062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</a:t>
            </a:r>
            <a:endParaRPr lang="he-IL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0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10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362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3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7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11680" y="300037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מסדרון</a:t>
            </a:r>
            <a:endParaRPr lang="he-IL" sz="800" dirty="0"/>
          </a:p>
        </p:txBody>
      </p:sp>
      <p:sp>
        <p:nvSpPr>
          <p:cNvPr id="51" name="Shape 49"/>
          <p:cNvSpPr/>
          <p:nvPr/>
        </p:nvSpPr>
        <p:spPr>
          <a:xfrm>
            <a:off x="2114550" y="3160395"/>
            <a:ext cx="4800600" cy="0"/>
          </a:xfrm>
          <a:prstGeom prst="line">
            <a:avLst/>
          </a:prstGeom>
          <a:noFill/>
          <a:ln w="19050">
            <a:solidFill>
              <a:srgbClr val="1E9E3E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97655" y="3286125"/>
            <a:ext cx="942975" cy="69723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97655" y="3743325"/>
            <a:ext cx="942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</a:t>
            </a:r>
            <a:endParaRPr lang="he-IL" sz="800" dirty="0"/>
          </a:p>
        </p:txBody>
      </p:sp>
      <p:sp>
        <p:nvSpPr>
          <p:cNvPr id="54" name="Shape 52"/>
          <p:cNvSpPr/>
          <p:nvPr/>
        </p:nvSpPr>
        <p:spPr>
          <a:xfrm>
            <a:off x="4429125" y="3451860"/>
            <a:ext cx="285750" cy="19431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5C2D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3555" y="3286125"/>
            <a:ext cx="474345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83555" y="4000500"/>
            <a:ext cx="474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צוות</a:t>
            </a:r>
            <a:endParaRPr lang="he-IL" sz="700" dirty="0"/>
          </a:p>
        </p:txBody>
      </p:sp>
      <p:sp>
        <p:nvSpPr>
          <p:cNvPr id="57" name="Shape 55"/>
          <p:cNvSpPr/>
          <p:nvPr/>
        </p:nvSpPr>
        <p:spPr>
          <a:xfrm>
            <a:off x="5752148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7900" y="3286125"/>
            <a:ext cx="51435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7900" y="4000500"/>
            <a:ext cx="514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B2</a:t>
            </a:r>
            <a:endParaRPr lang="he-IL" sz="700" dirty="0"/>
          </a:p>
        </p:txBody>
      </p:sp>
      <p:sp>
        <p:nvSpPr>
          <p:cNvPr id="60" name="Shape 58"/>
          <p:cNvSpPr/>
          <p:nvPr/>
        </p:nvSpPr>
        <p:spPr>
          <a:xfrm>
            <a:off x="624649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392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41680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627392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3286125"/>
            <a:ext cx="56007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72250" y="4000500"/>
            <a:ext cx="560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B3</a:t>
            </a:r>
            <a:endParaRPr lang="he-IL" sz="700" dirty="0"/>
          </a:p>
        </p:txBody>
      </p:sp>
      <p:sp>
        <p:nvSpPr>
          <p:cNvPr id="66" name="Shape 64"/>
          <p:cNvSpPr/>
          <p:nvPr/>
        </p:nvSpPr>
        <p:spPr>
          <a:xfrm>
            <a:off x="678370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4827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693115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113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Shape 68"/>
          <p:cNvSpPr/>
          <p:nvPr/>
        </p:nvSpPr>
        <p:spPr>
          <a:xfrm>
            <a:off x="6982587" y="3399282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1" name="Shape 69"/>
          <p:cNvSpPr/>
          <p:nvPr/>
        </p:nvSpPr>
        <p:spPr>
          <a:xfrm>
            <a:off x="7031736" y="4370832"/>
            <a:ext cx="100584" cy="100584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025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+ אגס</a:t>
            </a:r>
            <a:endParaRPr lang="he-IL" sz="850" dirty="0"/>
          </a:p>
        </p:txBody>
      </p:sp>
      <p:sp>
        <p:nvSpPr>
          <p:cNvPr id="73" name="Shape 71"/>
          <p:cNvSpPr/>
          <p:nvPr/>
        </p:nvSpPr>
        <p:spPr>
          <a:xfrm>
            <a:off x="5888736" y="4370832"/>
            <a:ext cx="100584" cy="100584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82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חבל מצוקה</a:t>
            </a:r>
            <a:endParaRPr lang="he-IL" sz="850" dirty="0"/>
          </a:p>
        </p:txBody>
      </p:sp>
      <p:sp>
        <p:nvSpPr>
          <p:cNvPr id="75" name="Shape 73"/>
          <p:cNvSpPr/>
          <p:nvPr/>
        </p:nvSpPr>
        <p:spPr>
          <a:xfrm>
            <a:off x="4745736" y="4370832"/>
            <a:ext cx="100584" cy="100584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739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נוכחות / ביטול</a:t>
            </a:r>
            <a:endParaRPr lang="he-IL" sz="850" dirty="0"/>
          </a:p>
        </p:txBody>
      </p:sp>
      <p:sp>
        <p:nvSpPr>
          <p:cNvPr id="77" name="Shape 75"/>
          <p:cNvSpPr/>
          <p:nvPr/>
        </p:nvSpPr>
        <p:spPr>
          <a:xfrm>
            <a:off x="3602736" y="4370832"/>
            <a:ext cx="100584" cy="10058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596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מנורת מסדרון</a:t>
            </a:r>
            <a:endParaRPr lang="he-IL" sz="850" dirty="0"/>
          </a:p>
        </p:txBody>
      </p:sp>
      <p:sp>
        <p:nvSpPr>
          <p:cNvPr id="79" name="Shape 77"/>
          <p:cNvSpPr/>
          <p:nvPr/>
        </p:nvSpPr>
        <p:spPr>
          <a:xfrm>
            <a:off x="2459736" y="4370832"/>
            <a:ext cx="100584" cy="100584"/>
          </a:xfrm>
          <a:prstGeom prst="ellipse">
            <a:avLst/>
          </a:prstGeom>
          <a:solidFill>
            <a:srgbClr val="5C2D8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453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אחות</a:t>
            </a:r>
            <a:endParaRPr lang="he-IL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נתקין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במחלקה הכירורגית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5486400" y="1280160"/>
            <a:ext cx="3200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s14_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25880"/>
            <a:ext cx="310896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47872" y="1280160"/>
            <a:ext cx="1874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7/a/s14_w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93592" y="1325880"/>
            <a:ext cx="17830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47872" y="3200400"/>
            <a:ext cx="187452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2" descr="/home/claude/rev07/a/s14_n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93592" y="3246120"/>
            <a:ext cx="1783080" cy="1335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5321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מיטה בחדר עם וילונות</a:t>
            </a:r>
            <a:endParaRPr lang="he-IL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593592" y="2990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מטופלים</a:t>
            </a:r>
            <a:endParaRPr lang="he-IL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3593592" y="46085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מחוץ לחדר</a:t>
            </a:r>
            <a:endParaRPr lang="he-IL" sz="950" dirty="0"/>
          </a:p>
        </p:txBody>
      </p:sp>
      <p:sp>
        <p:nvSpPr>
          <p:cNvPr id="13" name="Shape 8"/>
          <p:cNvSpPr/>
          <p:nvPr/>
        </p:nvSpPr>
        <p:spPr>
          <a:xfrm>
            <a:off x="5532120" y="418795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4EA"/>
          </a:solidFill>
          <a:ln w="9525">
            <a:solidFill>
              <a:srgbClr val="F39200"/>
            </a:solidFill>
            <a:prstDash val="solid"/>
          </a:ln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623560" y="4187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אופציונלי: טאבלט CarePad ליד המיטה – למטופל (בידור, הזמנות, קריאה)</a:t>
            </a:r>
            <a:endParaRPr lang="he-IL" sz="850" dirty="0"/>
          </a:p>
        </p:txBody>
      </p:sp>
      <p:sp>
        <p:nvSpPr>
          <p:cNvPr id="15" name="Shape 10"/>
          <p:cNvSpPr/>
          <p:nvPr/>
        </p:nvSpPr>
        <p:spPr>
          <a:xfrm>
            <a:off x="5488229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8229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100" dirty="0"/>
          </a:p>
        </p:txBody>
      </p:sp>
      <p:sp>
        <p:nvSpPr>
          <p:cNvPr id="17" name="Shape 12"/>
          <p:cNvSpPr/>
          <p:nvPr/>
        </p:nvSpPr>
        <p:spPr>
          <a:xfrm>
            <a:off x="5861304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861304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100" dirty="0"/>
          </a:p>
        </p:txBody>
      </p:sp>
      <p:sp>
        <p:nvSpPr>
          <p:cNvPr id="19" name="Shape 14"/>
          <p:cNvSpPr/>
          <p:nvPr/>
        </p:nvSpPr>
        <p:spPr>
          <a:xfrm>
            <a:off x="6364956" y="203929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64956" y="2039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100" dirty="0"/>
          </a:p>
        </p:txBody>
      </p:sp>
      <p:sp>
        <p:nvSpPr>
          <p:cNvPr id="21" name="Shape 16"/>
          <p:cNvSpPr/>
          <p:nvPr/>
        </p:nvSpPr>
        <p:spPr>
          <a:xfrm>
            <a:off x="5876849" y="1756380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876849" y="175638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CarePad</a:t>
            </a:r>
            <a:endParaRPr lang="he-IL" sz="750" dirty="0"/>
          </a:p>
        </p:txBody>
      </p:sp>
      <p:sp>
        <p:nvSpPr>
          <p:cNvPr id="23" name="Shape 18"/>
          <p:cNvSpPr/>
          <p:nvPr/>
        </p:nvSpPr>
        <p:spPr>
          <a:xfrm>
            <a:off x="3926517" y="1417461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926517" y="14174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25" name="Shape 20"/>
          <p:cNvSpPr/>
          <p:nvPr/>
        </p:nvSpPr>
        <p:spPr>
          <a:xfrm>
            <a:off x="4550595" y="134855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50595" y="13485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27" name="Shape 22"/>
          <p:cNvSpPr/>
          <p:nvPr/>
        </p:nvSpPr>
        <p:spPr>
          <a:xfrm>
            <a:off x="4838319" y="369275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838319" y="36927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100" dirty="0"/>
          </a:p>
        </p:txBody>
      </p:sp>
      <p:sp>
        <p:nvSpPr>
          <p:cNvPr id="29" name="Shape 24"/>
          <p:cNvSpPr/>
          <p:nvPr/>
        </p:nvSpPr>
        <p:spPr>
          <a:xfrm>
            <a:off x="50292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971800" y="146304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2971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פנל קריאה ליד כל מיטה</a:t>
            </a:r>
            <a:endParaRPr lang="he-IL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הקיר, ליד ראש המיטה</a:t>
            </a:r>
            <a:endParaRPr lang="he-IL" sz="850" dirty="0"/>
          </a:p>
        </p:txBody>
      </p:sp>
      <p:sp>
        <p:nvSpPr>
          <p:cNvPr id="34" name="Shape 29"/>
          <p:cNvSpPr/>
          <p:nvPr/>
        </p:nvSpPr>
        <p:spPr>
          <a:xfrm>
            <a:off x="2971800" y="197510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9718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94360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אגס</a:t>
            </a:r>
            <a:endParaRPr lang="he-IL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59436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בהישג יד המטופל, בכל מיטה</a:t>
            </a:r>
            <a:endParaRPr lang="he-IL" sz="850" dirty="0"/>
          </a:p>
        </p:txBody>
      </p:sp>
      <p:sp>
        <p:nvSpPr>
          <p:cNvPr id="38" name="Shape 33"/>
          <p:cNvSpPr/>
          <p:nvPr/>
        </p:nvSpPr>
        <p:spPr>
          <a:xfrm>
            <a:off x="2971800" y="2487168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2971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94360" y="2450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</a:t>
            </a:r>
            <a:endParaRPr lang="he-IL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594360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בשירותים ובמקלחת</a:t>
            </a:r>
            <a:endParaRPr lang="he-IL" sz="850" dirty="0"/>
          </a:p>
        </p:txBody>
      </p:sp>
      <p:sp>
        <p:nvSpPr>
          <p:cNvPr id="42" name="Shape 37"/>
          <p:cNvSpPr/>
          <p:nvPr/>
        </p:nvSpPr>
        <p:spPr>
          <a:xfrm>
            <a:off x="2971800" y="2999232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29718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59436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מנורת מסדרון</a:t>
            </a:r>
            <a:endParaRPr lang="he-IL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59436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כל דלת – הצוות רואה מרחוק</a:t>
            </a:r>
            <a:endParaRPr lang="he-IL" sz="850" dirty="0"/>
          </a:p>
        </p:txBody>
      </p:sp>
      <p:sp>
        <p:nvSpPr>
          <p:cNvPr id="46" name="Shape 41"/>
          <p:cNvSpPr/>
          <p:nvPr/>
        </p:nvSpPr>
        <p:spPr>
          <a:xfrm>
            <a:off x="2971800" y="3511296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297180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59436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נוכחות / ביטול</a:t>
            </a:r>
            <a:endParaRPr lang="he-IL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59436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ליד הדלת – האחות מסמנת הגעה וסוגרת</a:t>
            </a:r>
            <a:endParaRPr lang="he-IL" sz="850" dirty="0"/>
          </a:p>
        </p:txBody>
      </p:sp>
      <p:sp>
        <p:nvSpPr>
          <p:cNvPr id="50" name="Shape 45"/>
          <p:cNvSpPr/>
          <p:nvPr/>
        </p:nvSpPr>
        <p:spPr>
          <a:xfrm>
            <a:off x="2971800" y="402336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29718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59436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Consola Monitor</a:t>
            </a:r>
            <a:endParaRPr lang="he-IL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594360" y="4197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מחוץ לחדר: כל הקריאות, היסטוריה וסטטיסטיקה</a:t>
            </a:r>
            <a:endParaRPr lang="he-IL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עובד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קריאה – מהמטופל ועד הסגירה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463040"/>
            <a:ext cx="822960" cy="822960"/>
          </a:xfrm>
          <a:prstGeom prst="ellipse">
            <a:avLst/>
          </a:prstGeom>
          <a:solidFill>
            <a:srgbClr val="D93025"/>
          </a:solidFill>
          <a:ln/>
        </p:spPr>
      </p:sp>
      <p:pic>
        <p:nvPicPr>
          <p:cNvPr id="6" name="Image 0" descr="/home/claude/rev07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590" y="1660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7804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he-IL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 קורא</a:t>
            </a:r>
            <a:endParaRPr lang="he-IL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לוחץ על האגס או מושך בידית בשירותים</a:t>
            </a:r>
            <a:endParaRPr lang="he-IL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822960" cy="822960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1" name="Image 1" descr="/home/claude/rev07/a/i_LuLight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70" y="16605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he-IL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המסדרון מאותת</a:t>
            </a:r>
            <a:endParaRPr lang="he-IL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המנורה מעל הדלת נדלקת</a:t>
            </a:r>
            <a:endParaRPr lang="he-IL" sz="950" dirty="0"/>
          </a:p>
        </p:txBody>
      </p:sp>
      <p:sp>
        <p:nvSpPr>
          <p:cNvPr id="15" name="Shape 11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6" name="Image 2" descr="/home/claude/rev07/a/i_LuTabl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16605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8620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he-IL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8862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האחות מקבלת</a:t>
            </a:r>
            <a:endParaRPr lang="he-IL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88620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הקריאה מופיעה בעמדת האחיות עם החדר והמיטה</a:t>
            </a:r>
            <a:endParaRPr lang="he-IL" sz="950" dirty="0"/>
          </a:p>
        </p:txBody>
      </p:sp>
      <p:sp>
        <p:nvSpPr>
          <p:cNvPr id="20" name="Shape 15"/>
          <p:cNvSpPr/>
          <p:nvPr/>
        </p:nvSpPr>
        <p:spPr>
          <a:xfrm>
            <a:off x="2560320" y="1463040"/>
            <a:ext cx="822960" cy="822960"/>
          </a:xfrm>
          <a:prstGeom prst="ellipse">
            <a:avLst/>
          </a:prstGeom>
          <a:solidFill>
            <a:srgbClr val="1E9E3E"/>
          </a:solidFill>
          <a:ln/>
        </p:spPr>
      </p:sp>
      <p:pic>
        <p:nvPicPr>
          <p:cNvPr id="21" name="Image 3" descr="/home/claude/rev07/a/i_LuDoorOpe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8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24028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he-IL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224028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האחות בחדר</a:t>
            </a:r>
            <a:endParaRPr lang="he-IL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224028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לוחצת נוכחות ליד הדלת</a:t>
            </a:r>
            <a:endParaRPr lang="he-IL" sz="950" dirty="0"/>
          </a:p>
        </p:txBody>
      </p:sp>
      <p:sp>
        <p:nvSpPr>
          <p:cNvPr id="25" name="Shape 19"/>
          <p:cNvSpPr/>
          <p:nvPr/>
        </p:nvSpPr>
        <p:spPr>
          <a:xfrm>
            <a:off x="914400" y="1463040"/>
            <a:ext cx="822960" cy="822960"/>
          </a:xfrm>
          <a:prstGeom prst="ellipse">
            <a:avLst/>
          </a:prstGeom>
          <a:solidFill>
            <a:srgbClr val="5C2D82"/>
          </a:solidFill>
          <a:ln/>
        </p:spPr>
      </p:sp>
      <p:pic>
        <p:nvPicPr>
          <p:cNvPr id="26" name="Image 4" descr="/home/claude/rev07/a/i_LuCircle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" y="166055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he-IL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הקריאה נסגרת</a:t>
            </a:r>
            <a:endParaRPr lang="he-IL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בסיום הטיפול – נשמרת בהיסטוריה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ומחר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בקריאת אח/ות – ממשיכים לחדר חכם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697480" cy="2606040"/>
          </a:xfrm>
          <a:prstGeom prst="roundRect">
            <a:avLst>
              <a:gd name="adj" fmla="val 4912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נתקין עכשיו</a:t>
            </a:r>
            <a:endParaRPr lang="he-IL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rev07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4613" y="1993392"/>
            <a:ext cx="810707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2258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 מהמיטה ומהמסדרון</a:t>
            </a:r>
            <a:endParaRPr lang="he-IL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286207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rev07/a/w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2980944"/>
            <a:ext cx="724205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636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מצוקה בשירותים ובמקלחת</a:t>
            </a:r>
            <a:endParaRPr lang="he-IL" sz="950" dirty="0"/>
          </a:p>
        </p:txBody>
      </p:sp>
      <p:pic>
        <p:nvPicPr>
          <p:cNvPr id="12" name="Image 2" descr="/home/claude/rev07/a/i_LuArrowLef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514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920" y="1353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להוסיף בהמשך, על אותה תשתית</a:t>
            </a:r>
            <a:endParaRPr lang="he-IL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166420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5" name="Image 3" descr="/home/claude/rev07/a/w_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23" y="1819656"/>
            <a:ext cx="619597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חכם ליד כל מיטה</a:t>
            </a:r>
            <a:endParaRPr lang="he-IL" sz="950" dirty="0"/>
          </a:p>
        </p:txBody>
      </p:sp>
      <p:sp>
        <p:nvSpPr>
          <p:cNvPr id="17" name="Shape 11"/>
          <p:cNvSpPr/>
          <p:nvPr/>
        </p:nvSpPr>
        <p:spPr>
          <a:xfrm>
            <a:off x="502920" y="226771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8" name="Image 4" descr="/home/claude/rev07/a/w_s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874" y="2423160"/>
            <a:ext cx="869046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0080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ללא מגע ומניעת נפילות</a:t>
            </a:r>
            <a:endParaRPr lang="he-IL" sz="950" dirty="0"/>
          </a:p>
        </p:txBody>
      </p:sp>
      <p:sp>
        <p:nvSpPr>
          <p:cNvPr id="20" name="Shape 13"/>
          <p:cNvSpPr/>
          <p:nvPr/>
        </p:nvSpPr>
        <p:spPr>
          <a:xfrm>
            <a:off x="502920" y="287121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1" name="Image 5" descr="/home/claude/rev07/a/w_tr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781" y="3026664"/>
            <a:ext cx="885139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400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צוות וציוד</a:t>
            </a:r>
            <a:endParaRPr lang="he-IL" sz="950" dirty="0"/>
          </a:p>
        </p:txBody>
      </p:sp>
      <p:sp>
        <p:nvSpPr>
          <p:cNvPr id="23" name="Shape 15"/>
          <p:cNvSpPr/>
          <p:nvPr/>
        </p:nvSpPr>
        <p:spPr>
          <a:xfrm>
            <a:off x="502920" y="347472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4" name="Image 6" descr="/home/claude/rev07/a/w_contr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8671" y="3630168"/>
            <a:ext cx="1076249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0080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ומנעולים חכמים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ADVANTECNIA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הבחירה הנכונה ליוספטל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10488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0488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7" name="Image 0" descr="/home/claude/rev07/a/i_Lu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9847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9632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מ-45,000 מיטות</a:t>
            </a:r>
            <a:endParaRPr lang="he-IL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9632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קריאת אחות מוכחת ביותר מ-400 בתי חולים</a:t>
            </a:r>
            <a:endParaRPr lang="he-IL" sz="900" dirty="0"/>
          </a:p>
        </p:txBody>
      </p:sp>
      <p:sp>
        <p:nvSpPr>
          <p:cNvPr id="10" name="Shape 7"/>
          <p:cNvSpPr/>
          <p:nvPr/>
        </p:nvSpPr>
        <p:spPr>
          <a:xfrm>
            <a:off x="545896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5896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Shape 9"/>
          <p:cNvSpPr/>
          <p:nvPr/>
        </p:nvSpPr>
        <p:spPr>
          <a:xfrm>
            <a:off x="597103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7/a/i_LuShiel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27" y="19059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5040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תקנים בינלאומיים</a:t>
            </a:r>
            <a:endParaRPr lang="he-IL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5040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UL · ISO 9001 · DIN VDE 0834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381304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1304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32511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9" name="Image 2" descr="/home/claude/rev07/a/i_LuClipboar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07" y="19059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0448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מוכן</a:t>
            </a:r>
            <a:endParaRPr lang="he-IL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90448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תוכניות, מודל 3D ותמונות – כל התקן במקומו</a:t>
            </a:r>
            <a:endParaRPr lang="he-IL" sz="900" dirty="0"/>
          </a:p>
        </p:txBody>
      </p:sp>
      <p:sp>
        <p:nvSpPr>
          <p:cNvPr id="22" name="Shape 17"/>
          <p:cNvSpPr/>
          <p:nvPr/>
        </p:nvSpPr>
        <p:spPr>
          <a:xfrm>
            <a:off x="216712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16712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Shape 19"/>
          <p:cNvSpPr/>
          <p:nvPr/>
        </p:nvSpPr>
        <p:spPr>
          <a:xfrm>
            <a:off x="267919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5" name="Image 3" descr="/home/claude/rev07/a/i_LuHandshak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087" y="19059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25856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שותף מקומי</a:t>
            </a:r>
            <a:endParaRPr lang="he-IL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225856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בישראל – התקנה, הדרכה ותמיכה</a:t>
            </a:r>
            <a:endParaRPr lang="he-IL" sz="900" dirty="0"/>
          </a:p>
        </p:txBody>
      </p:sp>
      <p:sp>
        <p:nvSpPr>
          <p:cNvPr id="28" name="Shape 22"/>
          <p:cNvSpPr/>
          <p:nvPr/>
        </p:nvSpPr>
        <p:spPr>
          <a:xfrm>
            <a:off x="52120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2120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327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1" name="Image 4" descr="/home/claude/rev07/a/i_LuTrending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167" y="190597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1264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מוכן לעתיד</a:t>
            </a:r>
            <a:endParaRPr lang="he-IL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1264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תשתית מתרחבת לחדר חכם מלא</a:t>
            </a:r>
            <a:endParaRPr lang="he-IL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נדרש היום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הבא: אישור והתקדמות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621792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90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290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התכנון עם המחלקה</a:t>
            </a:r>
            <a:endParaRPr lang="he-IL" sz="1250" dirty="0"/>
          </a:p>
        </p:txBody>
      </p:sp>
      <p:sp>
        <p:nvSpPr>
          <p:cNvPr id="8" name="Shape 6"/>
          <p:cNvSpPr/>
          <p:nvPr/>
        </p:nvSpPr>
        <p:spPr>
          <a:xfrm>
            <a:off x="60716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716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אתר סופי</a:t>
            </a:r>
            <a:endParaRPr lang="he-IL" sz="1250" dirty="0"/>
          </a:p>
        </p:txBody>
      </p:sp>
      <p:sp>
        <p:nvSpPr>
          <p:cNvPr id="11" name="Shape 9"/>
          <p:cNvSpPr/>
          <p:nvPr/>
        </p:nvSpPr>
        <p:spPr>
          <a:xfrm>
            <a:off x="40142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התקנה מפורטת</a:t>
            </a:r>
            <a:endParaRPr lang="he-IL" sz="1250" dirty="0"/>
          </a:p>
        </p:txBody>
      </p:sp>
      <p:sp>
        <p:nvSpPr>
          <p:cNvPr id="14" name="Shape 12"/>
          <p:cNvSpPr/>
          <p:nvPr/>
        </p:nvSpPr>
        <p:spPr>
          <a:xfrm>
            <a:off x="1956816" y="1417320"/>
            <a:ext cx="512064" cy="512064"/>
          </a:xfrm>
          <a:prstGeom prst="ellipse">
            <a:avLst/>
          </a:prstGeom>
          <a:solidFill>
            <a:srgbClr val="F392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568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התקנה, הפעלה והדרכת הצוות</a:t>
            </a:r>
            <a:endParaRPr lang="he-IL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23560" y="32918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4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רבה</a:t>
            </a:r>
            <a:endParaRPr lang="he-IL" sz="4000" dirty="0"/>
          </a:p>
        </p:txBody>
      </p:sp>
      <p:pic>
        <p:nvPicPr>
          <p:cNvPr id="19" name="Image 0" descr="/home/claude/rev07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520440"/>
            <a:ext cx="365760" cy="4754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01752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</a:t>
            </a:r>
            <a:endParaRPr lang="he-IL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המפיץ של Advantecnia בישראל</a:t>
            </a:r>
            <a:endParaRPr lang="he-IL" sz="950" dirty="0"/>
          </a:p>
        </p:txBody>
      </p:sp>
      <p:pic>
        <p:nvPicPr>
          <p:cNvPr id="22" name="Image 1" descr="/home/claude/rev07/a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611880"/>
            <a:ext cx="914400" cy="26517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94360" y="3520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</a:t>
            </a:r>
            <a:endParaRPr lang="he-IL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– היצרן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 את המחלקה לפני ההתקנה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794760" y="1371600"/>
            <a:ext cx="4846320" cy="3108960"/>
          </a:xfrm>
          <a:prstGeom prst="roundRect">
            <a:avLst>
              <a:gd name="adj" fmla="val 5882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7/a/plan2d_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0" y="1508760"/>
            <a:ext cx="45720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822960" cy="274320"/>
          </a:xfrm>
          <a:prstGeom prst="ellipse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2D</a:t>
            </a:r>
            <a:endParaRPr lang="he-IL" sz="950" dirty="0"/>
          </a:p>
        </p:txBody>
      </p:sp>
      <p:sp>
        <p:nvSpPr>
          <p:cNvPr id="8" name="Shape 5"/>
          <p:cNvSpPr/>
          <p:nvPr/>
        </p:nvSpPr>
        <p:spPr>
          <a:xfrm>
            <a:off x="3886200" y="32004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1" descr="/home/claude/rev07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0" y="3246120"/>
            <a:ext cx="169164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81728" y="33101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681728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endParaRPr lang="he-IL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התכנון של יוספטל זמין אונליין, מכל מכשיר:</a:t>
            </a:r>
            <a:endParaRPr lang="he-IL" sz="1100" dirty="0"/>
          </a:p>
        </p:txBody>
      </p:sp>
      <p:sp>
        <p:nvSpPr>
          <p:cNvPr id="13" name="Shape 9"/>
          <p:cNvSpPr/>
          <p:nvPr/>
        </p:nvSpPr>
        <p:spPr>
          <a:xfrm>
            <a:off x="3182112" y="18105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4" name="Image 2" descr="/home/claude/rev07/a/i_LuFileTex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74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463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 2D ושרטוטי חיווט</a:t>
            </a:r>
            <a:endParaRPr lang="he-IL" sz="1100" dirty="0"/>
          </a:p>
        </p:txBody>
      </p:sp>
      <p:sp>
        <p:nvSpPr>
          <p:cNvPr id="16" name="Shape 11"/>
          <p:cNvSpPr/>
          <p:nvPr/>
        </p:nvSpPr>
        <p:spPr>
          <a:xfrm>
            <a:off x="3182112" y="21945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7" name="Image 3" descr="/home/claude/rev07/a/i_LuBox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25856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" y="2221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ומודל תלת-ממד אינטראקטיבי</a:t>
            </a:r>
            <a:endParaRPr lang="he-IL" sz="1100" dirty="0"/>
          </a:p>
        </p:txBody>
      </p:sp>
      <p:sp>
        <p:nvSpPr>
          <p:cNvPr id="19" name="Shape 13"/>
          <p:cNvSpPr/>
          <p:nvPr/>
        </p:nvSpPr>
        <p:spPr>
          <a:xfrm>
            <a:off x="3182112" y="25786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0" name="Image 4" descr="/home/claude/rev07/a/i_LuPlay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64261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84632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סרטון סיור במחלקה</a:t>
            </a:r>
            <a:endParaRPr lang="he-IL" sz="1100" dirty="0"/>
          </a:p>
        </p:txBody>
      </p:sp>
      <p:sp>
        <p:nvSpPr>
          <p:cNvPr id="22" name="Shape 15"/>
          <p:cNvSpPr/>
          <p:nvPr/>
        </p:nvSpPr>
        <p:spPr>
          <a:xfrm>
            <a:off x="3182112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3" name="Image 5" descr="/home/claude/rev07/a/i_LuClipboard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02666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84632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מראש של מיקום כל התקן</a:t>
            </a:r>
            <a:endParaRPr lang="he-IL" sz="1100" dirty="0"/>
          </a:p>
        </p:txBody>
      </p:sp>
      <p:sp>
        <p:nvSpPr>
          <p:cNvPr id="25" name="Shape 17">
            <a:hlinkClick r:id="rId7" tooltip=""/>
          </p:cNvPr>
          <p:cNvSpPr/>
          <p:nvPr/>
        </p:nvSpPr>
        <p:spPr>
          <a:xfrm>
            <a:off x="502920" y="3429000"/>
            <a:ext cx="2971800" cy="841248"/>
          </a:xfrm>
          <a:prstGeom prst="roundRect">
            <a:avLst>
              <a:gd name="adj" fmla="val 1521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6" name="Image 6" descr="/home/claude/rev07/a/qr_he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624" y="3520440"/>
            <a:ext cx="658368" cy="658368"/>
          </a:xfrm>
          <a:prstGeom prst="rect">
            <a:avLst/>
          </a:prstGeom>
        </p:spPr>
      </p:pic>
      <p:sp>
        <p:nvSpPr>
          <p:cNvPr id="27" name="Text 18">
            <a:hlinkClick r:id="rId10" tooltip=""/>
          </p:cNvPr>
          <p:cNvSpPr txBox="1"/>
          <p:nvPr/>
        </p:nvSpPr>
        <p:spPr>
          <a:xfrm>
            <a:off x="594360" y="3520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סרקו לצפייה</a:t>
            </a:r>
            <a:endParaRPr lang="he-IL" sz="1600" dirty="0"/>
          </a:p>
        </p:txBody>
      </p:sp>
      <p:sp>
        <p:nvSpPr>
          <p:cNvPr id="28" name="Shape 19">
            <a:hlinkClick r:id="rId11" tooltip=""/>
          </p:cNvPr>
          <p:cNvSpPr/>
          <p:nvPr/>
        </p:nvSpPr>
        <p:spPr>
          <a:xfrm>
            <a:off x="502920" y="437083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Text 20">
            <a:hlinkClick r:id="rId12" tooltip=""/>
          </p:cNvPr>
          <p:cNvSpPr txBox="1"/>
          <p:nvPr/>
        </p:nvSpPr>
        <p:spPr>
          <a:xfrm>
            <a:off x="50292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לפתוח את התוכנית ←</a:t>
            </a:r>
            <a:endParaRPr lang="he-I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Orad · Advantecnia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מרכז רפואי יוספטל</dc:title>
  <dc:subject>PptxGenJS Presentation</dc:subject>
  <dc:creator>PptxGenJS</dc:creator>
  <cp:lastModifiedBy>PptxGenJS</cp:lastModifiedBy>
  <cp:revision>1</cp:revision>
  <dcterms:created xsi:type="dcterms:W3CDTF">2026-10-26T10:45:54Z</dcterms:created>
  <dcterms:modified xsi:type="dcterms:W3CDTF">2026-10-26T10:45:54Z</dcterms:modified>
</cp:coreProperties>
</file>
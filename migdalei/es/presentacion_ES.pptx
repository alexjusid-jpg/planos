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yecto" id="{bddb4885-2b51-7268-6032-8dcc6fd060fa}">
          <p14:sldIdLst>
            <p14:sldId id="256"/>
            <p14:sldId id="257"/>
          </p14:sldIdLst>
        </p14:section>
        <p14:section name="Planos 2D" id="{a3fa0ad8-6924-7725-9134-8c4cdd5960cf}">
          <p14:sldIdLst>
            <p14:sldId id="258"/>
            <p14:sldId id="259"/>
          </p14:sldIdLst>
        </p14:section>
        <p14:section name="Departamentos" id="{3bd2c215-90f4-af3f-cae2-13b03674cb32}">
          <p14:sldIdLst>
            <p14:sldId id="260"/>
            <p14:sldId id="261"/>
          </p14:sldIdLst>
        </p14:section>
        <p14:section name="Planta baja" id="{5fb501cb-483d-d9bc-37fd-699ac5b37a28}">
          <p14:sldIdLst>
            <p14:sldId id="262"/>
          </p14:sldIdLst>
        </p14:section>
        <p14:section name="Sistema" id="{a826f73a-bf30-91b5-f267-5ca9b0465795}">
          <p14:sldIdLst>
            <p14:sldId id="263"/>
            <p14:sldId id="264"/>
            <p14:sldId id="265"/>
          </p14:sldIdLst>
        </p14:section>
        <p14:section name="Entregables" id="{4f52eee0-40d6-5500-8ebe-d9b1b3c30f41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51206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49377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Migdalei Yam a Tijon  |  ACE BG · Advantecnia  |  Telab International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Migdalei Yam a Tijon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Vivienda tutelada · Planta baja + 8 pisos · 32 departamentos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Llamada de enfermería ACE BG · Advantecnia sobre el plano real del edificio</a:t>
            </a:r>
            <a:endParaRPr lang="en-US" sz="1600" dirty="0"/>
          </a:p>
        </p:txBody>
      </p:sp>
      <p:pic>
        <p:nvPicPr>
          <p:cNvPr id="4" name="render portada" descr="/home/claude/mig2/dist/ES/renders/m3d_01_pis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1188720"/>
            <a:ext cx="6217920" cy="3566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Telab International · Octubre 2026 · Rev. 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El proyecto en cifras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8 pisos iguales: 2 departamentos de 1 habitación y 2 de 2 habitaciones por piso</a:t>
            </a:r>
            <a:endParaRPr lang="en-US" sz="1500" dirty="0"/>
          </a:p>
        </p:txBody>
      </p:sp>
      <p:sp>
        <p:nvSpPr>
          <p:cNvPr id="4" name="cifra 0"/>
          <p:cNvSpPr/>
          <p:nvPr/>
        </p:nvSpPr>
        <p:spPr>
          <a:xfrm>
            <a:off x="548640" y="1600200"/>
            <a:ext cx="242316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32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974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departamentos (4 por piso)</a:t>
            </a:r>
            <a:endParaRPr lang="en-US" sz="1400" dirty="0"/>
          </a:p>
        </p:txBody>
      </p:sp>
      <p:sp>
        <p:nvSpPr>
          <p:cNvPr id="7" name="cifra 1"/>
          <p:cNvSpPr/>
          <p:nvPr/>
        </p:nvSpPr>
        <p:spPr>
          <a:xfrm>
            <a:off x="3154680" y="1600200"/>
            <a:ext cx="242316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7373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80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6974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paneles con voz y botones</a:t>
            </a:r>
            <a:endParaRPr lang="en-US" sz="1400" dirty="0"/>
          </a:p>
        </p:txBody>
      </p:sp>
      <p:sp>
        <p:nvSpPr>
          <p:cNvPr id="10" name="cifra 2"/>
          <p:cNvSpPr/>
          <p:nvPr/>
        </p:nvSpPr>
        <p:spPr>
          <a:xfrm>
            <a:off x="548640" y="3840480"/>
            <a:ext cx="242316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9776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138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9377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tiradores de baño</a:t>
            </a:r>
            <a:endParaRPr lang="en-US" sz="1400" dirty="0"/>
          </a:p>
        </p:txBody>
      </p:sp>
      <p:sp>
        <p:nvSpPr>
          <p:cNvPr id="13" name="cifra 3"/>
          <p:cNvSpPr/>
          <p:nvPr/>
        </p:nvSpPr>
        <p:spPr>
          <a:xfrm>
            <a:off x="3154680" y="3840480"/>
            <a:ext cx="242316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83280" y="39776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10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49377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baños públicos con tirador y luz de pasillo</a:t>
            </a:r>
            <a:endParaRPr lang="en-US" sz="1400" dirty="0"/>
          </a:p>
        </p:txBody>
      </p:sp>
      <p:pic>
        <p:nvPicPr>
          <p:cNvPr id="16" name="planta miniatura" descr="/home/claude/mig2/dist/ES/renders/plan_equipamient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06440" y="1508760"/>
            <a:ext cx="6035040" cy="4800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Piso tipo P1–P8 – llamada de enfermería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Sobre el plano de arquitectura L5: tablet en la puerta, panel con voz en salón y dormitorios, tiradores en todos los baños</a:t>
            </a:r>
            <a:endParaRPr lang="en-US" sz="1500" dirty="0"/>
          </a:p>
        </p:txBody>
      </p:sp>
      <p:pic>
        <p:nvPicPr>
          <p:cNvPr id="4" name="planta equipamiento" descr="/home/claude/mig2/dist/ES/renders/plan_equipamient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417320"/>
            <a:ext cx="11430000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Piso tipo – cableado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743200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Verde · Cat6 radial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0" y="960120"/>
            <a:ext cx="3291840" cy="384048"/>
          </a:xfrm>
          <a:prstGeom prst="roundRect">
            <a:avLst>
              <a:gd name="adj" fmla="val 1904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474720" y="9601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Naranja · cadena LCom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949440" y="960120"/>
            <a:ext cx="3474720" cy="384048"/>
          </a:xfrm>
          <a:prstGeom prst="roundRect">
            <a:avLst>
              <a:gd name="adj" fmla="val 1904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49440" y="9601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Rojo · red y montante</a:t>
            </a:r>
            <a:endParaRPr lang="en-US" sz="1300" dirty="0"/>
          </a:p>
        </p:txBody>
      </p:sp>
      <p:pic>
        <p:nvPicPr>
          <p:cNvPr id="9" name="planta cableado" descr="/home/claude/mig2/dist/ES/renders/plan_cablead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463040"/>
            <a:ext cx="11430000" cy="4846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En la puerta y en el salón</a:t>
            </a:r>
            <a:endParaRPr lang="en-US" sz="3000" dirty="0"/>
          </a:p>
        </p:txBody>
      </p:sp>
      <p:pic>
        <p:nvPicPr>
          <p:cNvPr id="3" name="render tablet" descr="/home/claude/mig2/dist/ES/renders/m3d_04_tabl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88720"/>
            <a:ext cx="5486400" cy="2697480"/>
          </a:xfrm>
          <a:prstGeom prst="rect">
            <a:avLst/>
          </a:prstGeom>
        </p:spPr>
      </p:pic>
      <p:pic>
        <p:nvPicPr>
          <p:cNvPr id="4" name="render salón" descr="/home/claude/mig2/dist/ES/renders/m3d_03_sal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3977640"/>
            <a:ext cx="5486400" cy="2377440"/>
          </a:xfrm>
          <a:prstGeom prst="rect">
            <a:avLst/>
          </a:prstGeom>
        </p:spPr>
      </p:pic>
      <p:sp>
        <p:nvSpPr>
          <p:cNvPr id="5" name="puntos"/>
          <p:cNvSpPr txBox="1"/>
          <p:nvPr/>
        </p:nvSpPr>
        <p:spPr>
          <a:xfrm>
            <a:off x="6309360" y="1234440"/>
            <a:ext cx="53949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Tablet en la puerta de cada departamento (iPad / Android, 1,40 m): llamar y hablar con enfermería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Panel de llamada con voz y botones ACE82182451 en el salón (1,30 m)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LCom ACE71610003 en el cielorraso del hall: concentra todo el departamento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Departamentos x01 y x02: 1 habitación, salón con cocina y 2 baños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Departamentos x03 y x04: 2 habitaciones y 2 baños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Dormitorios y baños</a:t>
            </a:r>
            <a:endParaRPr lang="en-US" sz="3000" dirty="0"/>
          </a:p>
        </p:txBody>
      </p:sp>
      <p:pic>
        <p:nvPicPr>
          <p:cNvPr id="3" name="render dormitorio" descr="/home/claude/mig2/dist/ES/renders/m3d_05_dormitori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88720"/>
            <a:ext cx="5486400" cy="4114800"/>
          </a:xfrm>
          <a:prstGeom prst="rect">
            <a:avLst/>
          </a:prstGeom>
        </p:spPr>
      </p:pic>
      <p:pic>
        <p:nvPicPr>
          <p:cNvPr id="4" name="render baño" descr="/home/claude/mig2/dist/ES/renders/m3d_06_ban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1188720"/>
            <a:ext cx="5486400" cy="41148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4406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Panel con voz y botones en cada dormitorio, con pera de llamada junto a la cama.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6172200" y="54406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Tiradores ACE40320303W en el inodoro y en la ducha de todos los baños, a 1,85 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Planta baja: recepción con desk de enfermería</a:t>
            </a:r>
            <a:endParaRPr lang="en-US" sz="3000" dirty="0"/>
          </a:p>
        </p:txBody>
      </p:sp>
      <p:pic>
        <p:nvPicPr>
          <p:cNvPr id="3" name="render PB" descr="/home/claude/mig2/dist/ES/renders/m3d_09_p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88720"/>
            <a:ext cx="5852160" cy="4206240"/>
          </a:xfrm>
          <a:prstGeom prst="rect">
            <a:avLst/>
          </a:prstGeom>
        </p:spPr>
      </p:pic>
      <p:pic>
        <p:nvPicPr>
          <p:cNvPr id="4" name="render desk" descr="/home/claude/mig2/dist/ES/renders/m3d_07_desk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37960" y="1188720"/>
            <a:ext cx="5120640" cy="42062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5321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Desk de enfermería en la recepción con teléfono de escritorio Android ACE52190200. Detrás, la oficina con el servidor ACE51010103. 2 baños públicos con tirador y luz de pasillo. Distribución propuesta: se ajusta con el plano de PB del arquitecto.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Topología: del departamento al desk de enfermería</a:t>
            </a:r>
            <a:endParaRPr lang="en-US" sz="3000" dirty="0"/>
          </a:p>
        </p:txBody>
      </p:sp>
      <p:pic>
        <p:nvPicPr>
          <p:cNvPr id="3" name="topologia" descr="/home/claude/mig2/dist/ES/renders/topologi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97280"/>
            <a:ext cx="11430000" cy="4023360"/>
          </a:xfrm>
          <a:prstGeom prst="rect">
            <a:avLst/>
          </a:prstGeom>
        </p:spPr>
      </p:pic>
      <p:sp>
        <p:nvSpPr>
          <p:cNvPr id="4" name="paso 1"/>
          <p:cNvSpPr/>
          <p:nvPr/>
        </p:nvSpPr>
        <p:spPr>
          <a:xfrm>
            <a:off x="548640" y="53492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005840" y="52578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El residente llama desde la tablet, el panel o el tirador</a:t>
            </a:r>
            <a:endParaRPr lang="en-US" sz="1100" dirty="0"/>
          </a:p>
        </p:txBody>
      </p:sp>
      <p:sp>
        <p:nvSpPr>
          <p:cNvPr id="7" name="paso 2"/>
          <p:cNvSpPr/>
          <p:nvPr/>
        </p:nvSpPr>
        <p:spPr>
          <a:xfrm>
            <a:off x="2423160" y="53492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42316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880360" y="52578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Cat6 radial hasta el LCom del departamento</a:t>
            </a:r>
            <a:endParaRPr lang="en-US" sz="1100" dirty="0"/>
          </a:p>
        </p:txBody>
      </p:sp>
      <p:sp>
        <p:nvSpPr>
          <p:cNvPr id="10" name="paso 3"/>
          <p:cNvSpPr/>
          <p:nvPr/>
        </p:nvSpPr>
        <p:spPr>
          <a:xfrm>
            <a:off x="4297680" y="53492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29768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754880" y="52578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LCom → LCom → Buscomm del gabinete del piso</a:t>
            </a:r>
            <a:endParaRPr lang="en-US" sz="1100" dirty="0"/>
          </a:p>
        </p:txBody>
      </p:sp>
      <p:sp>
        <p:nvSpPr>
          <p:cNvPr id="13" name="paso 4"/>
          <p:cNvSpPr/>
          <p:nvPr/>
        </p:nvSpPr>
        <p:spPr>
          <a:xfrm>
            <a:off x="6172200" y="53492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7220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629400" y="52578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Buscomm → switch PoE del piso</a:t>
            </a:r>
            <a:endParaRPr lang="en-US" sz="1100" dirty="0"/>
          </a:p>
        </p:txBody>
      </p:sp>
      <p:sp>
        <p:nvSpPr>
          <p:cNvPr id="16" name="paso 5"/>
          <p:cNvSpPr/>
          <p:nvPr/>
        </p:nvSpPr>
        <p:spPr>
          <a:xfrm>
            <a:off x="8046720" y="53492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4672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503920" y="52578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Switches por el montante → servidor PB</a:t>
            </a:r>
            <a:endParaRPr lang="en-US" sz="1100" dirty="0"/>
          </a:p>
        </p:txBody>
      </p:sp>
      <p:sp>
        <p:nvSpPr>
          <p:cNvPr id="19" name="paso 6"/>
          <p:cNvSpPr/>
          <p:nvPr/>
        </p:nvSpPr>
        <p:spPr>
          <a:xfrm>
            <a:off x="9921240" y="53492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92124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0378440" y="52578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Llamada de voz en el teléfono Android del desk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Cableado en 3D y edificio</a:t>
            </a:r>
            <a:endParaRPr lang="en-US" sz="3000" dirty="0"/>
          </a:p>
        </p:txBody>
      </p:sp>
      <p:pic>
        <p:nvPicPr>
          <p:cNvPr id="3" name="render cableado" descr="/home/claude/mig2/dist/ES/renders/m3d_02_piso_cablead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97280"/>
            <a:ext cx="7315200" cy="3291840"/>
          </a:xfrm>
          <a:prstGeom prst="rect">
            <a:avLst/>
          </a:prstGeom>
        </p:spPr>
      </p:pic>
      <p:pic>
        <p:nvPicPr>
          <p:cNvPr id="4" name="render edificio" descr="/home/claude/mig2/dist/ES/renders/m3d_08_edifici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63840" y="1097280"/>
            <a:ext cx="3931920" cy="5212080"/>
          </a:xfrm>
          <a:prstGeom prst="rect">
            <a:avLst/>
          </a:prstGeom>
        </p:spPr>
      </p:pic>
      <p:sp>
        <p:nvSpPr>
          <p:cNvPr id="5" name="color 0"/>
          <p:cNvSpPr/>
          <p:nvPr/>
        </p:nvSpPr>
        <p:spPr>
          <a:xfrm>
            <a:off x="548640" y="4709160"/>
            <a:ext cx="502920" cy="10972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48640" y="4892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Cat6 radial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303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Cada equipo del departamento a su LCom</a:t>
            </a:r>
            <a:endParaRPr lang="en-US" sz="1200" dirty="0"/>
          </a:p>
        </p:txBody>
      </p:sp>
      <p:sp>
        <p:nvSpPr>
          <p:cNvPr id="8" name="color 1"/>
          <p:cNvSpPr/>
          <p:nvPr/>
        </p:nvSpPr>
        <p:spPr>
          <a:xfrm>
            <a:off x="3017520" y="4709160"/>
            <a:ext cx="502920" cy="10972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017520" y="4892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Cat6 / Cat7 en cadena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3017520" y="5303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x01 → x04 → baño público · x02 → x03</a:t>
            </a:r>
            <a:endParaRPr lang="en-US" sz="1200" dirty="0"/>
          </a:p>
        </p:txBody>
      </p:sp>
      <p:sp>
        <p:nvSpPr>
          <p:cNvPr id="11" name="color 2"/>
          <p:cNvSpPr/>
          <p:nvPr/>
        </p:nvSpPr>
        <p:spPr>
          <a:xfrm>
            <a:off x="5486400" y="4709160"/>
            <a:ext cx="502920" cy="10972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486400" y="4892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Cat6A / Cat7 red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0" y="5303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Buscomm → switch → montante → servidor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Lista de materiales – edificio completo</a:t>
            </a:r>
            <a:endParaRPr lang="en-US" sz="3000" dirty="0"/>
          </a:p>
        </p:txBody>
      </p:sp>
      <p:graphicFrame>
        <p:nvGraphicFramePr>
          <p:cNvPr id="11" name="tabla equip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603504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Equipo Advantecnia / ACE BG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Cant.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Tablet de la puerta (iPad / Android)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32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Panel con voz y botones · ACE82182451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80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Tirador de baño · ACE40320303W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138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Luz de pasillo · ACE41020309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LCom · ACE71610003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41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Buscomm · ACE70810000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17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Switch PoE · ACEUCM6302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Servidor ACE51010103 · Teléfono Android ACE52190200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1 · 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1" name="tabla cabl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234440"/>
          <a:ext cx="484632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Cable (8 pisos + PB + 15 %)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Metros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9E4B"/>
                          </a:solidFill>
                        </a:rPr>
                        <a:t>Cat6 radial (verde)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1880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07A12"/>
                          </a:solidFill>
                        </a:rPr>
                        <a:t>Cat6 / Cat7 cadena LCom (naranja)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780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62839"/>
                          </a:solidFill>
                        </a:rPr>
                        <a:t>Cat6A / Cat7 red + montante (rojo)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100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766560" y="30175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Cantidades de anteproyecto: validar con Advantecnia y en obra.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Entregables del proyecto</a:t>
            </a:r>
            <a:endParaRPr lang="en-US" sz="3000" dirty="0"/>
          </a:p>
        </p:txBody>
      </p:sp>
      <p:sp>
        <p:nvSpPr>
          <p:cNvPr id="3" name="entregable PDF"/>
          <p:cNvSpPr/>
          <p:nvPr/>
        </p:nvSpPr>
        <p:spPr>
          <a:xfrm>
            <a:off x="548640" y="1371600"/>
            <a:ext cx="539496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PDF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5544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9 láminas A1: piso tipo, cableado, departamentos, planta baja, esquema vertical, materiales y 3D</a:t>
            </a:r>
            <a:endParaRPr lang="en-US" sz="1400" dirty="0"/>
          </a:p>
        </p:txBody>
      </p:sp>
      <p:sp>
        <p:nvSpPr>
          <p:cNvPr id="6" name="entregable DXF"/>
          <p:cNvSpPr/>
          <p:nvPr/>
        </p:nvSpPr>
        <p:spPr>
          <a:xfrm>
            <a:off x="6172200" y="1371600"/>
            <a:ext cx="539496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5544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DXF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543800" y="15544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Plano CAD del piso tipo y PB con capas por sistema; en AutoCAD se guarda como DWG</a:t>
            </a:r>
            <a:endParaRPr lang="en-US" sz="1400" dirty="0"/>
          </a:p>
        </p:txBody>
      </p:sp>
      <p:sp>
        <p:nvSpPr>
          <p:cNvPr id="9" name="entregable IFC"/>
          <p:cNvSpPr/>
          <p:nvPr/>
        </p:nvSpPr>
        <p:spPr>
          <a:xfrm>
            <a:off x="548640" y="2880360"/>
            <a:ext cx="539496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0632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IFC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30632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Modelo BIM del edificio (PB + 8 pisos) para Revit</a:t>
            </a:r>
            <a:endParaRPr lang="en-US" sz="1400" dirty="0"/>
          </a:p>
        </p:txBody>
      </p:sp>
      <p:sp>
        <p:nvSpPr>
          <p:cNvPr id="12" name="entregable 3D"/>
          <p:cNvSpPr/>
          <p:nvPr/>
        </p:nvSpPr>
        <p:spPr>
          <a:xfrm>
            <a:off x="6172200" y="2880360"/>
            <a:ext cx="539496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30632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3D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7543800" y="30632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Visor web: equipamiento / cableado, Caminar, Ir a… y botón Documentos para ver y bajar todo</a:t>
            </a:r>
            <a:endParaRPr lang="en-US" sz="1400" dirty="0"/>
          </a:p>
        </p:txBody>
      </p:sp>
      <p:sp>
        <p:nvSpPr>
          <p:cNvPr id="15" name="entregable MP4"/>
          <p:cNvSpPr/>
          <p:nvPr/>
        </p:nvSpPr>
        <p:spPr>
          <a:xfrm>
            <a:off x="548640" y="4389120"/>
            <a:ext cx="539496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5720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MP4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4572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Video del recorrido con leyendas</a:t>
            </a:r>
            <a:endParaRPr lang="en-US" sz="1400" dirty="0"/>
          </a:p>
        </p:txBody>
      </p:sp>
      <p:sp>
        <p:nvSpPr>
          <p:cNvPr id="18" name="entregable PPT"/>
          <p:cNvSpPr/>
          <p:nvPr/>
        </p:nvSpPr>
        <p:spPr>
          <a:xfrm>
            <a:off x="6172200" y="4389120"/>
            <a:ext cx="539496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0" y="45720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PPT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7543800" y="4572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Esta presentación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gdalei Yam a Tijon">
  <a:themeElements>
    <a:clrScheme name="Migdalei Yam a Tijon">
      <a:dk1>
        <a:srgbClr val="1F2630"/>
      </a:dk1>
      <a:lt1>
        <a:srgbClr val="FFFFFF"/>
      </a:lt1>
      <a:dk2>
        <a:srgbClr val="4A515B"/>
      </a:dk2>
      <a:lt2>
        <a:srgbClr val="F3F5F7"/>
      </a:lt2>
      <a:accent1>
        <a:srgbClr val="D9620B"/>
      </a:accent1>
      <a:accent2>
        <a:srgbClr val="1A9E4B"/>
      </a:accent2>
      <a:accent3>
        <a:srgbClr val="E07A12"/>
      </a:accent3>
      <a:accent4>
        <a:srgbClr val="D62839"/>
      </a:accent4>
      <a:accent5>
        <a:srgbClr val="2B6CB0"/>
      </a:accent5>
      <a:accent6>
        <a:srgbClr val="6B7A90"/>
      </a:accent6>
      <a:hlink>
        <a:srgbClr val="2B6CB0"/>
      </a:hlink>
      <a:folHlink>
        <a:srgbClr val="6B7480"/>
      </a:folHlink>
    </a:clrScheme>
    <a:fontScheme name="Migdalei Yam a Tijo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Telab International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Migdalei Yam a Tijon – Vivienda tutelada – Llamada de enfermería</dc:title>
  <dc:subject>PptxGenJS Presentation</dc:subject>
  <dc:creator>Telab International</dc:creator>
  <cp:lastModifiedBy>Telab International</cp:lastModifiedBy>
  <cp:revision>1</cp:revision>
  <dcterms:created xsi:type="dcterms:W3CDTF">2026-10-15T12:34:02Z</dcterms:created>
  <dcterms:modified xsi:type="dcterms:W3CDTF">2026-10-15T12:34:02Z</dcterms:modified>
</cp:coreProperties>
</file>
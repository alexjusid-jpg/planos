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8b234cf9-e663-3e3c-2789-ca063c0a4240}">
          <p14:sldIdLst>
            <p14:sldId id="256"/>
            <p14:sldId id="257"/>
            <p14:sldId id="258"/>
            <p14:sldId id="259"/>
            <p14:sldId id="260"/>
          </p14:sldIdLst>
        </p14:section>
        <p14:section name="Planos 2D" id="{53f83017-80e6-63aa-78e2-5f9cbbe95661}">
          <p14:sldIdLst>
            <p14:sldId id="261"/>
            <p14:sldId id="262"/>
          </p14:sldIdLst>
        </p14:section>
        <p14:section name="Departamentos" id="{caf11221-329f-9749-39fe-e8c914f31be6}">
          <p14:sldIdLst>
            <p14:sldId id="263"/>
            <p14:sldId id="264"/>
          </p14:sldIdLst>
        </p14:section>
        <p14:section name="Planta baja" id="{bc4603e9-e29c-c815-2da7-e3369bba8a6e}">
          <p14:sldIdLst>
            <p14:sldId id="265"/>
          </p14:sldIdLst>
        </p14:section>
        <p14:section name="Sistema" id="{bc58b461-78f2-3865-5338-ee5bd6b3161e}">
          <p14:sldIdLst>
            <p14:sldId id="266"/>
            <p14:sldId id="267"/>
            <p14:sldId id="268"/>
          </p14:sldIdLst>
        </p14:section>
        <p14:section name="Entregables" id="{c511890a-e5d1-ee76-d6b3-e93c9527323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Migdalei Yam a Tijon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Vivienda tutelada · Planta baja + 8 pisos · 32 departamentos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Llamada de enfermería ACE BG · Advantecnia sobre el plano real del edificio</a:t>
            </a:r>
            <a:endParaRPr lang="en-US" sz="1600" dirty="0"/>
          </a:p>
        </p:txBody>
      </p:sp>
      <p:pic>
        <p:nvPicPr>
          <p:cNvPr id="4" name="render portada" descr="/home/claude/mig2/dist/ES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Octubre 2026 · Rev.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El proyecto en cifras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pisos iguales: 2 departamentos de 1 habitación y 2 de 2 habitaciones por piso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departamentos (4 por piso)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paneles con voz y botones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tiradores de baño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baños públicos con tirador y luz de pasillo</a:t>
            </a:r>
            <a:endParaRPr lang="en-US" sz="1400" dirty="0"/>
          </a:p>
        </p:txBody>
      </p:sp>
      <p:pic>
        <p:nvPicPr>
          <p:cNvPr id="16" name="planta miniatura" descr="/home/claude/mig2/dist/ES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Los equipos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Fotos de referencia de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Tirador de baño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1,85 m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Tablet en la puerta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Android · 1,40 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Luz de pasillo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baños públicos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Panel con voz y botones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salón y dormitorios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Central, concentradores y teléfono del desk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Equipos → LCom (radial) → BoxCom (bus) → switch PoE → servidor · el teléfono va directo al switch PoE</a:t>
            </a:r>
            <a:endParaRPr lang="en-US" sz="1500" dirty="0"/>
          </a:p>
        </p:txBody>
      </p:sp>
      <p:sp>
        <p:nvSpPr>
          <p:cNvPr id="4" name="tarjeta c0"/>
          <p:cNvSpPr/>
          <p:nvPr/>
        </p:nvSpPr>
        <p:spPr>
          <a:xfrm>
            <a:off x="457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c0" descr="/home/claude/mig2/fotos/telefo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196596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Teléfono del desk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Grandstream Android · PoE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arjeta c1"/>
          <p:cNvSpPr/>
          <p:nvPr/>
        </p:nvSpPr>
        <p:spPr>
          <a:xfrm>
            <a:off x="2743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c1" descr="/home/claude/mig2/fotos/servido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34640" y="1554480"/>
            <a:ext cx="1965960" cy="1600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34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Servidor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834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Buslogic Premium · gabinete PB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4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14" name="tarjeta c2"/>
          <p:cNvSpPr/>
          <p:nvPr/>
        </p:nvSpPr>
        <p:spPr>
          <a:xfrm>
            <a:off x="5029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c2" descr="/home/claude/mig2/fotos/switch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20640" y="1554480"/>
            <a:ext cx="1965960" cy="1600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20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Switch PoE 24 puertos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120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D-Link DES-1210-28P · gabinetes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9</a:t>
            </a:r>
            <a:endParaRPr lang="en-US" sz="2000" dirty="0"/>
          </a:p>
        </p:txBody>
      </p:sp>
      <p:sp>
        <p:nvSpPr>
          <p:cNvPr id="19" name="tarjeta c3"/>
          <p:cNvSpPr/>
          <p:nvPr/>
        </p:nvSpPr>
        <p:spPr>
          <a:xfrm>
            <a:off x="7315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c3" descr="/home/claude/mig2/fotos/lcom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06640" y="1554480"/>
            <a:ext cx="1965960" cy="1600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LCom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ACE71610003 · techo de cada depto.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7406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41</a:t>
            </a:r>
            <a:endParaRPr lang="en-US" sz="2000" dirty="0"/>
          </a:p>
        </p:txBody>
      </p:sp>
      <p:sp>
        <p:nvSpPr>
          <p:cNvPr id="24" name="tarjeta c4"/>
          <p:cNvSpPr/>
          <p:nvPr/>
        </p:nvSpPr>
        <p:spPr>
          <a:xfrm>
            <a:off x="9601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5" name="foto c4" descr="/home/claude/mig2/fotos/boxcom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92640" y="1554480"/>
            <a:ext cx="1965960" cy="16002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692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BoxCom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9692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ACE70810000 · techo, une varios deptos.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9692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17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Teléfono del desk: qué color se ve</a:t>
            </a:r>
            <a:endParaRPr lang="en-US" sz="1400" dirty="0"/>
          </a:p>
        </p:txBody>
      </p:sp>
      <p:sp>
        <p:nvSpPr>
          <p:cNvPr id="30" name="color tel 0"/>
          <p:cNvSpPr/>
          <p:nvPr/>
        </p:nvSpPr>
        <p:spPr>
          <a:xfrm>
            <a:off x="45720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100584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Alarma (tirador / SOS) → rojo</a:t>
            </a:r>
            <a:endParaRPr lang="en-US" sz="1200" dirty="0"/>
          </a:p>
        </p:txBody>
      </p:sp>
      <p:sp>
        <p:nvSpPr>
          <p:cNvPr id="32" name="color tel 1"/>
          <p:cNvSpPr/>
          <p:nvPr/>
        </p:nvSpPr>
        <p:spPr>
          <a:xfrm>
            <a:off x="425196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2E9F4F"/>
          </a:solidFill>
          <a:ln w="12700">
            <a:solidFill>
              <a:srgbClr val="2E9F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480060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Verde 1 vez: presencia → verde</a:t>
            </a:r>
            <a:endParaRPr lang="en-US" sz="1200" dirty="0"/>
          </a:p>
        </p:txBody>
      </p:sp>
      <p:sp>
        <p:nvSpPr>
          <p:cNvPr id="34" name="color tel 2"/>
          <p:cNvSpPr/>
          <p:nvPr/>
        </p:nvSpPr>
        <p:spPr>
          <a:xfrm>
            <a:off x="804672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59536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Verde otra vez → cancela</a:t>
            </a:r>
            <a:endParaRPr lang="en-US" sz="1200" dirty="0"/>
          </a:p>
        </p:txBody>
      </p:sp>
      <p:sp>
        <p:nvSpPr>
          <p:cNvPr id="36" name="color tel 3"/>
          <p:cNvSpPr/>
          <p:nvPr/>
        </p:nvSpPr>
        <p:spPr>
          <a:xfrm>
            <a:off x="45720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1E5FD6"/>
          </a:solidFill>
          <a:ln w="12700">
            <a:solidFill>
              <a:srgbClr val="1E5FD6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100584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Azul: llamada de médico → azul</a:t>
            </a:r>
            <a:endParaRPr lang="en-US" sz="1200" dirty="0"/>
          </a:p>
        </p:txBody>
      </p:sp>
      <p:sp>
        <p:nvSpPr>
          <p:cNvPr id="38" name="color tel 4"/>
          <p:cNvSpPr/>
          <p:nvPr/>
        </p:nvSpPr>
        <p:spPr>
          <a:xfrm>
            <a:off x="425196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480060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Llamada de voz → amarillo / naranja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Renders fotorrealistas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Luz real con rebotes (Cycles): salón, dormitorio, baños, sala común y desk de enfermería</a:t>
            </a:r>
            <a:endParaRPr lang="en-US" sz="1500" dirty="0"/>
          </a:p>
        </p:txBody>
      </p:sp>
      <p:pic>
        <p:nvPicPr>
          <p:cNvPr id="4" name="render 0" descr="/home/claude/mig2/blender/out/r_liv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3657600" cy="2057400"/>
          </a:xfrm>
          <a:prstGeom prst="rect">
            <a:avLst/>
          </a:prstGeom>
        </p:spPr>
      </p:pic>
      <p:pic>
        <p:nvPicPr>
          <p:cNvPr id="5" name="render 1" descr="/home/claude/mig2/blender/out/r_b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508760"/>
            <a:ext cx="3657600" cy="2057400"/>
          </a:xfrm>
          <a:prstGeom prst="rect">
            <a:avLst/>
          </a:prstGeom>
        </p:spPr>
      </p:pic>
      <p:pic>
        <p:nvPicPr>
          <p:cNvPr id="6" name="render 2" descr="/home/claude/mig2/blender/out/r_bat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508760"/>
            <a:ext cx="3657600" cy="2057400"/>
          </a:xfrm>
          <a:prstGeom prst="rect">
            <a:avLst/>
          </a:prstGeom>
        </p:spPr>
      </p:pic>
      <p:pic>
        <p:nvPicPr>
          <p:cNvPr id="7" name="render 3" descr="/home/claude/mig2/blender/out/r_bath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86200"/>
            <a:ext cx="3657600" cy="2057400"/>
          </a:xfrm>
          <a:prstGeom prst="rect">
            <a:avLst/>
          </a:prstGeom>
        </p:spPr>
      </p:pic>
      <p:pic>
        <p:nvPicPr>
          <p:cNvPr id="8" name="render 4" descr="/home/claude/mig2/blender/out/r_common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3886200"/>
            <a:ext cx="3657600" cy="2057400"/>
          </a:xfrm>
          <a:prstGeom prst="rect">
            <a:avLst/>
          </a:prstGeom>
        </p:spPr>
      </p:pic>
      <p:pic>
        <p:nvPicPr>
          <p:cNvPr id="9" name="render 5" descr="/home/claude/mig2/blender/out/r_desk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886200"/>
            <a:ext cx="3657600" cy="2057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Piso tipo P1–P8 – llamada de enfermería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Sobre el plano de arquitectura L5: tablet en la puerta, panel con voz en salón y dormitorios, tiradores en todos los baños</a:t>
            </a:r>
            <a:endParaRPr lang="en-US" sz="1500" dirty="0"/>
          </a:p>
        </p:txBody>
      </p:sp>
      <p:pic>
        <p:nvPicPr>
          <p:cNvPr id="4" name="planta equipamiento" descr="/home/claude/mig2/dist/ES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Piso tipo – cableado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Verde · Cat6 radial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Naranja · cadena LCom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Rojo · red y montante</a:t>
            </a:r>
            <a:endParaRPr lang="en-US" sz="1300" dirty="0"/>
          </a:p>
        </p:txBody>
      </p:sp>
      <p:pic>
        <p:nvPicPr>
          <p:cNvPr id="9" name="planta cableado" descr="/home/claude/mig2/dist/ES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 la puerta y en el salón</a:t>
            </a:r>
            <a:endParaRPr lang="en-US" sz="3000" dirty="0"/>
          </a:p>
        </p:txBody>
      </p:sp>
      <p:pic>
        <p:nvPicPr>
          <p:cNvPr id="3" name="render tablet" descr="/home/claude/mig2/blender/out/r_ta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blender/out/r_livin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Tablet en la puerta de cada departamento (iPad / Android, 1,40 m): llamar y hablar con enfermería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Panel de llamada con voz y botones ACE82182451 en el salón (1,30 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en el cielorraso del hall: concentra todo el departamento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Departamentos x01 y x02: 1 habitación, salón con cocina y 2 baños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Departamentos x03 y x04: 2 habitaciones y 2 baños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Dormitorios y baños</a:t>
            </a:r>
            <a:endParaRPr lang="en-US" sz="3000" dirty="0"/>
          </a:p>
        </p:txBody>
      </p:sp>
      <p:pic>
        <p:nvPicPr>
          <p:cNvPr id="3" name="render dormitorio" descr="/home/claude/mig2/blender/out/r_be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blender/out/r_bat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Panel con voz y botones en cada dormitorio, con pera de llamada junto a la cama.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Tiradores ACE40320303W en el inodoro y en la ducha de todos los baños, a 1,85 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Planta baja: recepción con desk de enfermería</a:t>
            </a:r>
            <a:endParaRPr lang="en-US" sz="3000" dirty="0"/>
          </a:p>
        </p:txBody>
      </p:sp>
      <p:pic>
        <p:nvPicPr>
          <p:cNvPr id="3" name="render PB" descr="/home/claude/mig2/blender/out/r_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blender/out/r_desk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Desk de enfermería con teléfono Grandstream Android (PoE directo al switch): alarma en rojo, presencia en verde, médico en azul y voz en naranja. Detrás, el gabinete con servidor Buslogic Premium y switch PoE D-Link. Distribución propuesta: se ajusta con el plano de PB del arquitecto.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Topología: del departamento al desk de enfermería</a:t>
            </a:r>
            <a:endParaRPr lang="en-US" sz="3000" dirty="0"/>
          </a:p>
        </p:txBody>
      </p:sp>
      <p:pic>
        <p:nvPicPr>
          <p:cNvPr id="3" name="topologia" descr="/home/claude/mig2/dist/ES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El residente llama desde la tablet, el panel o el tirador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radial hasta el LCom del departamento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→ LCom → BoxCom en el techo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BoxCom → switch PoE D-Link del gabinete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Switches por el montante → servidor Buslogic PB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El teléfono del desk (PoE) muestra cada llamada con su color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Cableado en 3D y edificio</a:t>
            </a:r>
            <a:endParaRPr lang="en-US" sz="3000" dirty="0"/>
          </a:p>
        </p:txBody>
      </p:sp>
      <p:pic>
        <p:nvPicPr>
          <p:cNvPr id="3" name="render cableado" descr="/home/claude/mig2/dist/ES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ES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radial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Cada equipo del departamento a su LCom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en cadena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→ x04 → baño público · x02 →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red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BoxCom → switch → montante → servidor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Lista de materiales – edificio completo</a:t>
            </a:r>
            <a:endParaRPr lang="en-US" sz="3000" dirty="0"/>
          </a:p>
        </p:txBody>
      </p:sp>
      <p:graphicFrame>
        <p:nvGraphicFramePr>
          <p:cNvPr id="14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Equipo Advantecnia / ACE BG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Cant.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Tablet de la puerta (iPad / Android)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Panel con voz y botones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Tirador de baño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Luz de pasillo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BoxCom · ACE70810000 (techo)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Switch PoE · D-Link DES-1210-28P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Servidor Buslogic Premium · Teléfono Grandstream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Cable (8 pisos + PB + 15 %)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Metros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radial (verde)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cadena LCom (naranja)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750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red + montante (rojo)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Cantidades de anteproyecto: validar con Advantecnia y en obra.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Entregables del proyecto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láminas A1: piso tipo, renders fotorrealistas, equipos con fotos, marcas del cliente, cableado, departamentos, planta baja, esquema vertical, materiales y 3D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Plano CAD del piso tipo y PB con capas por sistema; en AutoCAD se guarda como DWG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Modelo BIM del edificio (PB + 8 pisos) para 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Visor web: equipamiento / cableado, Caminar, Ir a… y botón Documentos para ver y bajar todo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Video del recorrido con leyendas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Esta presentación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2026-10-21T13:41:20Z</dcterms:created>
  <dcterms:modified xsi:type="dcterms:W3CDTF">2026-10-21T13:41:20Z</dcterms:modified>
</cp:coreProperties>
</file>
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yecto" id="{2cc8f6df-3115-4f8a-26c0-4b6af2394b1b}">
          <p14:sldIdLst>
            <p14:sldId id="256"/>
            <p14:sldId id="257"/>
            <p14:sldId id="258"/>
            <p14:sldId id="259"/>
          </p14:sldIdLst>
        </p14:section>
        <p14:section name="Planos 2D" id="{4a402c52-574b-9ee3-28b3-73f766234b87}">
          <p14:sldIdLst>
            <p14:sldId id="260"/>
            <p14:sldId id="261"/>
          </p14:sldIdLst>
        </p14:section>
        <p14:section name="Departamentos" id="{cf010dae-8dc3-90aa-9c0d-ff213f091e06}">
          <p14:sldIdLst>
            <p14:sldId id="262"/>
            <p14:sldId id="263"/>
          </p14:sldIdLst>
        </p14:section>
        <p14:section name="Planta baja" id="{a0ef19c5-e4cb-a390-26f9-c09e82e89cfa}">
          <p14:sldIdLst>
            <p14:sldId id="264"/>
          </p14:sldIdLst>
        </p14:section>
        <p14:section name="Sistema" id="{e4904ada-7868-9295-2b3d-9a0e71a3665b}">
          <p14:sldIdLst>
            <p14:sldId id="265"/>
            <p14:sldId id="266"/>
            <p14:sldId id="267"/>
          </p14:sldIdLst>
        </p14:section>
        <p14:section name="Entregables" id="{2445368b-82a6-ac2f-791c-354ae985745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Migdalei Yam a Tijon  |  ACE BG · Advantecnia  |  Telab International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מגדלי ים התיכון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דיור מוגן · קומת קרקע + 8 קומות · 32 דירות</a:t>
            </a:r>
            <a:endParaRPr lang="en-US" sz="1600" dirty="0"/>
          </a:p>
          <a:p>
            <a:pPr rtl="1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קריאת אחות ACE BG · Advantecnia על התוכנית האמיתית של הבניין</a:t>
            </a:r>
            <a:endParaRPr lang="en-US" sz="1600" dirty="0"/>
          </a:p>
        </p:txBody>
      </p:sp>
      <p:pic>
        <p:nvPicPr>
          <p:cNvPr id="4" name="render portada" descr="/home/claude/mig2/dist/HE/renders/m3d_01_pi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621792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Telab International · אוקטובר 2026 · מהדורה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הפרויקט במספרים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8 קומות זהות: 2 דירות חדר שינה אחד ו-2 דירות שני חדרי שינה בכל קומה</a:t>
            </a:r>
            <a:endParaRPr lang="en-US" sz="1500" dirty="0"/>
          </a:p>
        </p:txBody>
      </p:sp>
      <p:sp>
        <p:nvSpPr>
          <p:cNvPr id="4" name="cifra 0"/>
          <p:cNvSpPr/>
          <p:nvPr/>
        </p:nvSpPr>
        <p:spPr>
          <a:xfrm>
            <a:off x="54864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דירות (4 בכל קומה)</a:t>
            </a:r>
            <a:endParaRPr lang="en-US" sz="1400" dirty="0"/>
          </a:p>
        </p:txBody>
      </p:sp>
      <p:sp>
        <p:nvSpPr>
          <p:cNvPr id="7" name="cifra 1"/>
          <p:cNvSpPr/>
          <p:nvPr/>
        </p:nvSpPr>
        <p:spPr>
          <a:xfrm>
            <a:off x="315468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פנלים קוליים עם לחצנים</a:t>
            </a:r>
            <a:endParaRPr lang="en-US" sz="1400" dirty="0"/>
          </a:p>
        </p:txBody>
      </p:sp>
      <p:sp>
        <p:nvSpPr>
          <p:cNvPr id="10" name="cifra 2"/>
          <p:cNvSpPr/>
          <p:nvPr/>
        </p:nvSpPr>
        <p:spPr>
          <a:xfrm>
            <a:off x="54864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משיכות חבל</a:t>
            </a:r>
            <a:endParaRPr lang="en-US" sz="1400" dirty="0"/>
          </a:p>
        </p:txBody>
      </p:sp>
      <p:sp>
        <p:nvSpPr>
          <p:cNvPr id="13" name="cifra 3"/>
          <p:cNvSpPr/>
          <p:nvPr/>
        </p:nvSpPr>
        <p:spPr>
          <a:xfrm>
            <a:off x="315468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שירותים ציבוריים עם משיכת חבל ומנורת מסדרון</a:t>
            </a:r>
            <a:endParaRPr lang="en-US" sz="1400" dirty="0"/>
          </a:p>
        </p:txBody>
      </p:sp>
      <p:pic>
        <p:nvPicPr>
          <p:cNvPr id="16" name="planta miniatura" descr="/home/claude/mig2/dist/HE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508760"/>
            <a:ext cx="603504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הציוד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תמונות ייחוס של ACE BG / Advantecnia</a:t>
            </a:r>
            <a:endParaRPr lang="en-US" sz="1500" dirty="0"/>
          </a:p>
        </p:txBody>
      </p:sp>
      <p:sp>
        <p:nvSpPr>
          <p:cNvPr id="4" name="tarjeta 0"/>
          <p:cNvSpPr/>
          <p:nvPr/>
        </p:nvSpPr>
        <p:spPr>
          <a:xfrm>
            <a:off x="54864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5" name="foto 0" descr="/home/claude/mig2/fotos/tirad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246888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משיכת חבל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ACE40320303W · 1.85 מ'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138</a:t>
            </a:r>
            <a:endParaRPr lang="en-US" sz="2600" dirty="0"/>
          </a:p>
        </p:txBody>
      </p:sp>
      <p:sp>
        <p:nvSpPr>
          <p:cNvPr id="9" name="tarjeta 1"/>
          <p:cNvSpPr/>
          <p:nvPr/>
        </p:nvSpPr>
        <p:spPr>
          <a:xfrm>
            <a:off x="338328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0" name="foto 1" descr="/home/claude/mig2/fotos/tabl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1554480"/>
            <a:ext cx="2468880" cy="2651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טאבלט בכניסה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iPad / אנדרואיד · 1.40 מ'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32</a:t>
            </a:r>
            <a:endParaRPr lang="en-US" sz="2600" dirty="0"/>
          </a:p>
        </p:txBody>
      </p:sp>
      <p:sp>
        <p:nvSpPr>
          <p:cNvPr id="14" name="tarjeta 2"/>
          <p:cNvSpPr/>
          <p:nvPr/>
        </p:nvSpPr>
        <p:spPr>
          <a:xfrm>
            <a:off x="621792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5" name="foto 2" descr="/home/claude/mig2/fotos/luz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1554480"/>
            <a:ext cx="2468880" cy="2651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מנורת מסדרון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ACE41020309 · שירותים ציבוריים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</a:t>
            </a:r>
            <a:endParaRPr lang="en-US" sz="2600" dirty="0"/>
          </a:p>
        </p:txBody>
      </p:sp>
      <p:sp>
        <p:nvSpPr>
          <p:cNvPr id="19" name="tarjeta 3"/>
          <p:cNvSpPr/>
          <p:nvPr/>
        </p:nvSpPr>
        <p:spPr>
          <a:xfrm>
            <a:off x="905256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0" name="foto 3" descr="/home/claude/mig2/fotos/pane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0" y="1554480"/>
            <a:ext cx="2468880" cy="2651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97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פנל קולי עם לחצנים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ACE82182451 · סלון וחדרי שינה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18972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יחידה מרכזית, מרכזים וטלפון העמדה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התקנים ← LCom (רדיאלי) ← BoxCom (באס) ← מתג PoE ← שרת · הטלפון מחובר ישירות למתג ה-PoE</a:t>
            </a:r>
            <a:endParaRPr lang="en-US" sz="1500" dirty="0"/>
          </a:p>
        </p:txBody>
      </p:sp>
      <p:sp>
        <p:nvSpPr>
          <p:cNvPr id="4" name="tarjeta c0"/>
          <p:cNvSpPr/>
          <p:nvPr/>
        </p:nvSpPr>
        <p:spPr>
          <a:xfrm>
            <a:off x="457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5" name="foto c0" descr="/home/claude/mig2/fotos/telefon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96596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טלפון העמדה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Grandstream אנדרואיד · PoE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arjeta c1"/>
          <p:cNvSpPr/>
          <p:nvPr/>
        </p:nvSpPr>
        <p:spPr>
          <a:xfrm>
            <a:off x="2743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0" name="foto c1" descr="/home/claude/mig2/fotos/servid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1554480"/>
            <a:ext cx="1965960" cy="1600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שרת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Buslogic Premium · ארון קרקע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arjeta c2"/>
          <p:cNvSpPr/>
          <p:nvPr/>
        </p:nvSpPr>
        <p:spPr>
          <a:xfrm>
            <a:off x="5029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5" name="foto c2" descr="/home/claude/mig2/fotos/swit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20640" y="1554480"/>
            <a:ext cx="1965960" cy="1600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מתג PoE 24 יציאות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D-Link DES-1210-28P · ארונות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</a:t>
            </a:r>
            <a:endParaRPr lang="en-US" sz="2000" dirty="0"/>
          </a:p>
        </p:txBody>
      </p:sp>
      <p:sp>
        <p:nvSpPr>
          <p:cNvPr id="19" name="tarjeta c3"/>
          <p:cNvSpPr/>
          <p:nvPr/>
        </p:nvSpPr>
        <p:spPr>
          <a:xfrm>
            <a:off x="7315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0" name="foto c3" descr="/home/claude/mig2/fotos/lco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0" y="1554480"/>
            <a:ext cx="1965960" cy="1600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LCom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ACE71610003 · תקרת כל דירה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41</a:t>
            </a:r>
            <a:endParaRPr lang="en-US" sz="2000" dirty="0"/>
          </a:p>
        </p:txBody>
      </p:sp>
      <p:sp>
        <p:nvSpPr>
          <p:cNvPr id="24" name="tarjeta c4"/>
          <p:cNvSpPr/>
          <p:nvPr/>
        </p:nvSpPr>
        <p:spPr>
          <a:xfrm>
            <a:off x="9601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5" name="foto c4" descr="/home/claude/mig2/fotos/boxcom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92640" y="1554480"/>
            <a:ext cx="1965960" cy="1600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92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BoxCom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692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ACE70810000 · תקרה, מחבר כמה דירות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9692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17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טלפון העמדה: איזה צבע מוצג</a:t>
            </a:r>
            <a:endParaRPr lang="en-US" sz="1400" dirty="0"/>
          </a:p>
        </p:txBody>
      </p:sp>
      <p:sp>
        <p:nvSpPr>
          <p:cNvPr id="30" name="color tel 0"/>
          <p:cNvSpPr/>
          <p:nvPr/>
        </p:nvSpPr>
        <p:spPr>
          <a:xfrm>
            <a:off x="45720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00584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אזעקה (משיכה / SOS) ← אדום</a:t>
            </a:r>
            <a:endParaRPr lang="en-US" sz="1200" dirty="0"/>
          </a:p>
        </p:txBody>
      </p:sp>
      <p:sp>
        <p:nvSpPr>
          <p:cNvPr id="32" name="color tel 1"/>
          <p:cNvSpPr/>
          <p:nvPr/>
        </p:nvSpPr>
        <p:spPr>
          <a:xfrm>
            <a:off x="425196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2E9F4F"/>
          </a:solidFill>
          <a:ln w="12700">
            <a:solidFill>
              <a:srgbClr val="2E9F4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80060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ירוק פעם אחת: נוכחות ← ירוק</a:t>
            </a:r>
            <a:endParaRPr lang="en-US" sz="1200" dirty="0"/>
          </a:p>
        </p:txBody>
      </p:sp>
      <p:sp>
        <p:nvSpPr>
          <p:cNvPr id="34" name="color tel 2"/>
          <p:cNvSpPr/>
          <p:nvPr/>
        </p:nvSpPr>
        <p:spPr>
          <a:xfrm>
            <a:off x="804672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59536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ירוק שוב ← ביטול</a:t>
            </a:r>
            <a:endParaRPr lang="en-US" sz="1200" dirty="0"/>
          </a:p>
        </p:txBody>
      </p:sp>
      <p:sp>
        <p:nvSpPr>
          <p:cNvPr id="36" name="color tel 3"/>
          <p:cNvSpPr/>
          <p:nvPr/>
        </p:nvSpPr>
        <p:spPr>
          <a:xfrm>
            <a:off x="457200" y="58064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1E5FD6"/>
          </a:solidFill>
          <a:ln w="12700">
            <a:solidFill>
              <a:srgbClr val="1E5FD6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005840" y="5806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כחול: קריאת רופא ← כחול</a:t>
            </a:r>
            <a:endParaRPr lang="en-US" sz="1200" dirty="0"/>
          </a:p>
        </p:txBody>
      </p:sp>
      <p:sp>
        <p:nvSpPr>
          <p:cNvPr id="38" name="color tel 4"/>
          <p:cNvSpPr/>
          <p:nvPr/>
        </p:nvSpPr>
        <p:spPr>
          <a:xfrm>
            <a:off x="4251960" y="58064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800600" y="5806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שיחה קולית ← צהוב / כתום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קומה טיפוסית 1–8 – קריאת אחות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על התוכנית האדריכלית L5: טאבלט בכניסה, פנל קולי בסלון ובחדרי השינה, משיכות חבל בכל חדרי הרחצה</a:t>
            </a:r>
            <a:endParaRPr lang="en-US" sz="1500" dirty="0"/>
          </a:p>
        </p:txBody>
      </p:sp>
      <p:pic>
        <p:nvPicPr>
          <p:cNvPr id="4" name="planta equipamiento" descr="/home/claude/mig2/dist/HE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1143000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קומה טיפוסית – חיווט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ירוק · Cat6 רדיאלי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כתום · שרשרת LCom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960120"/>
            <a:ext cx="3474720" cy="384048"/>
          </a:xfrm>
          <a:prstGeom prst="roundRect">
            <a:avLst>
              <a:gd name="adj" fmla="val 1904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אדום · רשת ועמוד</a:t>
            </a:r>
            <a:endParaRPr lang="en-US" sz="1300" dirty="0"/>
          </a:p>
        </p:txBody>
      </p:sp>
      <p:pic>
        <p:nvPicPr>
          <p:cNvPr id="9" name="planta cableado" descr="/home/claude/mig2/dist/HE/renders/plan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63040"/>
            <a:ext cx="114300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בכניסה ובסלון</a:t>
            </a:r>
            <a:endParaRPr lang="en-US" sz="3000" dirty="0"/>
          </a:p>
        </p:txBody>
      </p:sp>
      <p:pic>
        <p:nvPicPr>
          <p:cNvPr id="3" name="render tablet" descr="/home/claude/mig2/dist/HE/renders/m3d_04_tab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2697480"/>
          </a:xfrm>
          <a:prstGeom prst="rect">
            <a:avLst/>
          </a:prstGeom>
        </p:spPr>
      </p:pic>
      <p:pic>
        <p:nvPicPr>
          <p:cNvPr id="4" name="render salón" descr="/home/claude/mig2/dist/HE/renders/m3d_03_sal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77640"/>
            <a:ext cx="5486400" cy="2377440"/>
          </a:xfrm>
          <a:prstGeom prst="rect">
            <a:avLst/>
          </a:prstGeom>
        </p:spPr>
      </p:pic>
      <p:sp>
        <p:nvSpPr>
          <p:cNvPr id="5" name="puntos"/>
          <p:cNvSpPr txBox="1"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טאבלט בכניסה לכל דירה (iPad / אנדרואיד, 1.40 מ'): קריאה ודיבור עם האחות</a:t>
            </a:r>
            <a:endParaRPr lang="en-US" sz="15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פנל קריאה קולי עם לחצנים ACE82182451 בסלון (1.30 מ')</a:t>
            </a:r>
            <a:endParaRPr lang="en-US" sz="15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LCom ACE71610003 בתקרת המבואה: מרכז את כל הדירה</a:t>
            </a:r>
            <a:endParaRPr lang="en-US" sz="15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דירות x01 ו-x02: חדר שינה אחד, סלון עם מטבח ו-2 חדרי רחצה</a:t>
            </a:r>
            <a:endParaRPr lang="en-US" sz="150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דירות x03 ו-x04: 2 חדרי שינה ו-2 חדרי רחצה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חדרי שינה וחדרי רחצה</a:t>
            </a:r>
            <a:endParaRPr lang="en-US" sz="3000" dirty="0"/>
          </a:p>
        </p:txBody>
      </p:sp>
      <p:pic>
        <p:nvPicPr>
          <p:cNvPr id="3" name="render dormitorio" descr="/home/claude/mig2/dist/HE/renders/m3d_05_dormi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4114800"/>
          </a:xfrm>
          <a:prstGeom prst="rect">
            <a:avLst/>
          </a:prstGeom>
        </p:spPr>
      </p:pic>
      <p:pic>
        <p:nvPicPr>
          <p:cNvPr id="4" name="render baño" descr="/home/claude/mig2/dist/HE/renders/m3d_06_ban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188720"/>
            <a:ext cx="5486400" cy="4114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פנל קולי עם לחצנים בכל חדר שינה, עם אגס קריאה ליד המיטה.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משיכות חבל ACE40320303W באסלה ובמקלחת בכל חדרי הרחצה, בגובה 1.85 מ'.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קומת קרקע: קבלה עם עמדת אחות</a:t>
            </a:r>
            <a:endParaRPr lang="en-US" sz="3000" dirty="0"/>
          </a:p>
        </p:txBody>
      </p:sp>
      <p:pic>
        <p:nvPicPr>
          <p:cNvPr id="3" name="render PB" descr="/home/claude/mig2/dist/HE/renders/m3d_09_p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852160" cy="4206240"/>
          </a:xfrm>
          <a:prstGeom prst="rect">
            <a:avLst/>
          </a:prstGeom>
        </p:spPr>
      </p:pic>
      <p:pic>
        <p:nvPicPr>
          <p:cNvPr id="4" name="render desk" descr="/home/claude/mig2/dist/HE/renders/m3d_07_des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188720"/>
            <a:ext cx="512064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עמדת אחות עם טלפון Grandstream אנדרואיד (PoE ישירות למתג): אזעקה באדום, נוכחות בירוק, רופא בכחול ושיחה קולית בכתום. מאחור, הארון עם שרת Buslogic Premium ומתג PoE D-Link. פריסה מוצעת: תעודכן לפי תוכנית הקרקע של האדריכל.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טופולוגיה: מהדירה לעמדת האחות</a:t>
            </a:r>
            <a:endParaRPr lang="en-US" sz="3000" dirty="0"/>
          </a:p>
        </p:txBody>
      </p:sp>
      <p:pic>
        <p:nvPicPr>
          <p:cNvPr id="3" name="topologia" descr="/home/claude/mig2/dist/HE/renders/topolog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11430000" cy="4023360"/>
          </a:xfrm>
          <a:prstGeom prst="rect">
            <a:avLst/>
          </a:prstGeom>
        </p:spPr>
      </p:pic>
      <p:sp>
        <p:nvSpPr>
          <p:cNvPr id="4" name="paso 1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הדייר קורא מהטאבלט, מהפנל או ממשיכת החבל</a:t>
            </a:r>
            <a:endParaRPr lang="en-US" sz="1100" dirty="0"/>
          </a:p>
        </p:txBody>
      </p:sp>
      <p:sp>
        <p:nvSpPr>
          <p:cNvPr id="7" name="paso 2"/>
          <p:cNvSpPr/>
          <p:nvPr/>
        </p:nvSpPr>
        <p:spPr>
          <a:xfrm>
            <a:off x="242316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Cat6 רדיאלי עד ה-LCom של הדירה</a:t>
            </a:r>
            <a:endParaRPr lang="en-US" sz="1100" dirty="0"/>
          </a:p>
        </p:txBody>
      </p:sp>
      <p:sp>
        <p:nvSpPr>
          <p:cNvPr id="10" name="paso 3"/>
          <p:cNvSpPr/>
          <p:nvPr/>
        </p:nvSpPr>
        <p:spPr>
          <a:xfrm>
            <a:off x="429768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LCom ← LCom ← BoxCom בתקרה</a:t>
            </a:r>
            <a:endParaRPr lang="en-US" sz="1100" dirty="0"/>
          </a:p>
        </p:txBody>
      </p:sp>
      <p:sp>
        <p:nvSpPr>
          <p:cNvPr id="13" name="paso 4"/>
          <p:cNvSpPr/>
          <p:nvPr/>
        </p:nvSpPr>
        <p:spPr>
          <a:xfrm>
            <a:off x="617220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BoxCom ← מתג PoE D-Link בארון</a:t>
            </a:r>
            <a:endParaRPr lang="en-US" sz="1100" dirty="0"/>
          </a:p>
        </p:txBody>
      </p:sp>
      <p:sp>
        <p:nvSpPr>
          <p:cNvPr id="16" name="paso 5"/>
          <p:cNvSpPr/>
          <p:nvPr/>
        </p:nvSpPr>
        <p:spPr>
          <a:xfrm>
            <a:off x="804672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מתגים דרך העמוד ← שרת Buslogic בקרקע</a:t>
            </a:r>
            <a:endParaRPr lang="en-US" sz="1100" dirty="0"/>
          </a:p>
        </p:txBody>
      </p:sp>
      <p:sp>
        <p:nvSpPr>
          <p:cNvPr id="19" name="paso 6"/>
          <p:cNvSpPr/>
          <p:nvPr/>
        </p:nvSpPr>
        <p:spPr>
          <a:xfrm>
            <a:off x="99212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21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3784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טלפון העמדה (PoE) מציג כל קריאה בצבע שלה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חיווט בתלת-ממד והבניין</a:t>
            </a:r>
            <a:endParaRPr lang="en-US" sz="3000" dirty="0"/>
          </a:p>
        </p:txBody>
      </p:sp>
      <p:pic>
        <p:nvPicPr>
          <p:cNvPr id="3" name="render cableado" descr="/home/claude/mig2/dist/HE/renders/m3d_02_piso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7315200" cy="3291840"/>
          </a:xfrm>
          <a:prstGeom prst="rect">
            <a:avLst/>
          </a:prstGeom>
        </p:spPr>
      </p:pic>
      <p:pic>
        <p:nvPicPr>
          <p:cNvPr id="4" name="render edificio" descr="/home/claude/mig2/dist/HE/renders/m3d_08_edifici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097280"/>
            <a:ext cx="3931920" cy="5212080"/>
          </a:xfrm>
          <a:prstGeom prst="rect">
            <a:avLst/>
          </a:prstGeom>
        </p:spPr>
      </p:pic>
      <p:sp>
        <p:nvSpPr>
          <p:cNvPr id="5" name="color 0"/>
          <p:cNvSpPr/>
          <p:nvPr/>
        </p:nvSpPr>
        <p:spPr>
          <a:xfrm>
            <a:off x="548640" y="4709160"/>
            <a:ext cx="50292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רדיאלי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כל התקן בדירה ל-LCom שלה</a:t>
            </a:r>
            <a:endParaRPr lang="en-US" sz="1200" dirty="0"/>
          </a:p>
        </p:txBody>
      </p:sp>
      <p:sp>
        <p:nvSpPr>
          <p:cNvPr id="8" name="color 1"/>
          <p:cNvSpPr/>
          <p:nvPr/>
        </p:nvSpPr>
        <p:spPr>
          <a:xfrm>
            <a:off x="3017520" y="4709160"/>
            <a:ext cx="50292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01752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/ Cat7 בשרשרת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x01 ← x04 ← שירותים ציבוריים · x02 ← x03</a:t>
            </a:r>
            <a:endParaRPr lang="en-US" sz="1200" dirty="0"/>
          </a:p>
        </p:txBody>
      </p:sp>
      <p:sp>
        <p:nvSpPr>
          <p:cNvPr id="11" name="color 2"/>
          <p:cNvSpPr/>
          <p:nvPr/>
        </p:nvSpPr>
        <p:spPr>
          <a:xfrm>
            <a:off x="5486400" y="4709160"/>
            <a:ext cx="50292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Cat6A / Cat7 רשת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BoxCom ← מתג ← עמוד ← שרת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רשימת חומרים – כל הבניין</a:t>
            </a:r>
            <a:endParaRPr lang="en-US" sz="3000" dirty="0"/>
          </a:p>
        </p:txBody>
      </p:sp>
      <p:graphicFrame>
        <p:nvGraphicFramePr>
          <p:cNvPr id="13" name="tabla equip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188720"/>
              </a:tblGrid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התקן Advantecnia / ACE BG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כמות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טאבלט בכניסה (iPad / אנדרואיד)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פנל קולי עם לחצנים · ACE82182451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משיכת חבל · ACE40320303W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138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מנורת מסדרון · ACE41020309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LCom · ACE71610003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41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BoxCom · ACE70810000 (תקרה)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מתג PoE · D-Link DES-1210-28P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שרת Buslogic Premium · טלפון Grandstream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 · 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a c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כבל (8 קומות + קרקע + 15%)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מטרים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b="1" dirty="0">
                          <a:solidFill>
                            <a:srgbClr val="1A9E4B"/>
                          </a:solidFill>
                        </a:rPr>
                        <a:t>Cat6 רדיאלי (ירוק)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1700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b="1" dirty="0">
                          <a:solidFill>
                            <a:srgbClr val="E07A12"/>
                          </a:solidFill>
                        </a:rPr>
                        <a:t>Cat6 / Cat7 שרשרת LCom (כתום)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750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rtl="1" indent="0" marL="0">
                        <a:buNone/>
                      </a:pPr>
                      <a:r>
                        <a:rPr lang="en-US" sz="1300" b="1" dirty="0">
                          <a:solidFill>
                            <a:srgbClr val="D62839"/>
                          </a:solidFill>
                        </a:rPr>
                        <a:t>Cat6A / Cat7 רשת + עמוד (אדום)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130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כמויות ראשוניות: לאמת מול Advantecnia ובאתר.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תוצרי הפרויקט</a:t>
            </a:r>
            <a:endParaRPr lang="en-US" sz="3000" dirty="0"/>
          </a:p>
        </p:txBody>
      </p:sp>
      <p:sp>
        <p:nvSpPr>
          <p:cNvPr id="3" name="entregable PDF"/>
          <p:cNvSpPr/>
          <p:nvPr/>
        </p:nvSpPr>
        <p:spPr>
          <a:xfrm>
            <a:off x="54864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PDF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 גיליונות A1: קומה טיפוסית, ציוד עם תמונות, סימוני הלקוח, חיווט, דירות, קומת קרקע, תרשים אנכי, חומרים ותלת-ממד</a:t>
            </a:r>
            <a:endParaRPr lang="en-US" sz="1400" dirty="0"/>
          </a:p>
        </p:txBody>
      </p:sp>
      <p:sp>
        <p:nvSpPr>
          <p:cNvPr id="6" name="entregable DXF"/>
          <p:cNvSpPr/>
          <p:nvPr/>
        </p:nvSpPr>
        <p:spPr>
          <a:xfrm>
            <a:off x="617220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DXF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שרטוט CAD של הקומה הטיפוסית והקרקע עם שכבות לפי מערכת; ב-AutoCAD שומרים כ-DWG</a:t>
            </a:r>
            <a:endParaRPr lang="en-US" sz="1400" dirty="0"/>
          </a:p>
        </p:txBody>
      </p:sp>
      <p:sp>
        <p:nvSpPr>
          <p:cNvPr id="9" name="entregable IFC"/>
          <p:cNvSpPr/>
          <p:nvPr/>
        </p:nvSpPr>
        <p:spPr>
          <a:xfrm>
            <a:off x="54864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IFC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מודל BIM של הבניין (קרקע + 8 קומות) ל-Revit</a:t>
            </a:r>
            <a:endParaRPr lang="en-US" sz="1400" dirty="0"/>
          </a:p>
        </p:txBody>
      </p:sp>
      <p:sp>
        <p:nvSpPr>
          <p:cNvPr id="12" name="entregable 3D"/>
          <p:cNvSpPr/>
          <p:nvPr/>
        </p:nvSpPr>
        <p:spPr>
          <a:xfrm>
            <a:off x="617220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צופה אינטרנטי: ציוד / חיווט, הליכה, «עבור אל…» וכפתור מסמכים לצפייה והורדה של הכול</a:t>
            </a:r>
            <a:endParaRPr lang="en-US" sz="1400" dirty="0"/>
          </a:p>
        </p:txBody>
      </p:sp>
      <p:sp>
        <p:nvSpPr>
          <p:cNvPr id="15" name="entregable MP4"/>
          <p:cNvSpPr/>
          <p:nvPr/>
        </p:nvSpPr>
        <p:spPr>
          <a:xfrm>
            <a:off x="54864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MP4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סרטון סיור עם כיתוביות</a:t>
            </a:r>
            <a:endParaRPr lang="en-US" sz="1400" dirty="0"/>
          </a:p>
        </p:txBody>
      </p:sp>
      <p:sp>
        <p:nvSpPr>
          <p:cNvPr id="18" name="entregable PPT"/>
          <p:cNvSpPr/>
          <p:nvPr/>
        </p:nvSpPr>
        <p:spPr>
          <a:xfrm>
            <a:off x="617220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PPT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מצגת זו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gdalei Yam a Tijon">
  <a:themeElements>
    <a:clrScheme name="Migdalei Yam a Tijon">
      <a:dk1>
        <a:srgbClr val="1F2630"/>
      </a:dk1>
      <a:lt1>
        <a:srgbClr val="FFFFFF"/>
      </a:lt1>
      <a:dk2>
        <a:srgbClr val="4A515B"/>
      </a:dk2>
      <a:lt2>
        <a:srgbClr val="F3F5F7"/>
      </a:lt2>
      <a:accent1>
        <a:srgbClr val="D9620B"/>
      </a:accent1>
      <a:accent2>
        <a:srgbClr val="1A9E4B"/>
      </a:accent2>
      <a:accent3>
        <a:srgbClr val="E07A12"/>
      </a:accent3>
      <a:accent4>
        <a:srgbClr val="D62839"/>
      </a:accent4>
      <a:accent5>
        <a:srgbClr val="2B6CB0"/>
      </a:accent5>
      <a:accent6>
        <a:srgbClr val="6B7A90"/>
      </a:accent6>
      <a:hlink>
        <a:srgbClr val="2B6CB0"/>
      </a:hlink>
      <a:folHlink>
        <a:srgbClr val="6B7480"/>
      </a:folHlink>
    </a:clrScheme>
    <a:fontScheme name="Migdalei Yam a Tij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Telab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Migdalei Yam a Tijon – Vivienda tutelada – Llamada de enfermería</dc:title>
  <dc:subject>PptxGenJS Presentation</dc:subject>
  <dc:creator>Telab International</dc:creator>
  <cp:lastModifiedBy>Telab International</cp:lastModifiedBy>
  <cp:revision>1</cp:revision>
  <dcterms:created xsi:type="dcterms:W3CDTF">2026-10-20T17:11:29Z</dcterms:created>
  <dcterms:modified xsi:type="dcterms:W3CDTF">2026-10-20T17:11:29Z</dcterms:modified>
</cp:coreProperties>
</file>
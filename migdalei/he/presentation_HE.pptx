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oyecto" id="{060ba3c8-60ed-5c67-da85-3e92d224c897}">
          <p14:sldIdLst>
            <p14:sldId id="256"/>
            <p14:sldId id="257"/>
            <p14:sldId id="258"/>
            <p14:sldId id="259"/>
            <p14:sldId id="260"/>
          </p14:sldIdLst>
        </p14:section>
        <p14:section name="Planos 2D" id="{0ff4208e-952f-7a07-32b7-bbc7eaa15adc}">
          <p14:sldIdLst>
            <p14:sldId id="261"/>
            <p14:sldId id="262"/>
          </p14:sldIdLst>
        </p14:section>
        <p14:section name="Departamentos" id="{7c3ba9cd-862d-48f6-c0c5-917713a3a64c}">
          <p14:sldIdLst>
            <p14:sldId id="263"/>
            <p14:sldId id="264"/>
          </p14:sldIdLst>
        </p14:section>
        <p14:section name="Planta baja" id="{2636b1e7-a3bb-9678-1912-28be61cee6d1}">
          <p14:sldIdLst>
            <p14:sldId id="265"/>
          </p14:sldIdLst>
        </p14:section>
        <p14:section name="Sistema" id="{920072f4-7d8f-c2cf-5a7b-2f11c35891c7}">
          <p14:sldIdLst>
            <p14:sldId id="266"/>
            <p14:sldId id="267"/>
            <p14:sldId id="268"/>
          </p14:sldIdLst>
        </p14:section>
        <p14:section name="Entregables" id="{ea79cdce-8bec-096f-68e2-de5c6d0b78ad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554480"/>
            <a:ext cx="512064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49040"/>
            <a:ext cx="49377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Migdalei Yam a Tijon  |  ACE BG · Advantecnia  |  Telab International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image" Target="../media/image-3-3.jpg"/><Relationship Id="rId4" Type="http://schemas.openxmlformats.org/officeDocument/2006/relationships/image" Target="../media/image-3-4.jp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image" Target="../media/image-4-3.jpg"/><Relationship Id="rId4" Type="http://schemas.openxmlformats.org/officeDocument/2006/relationships/image" Target="../media/image-4-4.jpg"/><Relationship Id="rId5" Type="http://schemas.openxmlformats.org/officeDocument/2006/relationships/image" Target="../media/image-4-5.jp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image" Target="../media/image-5-3.jpg"/><Relationship Id="rId4" Type="http://schemas.openxmlformats.org/officeDocument/2006/relationships/image" Target="../media/image-5-4.jpg"/><Relationship Id="rId5" Type="http://schemas.openxmlformats.org/officeDocument/2006/relationships/image" Target="../media/image-5-5.jpg"/><Relationship Id="rId6" Type="http://schemas.openxmlformats.org/officeDocument/2006/relationships/image" Target="../media/image-5-6.jp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554480"/>
            <a:ext cx="512064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מגדלי ים התיכון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49040"/>
            <a:ext cx="493776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דיור מוגן · קומת קרקע + 8 קומות · 32 דירות</a:t>
            </a:r>
            <a:endParaRPr lang="en-US" sz="1600" dirty="0"/>
          </a:p>
          <a:p>
            <a:pPr rtl="1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קריאת אחות ACE BG · Advantecnia על התוכנית האמיתית של הבניין</a:t>
            </a:r>
            <a:endParaRPr lang="en-US" sz="1600" dirty="0"/>
          </a:p>
        </p:txBody>
      </p:sp>
      <p:pic>
        <p:nvPicPr>
          <p:cNvPr id="4" name="render portada" descr="/home/claude/mig2/dist/HE/renders/m3d_01_pis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0" y="1188720"/>
            <a:ext cx="6217920" cy="35661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035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Telab International · אוקטובר 2026 · מהדורה B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הפרויקט במספרים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8 קומות זהות: 2 דירות חדר שינה אחד ו-2 דירות שני חדרי שינה בכל קומה</a:t>
            </a:r>
            <a:endParaRPr lang="en-US" sz="1500" dirty="0"/>
          </a:p>
        </p:txBody>
      </p:sp>
      <p:sp>
        <p:nvSpPr>
          <p:cNvPr id="4" name="cifra 0"/>
          <p:cNvSpPr/>
          <p:nvPr/>
        </p:nvSpPr>
        <p:spPr>
          <a:xfrm>
            <a:off x="548640" y="1600200"/>
            <a:ext cx="2423160" cy="20116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73736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32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69748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דירות (4 בכל קומה)</a:t>
            </a:r>
            <a:endParaRPr lang="en-US" sz="1400" dirty="0"/>
          </a:p>
        </p:txBody>
      </p:sp>
      <p:sp>
        <p:nvSpPr>
          <p:cNvPr id="7" name="cifra 1"/>
          <p:cNvSpPr/>
          <p:nvPr/>
        </p:nvSpPr>
        <p:spPr>
          <a:xfrm>
            <a:off x="3154680" y="1600200"/>
            <a:ext cx="2423160" cy="20116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83280" y="173736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80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3383280" y="269748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פנלים קוליים עם לחצנים</a:t>
            </a:r>
            <a:endParaRPr lang="en-US" sz="1400" dirty="0"/>
          </a:p>
        </p:txBody>
      </p:sp>
      <p:sp>
        <p:nvSpPr>
          <p:cNvPr id="10" name="cifra 2"/>
          <p:cNvSpPr/>
          <p:nvPr/>
        </p:nvSpPr>
        <p:spPr>
          <a:xfrm>
            <a:off x="548640" y="3840480"/>
            <a:ext cx="2423160" cy="20116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397764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138</a:t>
            </a:r>
            <a:endParaRPr lang="en-US" sz="54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493776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משיכות חבל</a:t>
            </a:r>
            <a:endParaRPr lang="en-US" sz="1400" dirty="0"/>
          </a:p>
        </p:txBody>
      </p:sp>
      <p:sp>
        <p:nvSpPr>
          <p:cNvPr id="13" name="cifra 3"/>
          <p:cNvSpPr/>
          <p:nvPr/>
        </p:nvSpPr>
        <p:spPr>
          <a:xfrm>
            <a:off x="3154680" y="3840480"/>
            <a:ext cx="2423160" cy="20116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383280" y="397764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10</a:t>
            </a:r>
            <a:endParaRPr lang="en-US" sz="5400" dirty="0"/>
          </a:p>
        </p:txBody>
      </p:sp>
      <p:sp>
        <p:nvSpPr>
          <p:cNvPr id="15" name="Text 13"/>
          <p:cNvSpPr txBox="1"/>
          <p:nvPr/>
        </p:nvSpPr>
        <p:spPr>
          <a:xfrm>
            <a:off x="3383280" y="493776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שירותים ציבוריים עם משיכת חבל ומנורת מסדרון</a:t>
            </a:r>
            <a:endParaRPr lang="en-US" sz="1400" dirty="0"/>
          </a:p>
        </p:txBody>
      </p:sp>
      <p:pic>
        <p:nvPicPr>
          <p:cNvPr id="16" name="planta miniatura" descr="/home/claude/mig2/dist/HE/renders/plan_equipamient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806440" y="1508760"/>
            <a:ext cx="6035040" cy="48006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הציוד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תמונות ייחוס של ACE BG / Advantecnia</a:t>
            </a:r>
            <a:endParaRPr lang="en-US" sz="1500" dirty="0"/>
          </a:p>
        </p:txBody>
      </p:sp>
      <p:sp>
        <p:nvSpPr>
          <p:cNvPr id="4" name="tarjeta 0"/>
          <p:cNvSpPr/>
          <p:nvPr/>
        </p:nvSpPr>
        <p:spPr>
          <a:xfrm>
            <a:off x="548640" y="1463040"/>
            <a:ext cx="265176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5" name="foto 0" descr="/home/claude/mig2/fotos/tirado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554480"/>
            <a:ext cx="2468880" cy="2651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85800" y="43434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משיכת חבל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4892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ACE40320303W · 1.85 מ'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5440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138</a:t>
            </a:r>
            <a:endParaRPr lang="en-US" sz="2600" dirty="0"/>
          </a:p>
        </p:txBody>
      </p:sp>
      <p:sp>
        <p:nvSpPr>
          <p:cNvPr id="9" name="tarjeta 1"/>
          <p:cNvSpPr/>
          <p:nvPr/>
        </p:nvSpPr>
        <p:spPr>
          <a:xfrm>
            <a:off x="3383280" y="1463040"/>
            <a:ext cx="265176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10" name="foto 1" descr="/home/claude/mig2/fotos/tablet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474720" y="1554480"/>
            <a:ext cx="2468880" cy="26517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520440" y="43434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טאבלט בכניסה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3520440" y="4892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iPad / אנדרואיד · 1.40 מ'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3520440" y="5440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32</a:t>
            </a:r>
            <a:endParaRPr lang="en-US" sz="2600" dirty="0"/>
          </a:p>
        </p:txBody>
      </p:sp>
      <p:sp>
        <p:nvSpPr>
          <p:cNvPr id="14" name="tarjeta 2"/>
          <p:cNvSpPr/>
          <p:nvPr/>
        </p:nvSpPr>
        <p:spPr>
          <a:xfrm>
            <a:off x="6217920" y="1463040"/>
            <a:ext cx="265176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15" name="foto 2" descr="/home/claude/mig2/fotos/luz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309360" y="1554480"/>
            <a:ext cx="2468880" cy="26517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355080" y="43434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מנורת מסדרון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6355080" y="4892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ACE41020309 · שירותים ציבוריים</a:t>
            </a:r>
            <a:endParaRPr lang="en-US" sz="1100" dirty="0"/>
          </a:p>
        </p:txBody>
      </p:sp>
      <p:sp>
        <p:nvSpPr>
          <p:cNvPr id="18" name="Text 13"/>
          <p:cNvSpPr txBox="1"/>
          <p:nvPr/>
        </p:nvSpPr>
        <p:spPr>
          <a:xfrm>
            <a:off x="6355080" y="5440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10</a:t>
            </a:r>
            <a:endParaRPr lang="en-US" sz="2600" dirty="0"/>
          </a:p>
        </p:txBody>
      </p:sp>
      <p:sp>
        <p:nvSpPr>
          <p:cNvPr id="19" name="tarjeta 3"/>
          <p:cNvSpPr/>
          <p:nvPr/>
        </p:nvSpPr>
        <p:spPr>
          <a:xfrm>
            <a:off x="9052560" y="1463040"/>
            <a:ext cx="265176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20" name="foto 3" descr="/home/claude/mig2/fotos/panel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9144000" y="1554480"/>
            <a:ext cx="2468880" cy="265176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189720" y="43434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פנל קולי עם לחצנים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9189720" y="4892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ACE82182451 · סלון וחדרי שינה</a:t>
            </a:r>
            <a:endParaRPr lang="en-US" sz="1100" dirty="0"/>
          </a:p>
        </p:txBody>
      </p:sp>
      <p:sp>
        <p:nvSpPr>
          <p:cNvPr id="23" name="Text 17"/>
          <p:cNvSpPr txBox="1"/>
          <p:nvPr/>
        </p:nvSpPr>
        <p:spPr>
          <a:xfrm>
            <a:off x="9189720" y="5440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80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יחידה מרכזית, מרכזים וטלפון העמדה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התקנים ← LCom (רדיאלי) ← BoxCom (באס) ← מתג PoE ← שרת · הטלפון מחובר ישירות למתג ה-PoE</a:t>
            </a:r>
            <a:endParaRPr lang="en-US" sz="1500" dirty="0"/>
          </a:p>
        </p:txBody>
      </p:sp>
      <p:sp>
        <p:nvSpPr>
          <p:cNvPr id="4" name="tarjeta c0"/>
          <p:cNvSpPr/>
          <p:nvPr/>
        </p:nvSpPr>
        <p:spPr>
          <a:xfrm>
            <a:off x="457200" y="1463040"/>
            <a:ext cx="21488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5" name="foto c0" descr="/home/claude/mig2/fotos/telefon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554480"/>
            <a:ext cx="1965960" cy="16002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320040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טלפון העמדה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61188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Grandstream אנדרואיד · PoE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16052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1</a:t>
            </a:r>
            <a:endParaRPr lang="en-US" sz="2000" dirty="0"/>
          </a:p>
        </p:txBody>
      </p:sp>
      <p:sp>
        <p:nvSpPr>
          <p:cNvPr id="9" name="tarjeta c1"/>
          <p:cNvSpPr/>
          <p:nvPr/>
        </p:nvSpPr>
        <p:spPr>
          <a:xfrm>
            <a:off x="2743200" y="1463040"/>
            <a:ext cx="21488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10" name="foto c1" descr="/home/claude/mig2/fotos/servidor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834640" y="1554480"/>
            <a:ext cx="1965960" cy="16002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834640" y="320040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שרת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2834640" y="361188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Buslogic Premium · ארון קרקע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2834640" y="416052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1</a:t>
            </a:r>
            <a:endParaRPr lang="en-US" sz="2000" dirty="0"/>
          </a:p>
        </p:txBody>
      </p:sp>
      <p:sp>
        <p:nvSpPr>
          <p:cNvPr id="14" name="tarjeta c2"/>
          <p:cNvSpPr/>
          <p:nvPr/>
        </p:nvSpPr>
        <p:spPr>
          <a:xfrm>
            <a:off x="5029200" y="1463040"/>
            <a:ext cx="21488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15" name="foto c2" descr="/home/claude/mig2/fotos/switch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120640" y="1554480"/>
            <a:ext cx="1965960" cy="16002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120640" y="320040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מתג PoE 24 יציאות</a:t>
            </a:r>
            <a:endParaRPr lang="en-US" sz="1300" dirty="0"/>
          </a:p>
        </p:txBody>
      </p:sp>
      <p:sp>
        <p:nvSpPr>
          <p:cNvPr id="17" name="Text 12"/>
          <p:cNvSpPr txBox="1"/>
          <p:nvPr/>
        </p:nvSpPr>
        <p:spPr>
          <a:xfrm>
            <a:off x="5120640" y="361188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D-Link DES-1210-28P · ארונות</a:t>
            </a:r>
            <a:endParaRPr lang="en-US" sz="1000" dirty="0"/>
          </a:p>
        </p:txBody>
      </p:sp>
      <p:sp>
        <p:nvSpPr>
          <p:cNvPr id="18" name="Text 13"/>
          <p:cNvSpPr txBox="1"/>
          <p:nvPr/>
        </p:nvSpPr>
        <p:spPr>
          <a:xfrm>
            <a:off x="5120640" y="416052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9</a:t>
            </a:r>
            <a:endParaRPr lang="en-US" sz="2000" dirty="0"/>
          </a:p>
        </p:txBody>
      </p:sp>
      <p:sp>
        <p:nvSpPr>
          <p:cNvPr id="19" name="tarjeta c3"/>
          <p:cNvSpPr/>
          <p:nvPr/>
        </p:nvSpPr>
        <p:spPr>
          <a:xfrm>
            <a:off x="7315200" y="1463040"/>
            <a:ext cx="21488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20" name="foto c3" descr="/home/claude/mig2/fotos/lcom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7406640" y="1554480"/>
            <a:ext cx="1965960" cy="16002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406640" y="320040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LCom</a:t>
            </a:r>
            <a:endParaRPr lang="en-US" sz="1300" dirty="0"/>
          </a:p>
        </p:txBody>
      </p:sp>
      <p:sp>
        <p:nvSpPr>
          <p:cNvPr id="22" name="Text 16"/>
          <p:cNvSpPr txBox="1"/>
          <p:nvPr/>
        </p:nvSpPr>
        <p:spPr>
          <a:xfrm>
            <a:off x="7406640" y="361188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ACE71610003 · תקרת כל דירה</a:t>
            </a:r>
            <a:endParaRPr lang="en-US" sz="1000" dirty="0"/>
          </a:p>
        </p:txBody>
      </p:sp>
      <p:sp>
        <p:nvSpPr>
          <p:cNvPr id="23" name="Text 17"/>
          <p:cNvSpPr txBox="1"/>
          <p:nvPr/>
        </p:nvSpPr>
        <p:spPr>
          <a:xfrm>
            <a:off x="7406640" y="416052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41</a:t>
            </a:r>
            <a:endParaRPr lang="en-US" sz="2000" dirty="0"/>
          </a:p>
        </p:txBody>
      </p:sp>
      <p:sp>
        <p:nvSpPr>
          <p:cNvPr id="24" name="tarjeta c4"/>
          <p:cNvSpPr/>
          <p:nvPr/>
        </p:nvSpPr>
        <p:spPr>
          <a:xfrm>
            <a:off x="9601200" y="1463040"/>
            <a:ext cx="21488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25" name="foto c4" descr="/home/claude/mig2/fotos/boxcom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9692640" y="1554480"/>
            <a:ext cx="1965960" cy="160020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9692640" y="320040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BoxCom</a:t>
            </a:r>
            <a:endParaRPr lang="en-US" sz="1300" dirty="0"/>
          </a:p>
        </p:txBody>
      </p:sp>
      <p:sp>
        <p:nvSpPr>
          <p:cNvPr id="27" name="Text 20"/>
          <p:cNvSpPr txBox="1"/>
          <p:nvPr/>
        </p:nvSpPr>
        <p:spPr>
          <a:xfrm>
            <a:off x="9692640" y="361188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ACE70810000 · תקרה, מחבר כמה דירות</a:t>
            </a:r>
            <a:endParaRPr lang="en-US" sz="1000" dirty="0"/>
          </a:p>
        </p:txBody>
      </p:sp>
      <p:sp>
        <p:nvSpPr>
          <p:cNvPr id="28" name="Text 21"/>
          <p:cNvSpPr txBox="1"/>
          <p:nvPr/>
        </p:nvSpPr>
        <p:spPr>
          <a:xfrm>
            <a:off x="9692640" y="416052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17</a:t>
            </a:r>
            <a:endParaRPr lang="en-US" sz="2000" dirty="0"/>
          </a:p>
        </p:txBody>
      </p:sp>
      <p:sp>
        <p:nvSpPr>
          <p:cNvPr id="29" name="Text 22"/>
          <p:cNvSpPr txBox="1"/>
          <p:nvPr/>
        </p:nvSpPr>
        <p:spPr>
          <a:xfrm>
            <a:off x="457200" y="4846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טלפון העמדה: איזה צבע מוצג</a:t>
            </a:r>
            <a:endParaRPr lang="en-US" sz="1400" dirty="0"/>
          </a:p>
        </p:txBody>
      </p:sp>
      <p:sp>
        <p:nvSpPr>
          <p:cNvPr id="30" name="color tel 0"/>
          <p:cNvSpPr/>
          <p:nvPr/>
        </p:nvSpPr>
        <p:spPr>
          <a:xfrm>
            <a:off x="457200" y="5303520"/>
            <a:ext cx="457200" cy="347472"/>
          </a:xfrm>
          <a:prstGeom prst="roundRect">
            <a:avLst>
              <a:gd name="adj" fmla="val 15789"/>
            </a:avLst>
          </a:prstGeom>
          <a:solidFill>
            <a:srgbClr val="E53935"/>
          </a:solidFill>
          <a:ln w="12700">
            <a:solidFill>
              <a:srgbClr val="E53935"/>
            </a:solidFill>
            <a:prstDash val="solid"/>
          </a:ln>
        </p:spPr>
      </p:sp>
      <p:sp>
        <p:nvSpPr>
          <p:cNvPr id="31" name="Text 24"/>
          <p:cNvSpPr txBox="1"/>
          <p:nvPr/>
        </p:nvSpPr>
        <p:spPr>
          <a:xfrm>
            <a:off x="1005840" y="5303520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אזעקה (משיכה / SOS) ← אדום</a:t>
            </a:r>
            <a:endParaRPr lang="en-US" sz="1200" dirty="0"/>
          </a:p>
        </p:txBody>
      </p:sp>
      <p:sp>
        <p:nvSpPr>
          <p:cNvPr id="32" name="color tel 1"/>
          <p:cNvSpPr/>
          <p:nvPr/>
        </p:nvSpPr>
        <p:spPr>
          <a:xfrm>
            <a:off x="4251960" y="5303520"/>
            <a:ext cx="457200" cy="347472"/>
          </a:xfrm>
          <a:prstGeom prst="roundRect">
            <a:avLst>
              <a:gd name="adj" fmla="val 15789"/>
            </a:avLst>
          </a:prstGeom>
          <a:solidFill>
            <a:srgbClr val="2E9F4F"/>
          </a:solidFill>
          <a:ln w="12700">
            <a:solidFill>
              <a:srgbClr val="2E9F4F"/>
            </a:solidFill>
            <a:prstDash val="solid"/>
          </a:ln>
        </p:spPr>
      </p:sp>
      <p:sp>
        <p:nvSpPr>
          <p:cNvPr id="33" name="Text 26"/>
          <p:cNvSpPr txBox="1"/>
          <p:nvPr/>
        </p:nvSpPr>
        <p:spPr>
          <a:xfrm>
            <a:off x="4800600" y="5303520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ירוק פעם אחת: נוכחות ← ירוק</a:t>
            </a:r>
            <a:endParaRPr lang="en-US" sz="1200" dirty="0"/>
          </a:p>
        </p:txBody>
      </p:sp>
      <p:sp>
        <p:nvSpPr>
          <p:cNvPr id="34" name="color tel 2"/>
          <p:cNvSpPr/>
          <p:nvPr/>
        </p:nvSpPr>
        <p:spPr>
          <a:xfrm>
            <a:off x="8046720" y="5303520"/>
            <a:ext cx="457200" cy="347472"/>
          </a:xfrm>
          <a:prstGeom prst="roundRect">
            <a:avLst>
              <a:gd name="adj" fmla="val 15789"/>
            </a:avLst>
          </a:prstGeom>
          <a:solidFill>
            <a:srgbClr val="9AA3AD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35" name="Text 28"/>
          <p:cNvSpPr txBox="1"/>
          <p:nvPr/>
        </p:nvSpPr>
        <p:spPr>
          <a:xfrm>
            <a:off x="8595360" y="5303520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ירוק שוב ← ביטול</a:t>
            </a:r>
            <a:endParaRPr lang="en-US" sz="1200" dirty="0"/>
          </a:p>
        </p:txBody>
      </p:sp>
      <p:sp>
        <p:nvSpPr>
          <p:cNvPr id="36" name="color tel 3"/>
          <p:cNvSpPr/>
          <p:nvPr/>
        </p:nvSpPr>
        <p:spPr>
          <a:xfrm>
            <a:off x="457200" y="5806440"/>
            <a:ext cx="457200" cy="347472"/>
          </a:xfrm>
          <a:prstGeom prst="roundRect">
            <a:avLst>
              <a:gd name="adj" fmla="val 15789"/>
            </a:avLst>
          </a:prstGeom>
          <a:solidFill>
            <a:srgbClr val="1E5FD6"/>
          </a:solidFill>
          <a:ln w="12700">
            <a:solidFill>
              <a:srgbClr val="1E5FD6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1005840" y="5806440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כחול: קריאת רופא ← כחול</a:t>
            </a:r>
            <a:endParaRPr lang="en-US" sz="1200" dirty="0"/>
          </a:p>
        </p:txBody>
      </p:sp>
      <p:sp>
        <p:nvSpPr>
          <p:cNvPr id="38" name="color tel 4"/>
          <p:cNvSpPr/>
          <p:nvPr/>
        </p:nvSpPr>
        <p:spPr>
          <a:xfrm>
            <a:off x="4251960" y="5806440"/>
            <a:ext cx="457200" cy="347472"/>
          </a:xfrm>
          <a:prstGeom prst="roundRect">
            <a:avLst>
              <a:gd name="adj" fmla="val 15789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9" name="Text 32"/>
          <p:cNvSpPr txBox="1"/>
          <p:nvPr/>
        </p:nvSpPr>
        <p:spPr>
          <a:xfrm>
            <a:off x="4800600" y="5806440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שיחה קולית ← צהוב / כתום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רינדורים פוטוריאליסטיים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אור אמיתי עם החזרים (Cycles): סלון, חדר שינה, חדרי רחצה, חדר משותף ועמדת אחות</a:t>
            </a:r>
            <a:endParaRPr lang="en-US" sz="1500" dirty="0"/>
          </a:p>
        </p:txBody>
      </p:sp>
      <p:pic>
        <p:nvPicPr>
          <p:cNvPr id="4" name="render 0" descr="/home/claude/mig2/blender/out/r_livin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508760"/>
            <a:ext cx="3657600" cy="2057400"/>
          </a:xfrm>
          <a:prstGeom prst="rect">
            <a:avLst/>
          </a:prstGeom>
        </p:spPr>
      </p:pic>
      <p:pic>
        <p:nvPicPr>
          <p:cNvPr id="5" name="render 1" descr="/home/claude/mig2/blender/out/r_be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1960" y="1508760"/>
            <a:ext cx="3657600" cy="2057400"/>
          </a:xfrm>
          <a:prstGeom prst="rect">
            <a:avLst/>
          </a:prstGeom>
        </p:spPr>
      </p:pic>
      <p:pic>
        <p:nvPicPr>
          <p:cNvPr id="6" name="render 2" descr="/home/claude/mig2/blender/out/r_bath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1508760"/>
            <a:ext cx="3657600" cy="2057400"/>
          </a:xfrm>
          <a:prstGeom prst="rect">
            <a:avLst/>
          </a:prstGeom>
        </p:spPr>
      </p:pic>
      <p:pic>
        <p:nvPicPr>
          <p:cNvPr id="7" name="render 3" descr="/home/claude/mig2/blender/out/r_bath2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886200"/>
            <a:ext cx="3657600" cy="2057400"/>
          </a:xfrm>
          <a:prstGeom prst="rect">
            <a:avLst/>
          </a:prstGeom>
        </p:spPr>
      </p:pic>
      <p:pic>
        <p:nvPicPr>
          <p:cNvPr id="8" name="render 4" descr="/home/claude/mig2/blender/out/r_common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51960" y="3886200"/>
            <a:ext cx="3657600" cy="2057400"/>
          </a:xfrm>
          <a:prstGeom prst="rect">
            <a:avLst/>
          </a:prstGeom>
        </p:spPr>
      </p:pic>
      <p:pic>
        <p:nvPicPr>
          <p:cNvPr id="9" name="render 5" descr="/home/claude/mig2/blender/out/r_desk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20" y="3886200"/>
            <a:ext cx="3657600" cy="20574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קומה טיפוסית 1–8 – קריאת אחות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על התוכנית האדריכלית L5: טאבלט בכניסה, פנל קולי בסלון ובחדרי השינה, משיכות חבל בכל חדרי הרחצה</a:t>
            </a:r>
            <a:endParaRPr lang="en-US" sz="1500" dirty="0"/>
          </a:p>
        </p:txBody>
      </p:sp>
      <p:pic>
        <p:nvPicPr>
          <p:cNvPr id="4" name="planta equipamiento" descr="/home/claude/mig2/dist/HE/renders/plan_equipamient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417320"/>
            <a:ext cx="11430000" cy="48920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קומה טיפוסית – חיווט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2743200" cy="384048"/>
          </a:xfrm>
          <a:prstGeom prst="roundRect">
            <a:avLst>
              <a:gd name="adj" fmla="val 19048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9601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ירוק · Cat6 רדיאלי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474720" y="960120"/>
            <a:ext cx="3291840" cy="384048"/>
          </a:xfrm>
          <a:prstGeom prst="roundRect">
            <a:avLst>
              <a:gd name="adj" fmla="val 19048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474720" y="96012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כתום · שרשרת LCom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949440" y="960120"/>
            <a:ext cx="3474720" cy="384048"/>
          </a:xfrm>
          <a:prstGeom prst="roundRect">
            <a:avLst>
              <a:gd name="adj" fmla="val 19048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949440" y="960120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אדום · רשת ועמוד</a:t>
            </a:r>
            <a:endParaRPr lang="en-US" sz="1300" dirty="0"/>
          </a:p>
        </p:txBody>
      </p:sp>
      <p:pic>
        <p:nvPicPr>
          <p:cNvPr id="9" name="planta cableado" descr="/home/claude/mig2/dist/HE/renders/plan_cablead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463040"/>
            <a:ext cx="11430000" cy="4846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בכניסה ובסלון</a:t>
            </a:r>
            <a:endParaRPr lang="en-US" sz="3000" dirty="0"/>
          </a:p>
        </p:txBody>
      </p:sp>
      <p:pic>
        <p:nvPicPr>
          <p:cNvPr id="3" name="render tablet" descr="/home/claude/mig2/blender/out/r_tab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188720"/>
            <a:ext cx="5486400" cy="2697480"/>
          </a:xfrm>
          <a:prstGeom prst="rect">
            <a:avLst/>
          </a:prstGeom>
        </p:spPr>
      </p:pic>
      <p:pic>
        <p:nvPicPr>
          <p:cNvPr id="4" name="render salón" descr="/home/claude/mig2/blender/out/r_living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8640" y="3977640"/>
            <a:ext cx="5486400" cy="2377440"/>
          </a:xfrm>
          <a:prstGeom prst="rect">
            <a:avLst/>
          </a:prstGeom>
        </p:spPr>
      </p:pic>
      <p:sp>
        <p:nvSpPr>
          <p:cNvPr id="5" name="puntos"/>
          <p:cNvSpPr txBox="1"/>
          <p:nvPr/>
        </p:nvSpPr>
        <p:spPr>
          <a:xfrm>
            <a:off x="6309360" y="1234440"/>
            <a:ext cx="5394960" cy="5120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טאבלט בכניסה לכל דירה (iPad / אנדרואיד, 1.40 מ'): קריאה ודיבור עם האחות</a:t>
            </a:r>
            <a:endParaRPr lang="en-US" sz="1500" dirty="0"/>
          </a:p>
          <a:p>
            <a:pPr rtl="1"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פנל קריאה קולי עם לחצנים ACE82182451 בסלון (1.30 מ')</a:t>
            </a:r>
            <a:endParaRPr lang="en-US" sz="1500" dirty="0"/>
          </a:p>
          <a:p>
            <a:pPr rtl="1"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LCom ACE71610003 בתקרת המבואה: מרכז את כל הדירה</a:t>
            </a:r>
            <a:endParaRPr lang="en-US" sz="1500" dirty="0"/>
          </a:p>
          <a:p>
            <a:pPr rtl="1"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דירות x01 ו-x02: חדר שינה אחד, סלון עם מטבח ו-2 חדרי רחצה</a:t>
            </a:r>
            <a:endParaRPr lang="en-US" sz="1500" dirty="0"/>
          </a:p>
          <a:p>
            <a:pPr rtl="1"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דירות x03 ו-x04: 2 חדרי שינה ו-2 חדרי רחצה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חדרי שינה וחדרי רחצה</a:t>
            </a:r>
            <a:endParaRPr lang="en-US" sz="3000" dirty="0"/>
          </a:p>
        </p:txBody>
      </p:sp>
      <p:pic>
        <p:nvPicPr>
          <p:cNvPr id="3" name="render dormitorio" descr="/home/claude/mig2/blender/out/r_bed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188720"/>
            <a:ext cx="5486400" cy="4114800"/>
          </a:xfrm>
          <a:prstGeom prst="rect">
            <a:avLst/>
          </a:prstGeom>
        </p:spPr>
      </p:pic>
      <p:pic>
        <p:nvPicPr>
          <p:cNvPr id="4" name="render baño" descr="/home/claude/mig2/blender/out/r_bath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172200" y="1188720"/>
            <a:ext cx="5486400" cy="411480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44068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פנל קולי עם לחצנים בכל חדר שינה, עם אגס קריאה ליד המיטה.</a:t>
            </a:r>
            <a:endParaRPr lang="en-US" sz="1300" dirty="0"/>
          </a:p>
        </p:txBody>
      </p:sp>
      <p:sp>
        <p:nvSpPr>
          <p:cNvPr id="6" name="Text 2"/>
          <p:cNvSpPr txBox="1"/>
          <p:nvPr/>
        </p:nvSpPr>
        <p:spPr>
          <a:xfrm>
            <a:off x="6172200" y="544068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משיכות חבל ACE40320303W באסלה ובמקלחת בכל חדרי הרחצה, בגובה 1.85 מ'.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קומת קרקע: קבלה עם עמדת אחות</a:t>
            </a:r>
            <a:endParaRPr lang="en-US" sz="3000" dirty="0"/>
          </a:p>
        </p:txBody>
      </p:sp>
      <p:pic>
        <p:nvPicPr>
          <p:cNvPr id="3" name="render PB" descr="/home/claude/mig2/blender/out/r_lobb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188720"/>
            <a:ext cx="5852160" cy="4206240"/>
          </a:xfrm>
          <a:prstGeom prst="rect">
            <a:avLst/>
          </a:prstGeom>
        </p:spPr>
      </p:pic>
      <p:pic>
        <p:nvPicPr>
          <p:cNvPr id="4" name="render desk" descr="/home/claude/mig2/blender/out/r_desk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37960" y="1188720"/>
            <a:ext cx="5120640" cy="42062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53212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עמדת אחות עם טלפון Grandstream אנדרואיד (PoE ישירות למתג): אזעקה באדום, נוכחות בירוק, רופא בכחול ושיחה קולית בכתום. מאחור, הארון עם שרת Buslogic Premium ומתג PoE D-Link. פריסה מוצעת: תעודכן לפי תוכנית הקרקע של האדריכל.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טופולוגיה: מהדירה לעמדת האחות</a:t>
            </a:r>
            <a:endParaRPr lang="en-US" sz="3000" dirty="0"/>
          </a:p>
        </p:txBody>
      </p:sp>
      <p:pic>
        <p:nvPicPr>
          <p:cNvPr id="3" name="topologia" descr="/home/claude/mig2/dist/HE/renders/topologi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097280"/>
            <a:ext cx="11430000" cy="4023360"/>
          </a:xfrm>
          <a:prstGeom prst="rect">
            <a:avLst/>
          </a:prstGeom>
        </p:spPr>
      </p:pic>
      <p:sp>
        <p:nvSpPr>
          <p:cNvPr id="4" name="paso 1"/>
          <p:cNvSpPr/>
          <p:nvPr/>
        </p:nvSpPr>
        <p:spPr>
          <a:xfrm>
            <a:off x="54864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100584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הדייר קורא מהטאבלט, מהפנל או ממשיכת החבל</a:t>
            </a:r>
            <a:endParaRPr lang="en-US" sz="1100" dirty="0"/>
          </a:p>
        </p:txBody>
      </p:sp>
      <p:sp>
        <p:nvSpPr>
          <p:cNvPr id="7" name="paso 2"/>
          <p:cNvSpPr/>
          <p:nvPr/>
        </p:nvSpPr>
        <p:spPr>
          <a:xfrm>
            <a:off x="242316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42316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288036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Cat6 רדיאלי עד ה-LCom של הדירה</a:t>
            </a:r>
            <a:endParaRPr lang="en-US" sz="1100" dirty="0"/>
          </a:p>
        </p:txBody>
      </p:sp>
      <p:sp>
        <p:nvSpPr>
          <p:cNvPr id="10" name="paso 3"/>
          <p:cNvSpPr/>
          <p:nvPr/>
        </p:nvSpPr>
        <p:spPr>
          <a:xfrm>
            <a:off x="429768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29768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475488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LCom ← LCom ← BoxCom בתקרה</a:t>
            </a:r>
            <a:endParaRPr lang="en-US" sz="1100" dirty="0"/>
          </a:p>
        </p:txBody>
      </p:sp>
      <p:sp>
        <p:nvSpPr>
          <p:cNvPr id="13" name="paso 4"/>
          <p:cNvSpPr/>
          <p:nvPr/>
        </p:nvSpPr>
        <p:spPr>
          <a:xfrm>
            <a:off x="617220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17220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662940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BoxCom ← מתג PoE D-Link בארון</a:t>
            </a:r>
            <a:endParaRPr lang="en-US" sz="1100" dirty="0"/>
          </a:p>
        </p:txBody>
      </p:sp>
      <p:sp>
        <p:nvSpPr>
          <p:cNvPr id="16" name="paso 5"/>
          <p:cNvSpPr/>
          <p:nvPr/>
        </p:nvSpPr>
        <p:spPr>
          <a:xfrm>
            <a:off x="804672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04672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850392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מתגים דרך העמוד ← שרת Buslogic בקרקע</a:t>
            </a:r>
            <a:endParaRPr lang="en-US" sz="1100" dirty="0"/>
          </a:p>
        </p:txBody>
      </p:sp>
      <p:sp>
        <p:nvSpPr>
          <p:cNvPr id="19" name="paso 6"/>
          <p:cNvSpPr/>
          <p:nvPr/>
        </p:nvSpPr>
        <p:spPr>
          <a:xfrm>
            <a:off x="992124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92124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1037844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טלפון העמדה (PoE) מציג כל קריאה בצבע שלה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חיווט בתלת-ממד והבניין</a:t>
            </a:r>
            <a:endParaRPr lang="en-US" sz="3000" dirty="0"/>
          </a:p>
        </p:txBody>
      </p:sp>
      <p:pic>
        <p:nvPicPr>
          <p:cNvPr id="3" name="render cableado" descr="/home/claude/mig2/dist/HE/renders/m3d_02_piso_cablead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097280"/>
            <a:ext cx="7315200" cy="3291840"/>
          </a:xfrm>
          <a:prstGeom prst="rect">
            <a:avLst/>
          </a:prstGeom>
        </p:spPr>
      </p:pic>
      <p:pic>
        <p:nvPicPr>
          <p:cNvPr id="4" name="render edificio" descr="/home/claude/mig2/dist/HE/renders/m3d_08_edificio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863840" y="1097280"/>
            <a:ext cx="3931920" cy="5212080"/>
          </a:xfrm>
          <a:prstGeom prst="rect">
            <a:avLst/>
          </a:prstGeom>
        </p:spPr>
      </p:pic>
      <p:sp>
        <p:nvSpPr>
          <p:cNvPr id="5" name="color 0"/>
          <p:cNvSpPr/>
          <p:nvPr/>
        </p:nvSpPr>
        <p:spPr>
          <a:xfrm>
            <a:off x="548640" y="4709160"/>
            <a:ext cx="502920" cy="109728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548640" y="48920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Cat6 רדיאלי</a:t>
            </a:r>
            <a:endParaRPr lang="en-US" sz="14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530352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כל התקן בדירה ל-LCom שלה</a:t>
            </a:r>
            <a:endParaRPr lang="en-US" sz="1200" dirty="0"/>
          </a:p>
        </p:txBody>
      </p:sp>
      <p:sp>
        <p:nvSpPr>
          <p:cNvPr id="8" name="color 1"/>
          <p:cNvSpPr/>
          <p:nvPr/>
        </p:nvSpPr>
        <p:spPr>
          <a:xfrm>
            <a:off x="3017520" y="4709160"/>
            <a:ext cx="502920" cy="109728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3017520" y="48920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Cat6 / Cat7 בשרשרת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3017520" y="530352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x01 ← x04 ← שירותים ציבוריים · x02 ← x03</a:t>
            </a:r>
            <a:endParaRPr lang="en-US" sz="1200" dirty="0"/>
          </a:p>
        </p:txBody>
      </p:sp>
      <p:sp>
        <p:nvSpPr>
          <p:cNvPr id="11" name="color 2"/>
          <p:cNvSpPr/>
          <p:nvPr/>
        </p:nvSpPr>
        <p:spPr>
          <a:xfrm>
            <a:off x="5486400" y="4709160"/>
            <a:ext cx="502920" cy="109728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486400" y="48920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Cat6A / Cat7 רשת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5486400" y="530352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BoxCom ← מתג ← עמוד ← שרת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רשימת חומרים – כל הבניין</a:t>
            </a:r>
            <a:endParaRPr lang="en-US" sz="3000" dirty="0"/>
          </a:p>
        </p:txBody>
      </p:sp>
      <p:graphicFrame>
        <p:nvGraphicFramePr>
          <p:cNvPr id="14" name="tabla equipo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6035040" cy="914400"/>
        </p:xfrm>
        <a:graphic>
          <a:graphicData uri="http://schemas.openxmlformats.org/drawingml/2006/table">
            <a:tbl>
              <a:tblPr/>
              <a:tblGrid>
                <a:gridCol w="4846320"/>
                <a:gridCol w="1188720"/>
              </a:tblGrid>
              <a:tr h="384048">
                <a:tc>
                  <a:txBody>
                    <a:bodyPr/>
                    <a:lstStyle/>
                    <a:p>
                      <a:pPr rtl="1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התקן Advantecnia / ACE BG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630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כמות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63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rtl="1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טאבלט בכניסה (iPad / אנדרואיד)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32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rtl="1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פנל קולי עם לחצנים · ACE82182451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80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rtl="1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משיכת חבל · ACE40320303W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138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rtl="1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מנורת מסדרון · ACE41020309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LCom · ACE71610003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41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rtl="1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BoxCom · ACE70810000 (תקרה)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17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rtl="1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מתג PoE · D-Link DES-1210-28P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9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rtl="1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שרת Buslogic Premium · טלפון Grandstream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 · 1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7" name="tabla cable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1234440"/>
          <a:ext cx="484632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1280160"/>
              </a:tblGrid>
              <a:tr h="384048">
                <a:tc>
                  <a:txBody>
                    <a:bodyPr/>
                    <a:lstStyle/>
                    <a:p>
                      <a:pPr rtl="1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כבל (8 קומות + קרקע + 15%)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630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מטרים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63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rtl="1" indent="0" marL="0">
                        <a:buNone/>
                      </a:pPr>
                      <a:r>
                        <a:rPr lang="en-US" sz="1300" b="1" dirty="0">
                          <a:solidFill>
                            <a:srgbClr val="1A9E4B"/>
                          </a:solidFill>
                        </a:rPr>
                        <a:t>Cat6 רדיאלי (ירוק)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1700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rtl="1" indent="0" marL="0">
                        <a:buNone/>
                      </a:pPr>
                      <a:r>
                        <a:rPr lang="en-US" sz="1300" b="1" dirty="0">
                          <a:solidFill>
                            <a:srgbClr val="E07A12"/>
                          </a:solidFill>
                        </a:rPr>
                        <a:t>Cat6 / Cat7 שרשרת LCom (כתום)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750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rtl="1" indent="0" marL="0">
                        <a:buNone/>
                      </a:pPr>
                      <a:r>
                        <a:rPr lang="en-US" sz="1300" b="1" dirty="0">
                          <a:solidFill>
                            <a:srgbClr val="D62839"/>
                          </a:solidFill>
                        </a:rPr>
                        <a:t>Cat6A / Cat7 רשת + עמוד (אדום)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130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6766560" y="301752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כמויות ראשוניות: לאמת מול Advantecnia ובאתר.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תוצרי הפרויקט</a:t>
            </a:r>
            <a:endParaRPr lang="en-US" sz="3000" dirty="0"/>
          </a:p>
        </p:txBody>
      </p:sp>
      <p:sp>
        <p:nvSpPr>
          <p:cNvPr id="3" name="entregable PDF"/>
          <p:cNvSpPr/>
          <p:nvPr/>
        </p:nvSpPr>
        <p:spPr>
          <a:xfrm>
            <a:off x="548640" y="137160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55448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PDF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920240" y="155448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12 גיליונות A1: קומה טיפוסית, רינדורים פוטוריאליסטיים, ציוד עם תמונות, סימוני הלקוח, חיווט, דירות, קומת קרקע, תרשים אנכי, חומרים ותלת-ממד</a:t>
            </a:r>
            <a:endParaRPr lang="en-US" sz="1400" dirty="0"/>
          </a:p>
        </p:txBody>
      </p:sp>
      <p:sp>
        <p:nvSpPr>
          <p:cNvPr id="6" name="entregable DXF"/>
          <p:cNvSpPr/>
          <p:nvPr/>
        </p:nvSpPr>
        <p:spPr>
          <a:xfrm>
            <a:off x="6172200" y="137160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0" y="155448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DXF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7543800" y="155448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שרטוט CAD של הקומה הטיפוסית והקרקע עם שכבות לפי מערכת; ב-AutoCAD שומרים כ-DWG</a:t>
            </a:r>
            <a:endParaRPr lang="en-US" sz="1400" dirty="0"/>
          </a:p>
        </p:txBody>
      </p:sp>
      <p:sp>
        <p:nvSpPr>
          <p:cNvPr id="9" name="entregable IFC"/>
          <p:cNvSpPr/>
          <p:nvPr/>
        </p:nvSpPr>
        <p:spPr>
          <a:xfrm>
            <a:off x="548640" y="288036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306324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IFC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1920240" y="306324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מודל BIM של הבניין (קרקע + 8 קומות) ל-Revit</a:t>
            </a:r>
            <a:endParaRPr lang="en-US" sz="1400" dirty="0"/>
          </a:p>
        </p:txBody>
      </p:sp>
      <p:sp>
        <p:nvSpPr>
          <p:cNvPr id="12" name="entregable 3D"/>
          <p:cNvSpPr/>
          <p:nvPr/>
        </p:nvSpPr>
        <p:spPr>
          <a:xfrm>
            <a:off x="6172200" y="288036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0" y="306324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3D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7543800" y="306324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צופה אינטרנטי: ציוד / חיווט, הליכה, «עבור אל…» וכפתור מסמכים לצפייה והורדה של הכול</a:t>
            </a:r>
            <a:endParaRPr lang="en-US" sz="1400" dirty="0"/>
          </a:p>
        </p:txBody>
      </p:sp>
      <p:sp>
        <p:nvSpPr>
          <p:cNvPr id="15" name="entregable MP4"/>
          <p:cNvSpPr/>
          <p:nvPr/>
        </p:nvSpPr>
        <p:spPr>
          <a:xfrm>
            <a:off x="548640" y="438912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457200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MP4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1920240" y="457200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סרטון סיור עם כיתוביות</a:t>
            </a:r>
            <a:endParaRPr lang="en-US" sz="1400" dirty="0"/>
          </a:p>
        </p:txBody>
      </p:sp>
      <p:sp>
        <p:nvSpPr>
          <p:cNvPr id="18" name="entregable PPT"/>
          <p:cNvSpPr/>
          <p:nvPr/>
        </p:nvSpPr>
        <p:spPr>
          <a:xfrm>
            <a:off x="6172200" y="438912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0" y="457200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PPT</a:t>
            </a:r>
            <a:endParaRPr lang="en-US" sz="2800" dirty="0"/>
          </a:p>
        </p:txBody>
      </p:sp>
      <p:sp>
        <p:nvSpPr>
          <p:cNvPr id="20" name="Text 18"/>
          <p:cNvSpPr txBox="1"/>
          <p:nvPr/>
        </p:nvSpPr>
        <p:spPr>
          <a:xfrm>
            <a:off x="7543800" y="457200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מצגת זו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igdalei Yam a Tijon">
  <a:themeElements>
    <a:clrScheme name="Migdalei Yam a Tijon">
      <a:dk1>
        <a:srgbClr val="1F2630"/>
      </a:dk1>
      <a:lt1>
        <a:srgbClr val="FFFFFF"/>
      </a:lt1>
      <a:dk2>
        <a:srgbClr val="4A515B"/>
      </a:dk2>
      <a:lt2>
        <a:srgbClr val="F3F5F7"/>
      </a:lt2>
      <a:accent1>
        <a:srgbClr val="D9620B"/>
      </a:accent1>
      <a:accent2>
        <a:srgbClr val="1A9E4B"/>
      </a:accent2>
      <a:accent3>
        <a:srgbClr val="E07A12"/>
      </a:accent3>
      <a:accent4>
        <a:srgbClr val="D62839"/>
      </a:accent4>
      <a:accent5>
        <a:srgbClr val="2B6CB0"/>
      </a:accent5>
      <a:accent6>
        <a:srgbClr val="6B7A90"/>
      </a:accent6>
      <a:hlink>
        <a:srgbClr val="2B6CB0"/>
      </a:hlink>
      <a:folHlink>
        <a:srgbClr val="6B7480"/>
      </a:folHlink>
    </a:clrScheme>
    <a:fontScheme name="Migdalei Yam a Tijon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Telab International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Migdalei Yam a Tijon – Vivienda tutelada – Llamada de enfermería</dc:title>
  <dc:subject>PptxGenJS Presentation</dc:subject>
  <dc:creator>Telab International</dc:creator>
  <cp:lastModifiedBy>Telab International</cp:lastModifiedBy>
  <cp:revision>1</cp:revision>
  <dcterms:created xsi:type="dcterms:W3CDTF">2026-10-21T13:43:52Z</dcterms:created>
  <dcterms:modified xsi:type="dcterms:W3CDTF">2026-10-21T13:43:52Z</dcterms:modified>
</cp:coreProperties>
</file>
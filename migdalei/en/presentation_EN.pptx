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" id="{e0974a4d-e0fe-1f86-9274-8765dff918c7}">
          <p14:sldIdLst>
            <p14:sldId id="256"/>
            <p14:sldId id="257"/>
            <p14:sldId id="258"/>
          </p14:sldIdLst>
        </p14:section>
        <p14:section name="Planos 2D" id="{793fa146-1a45-5b2e-60f8-9c448ae0c1f9}">
          <p14:sldIdLst>
            <p14:sldId id="259"/>
            <p14:sldId id="260"/>
          </p14:sldIdLst>
        </p14:section>
        <p14:section name="Departamentos" id="{7151e3f7-3f51-f884-faf5-cce4572dfac0}">
          <p14:sldIdLst>
            <p14:sldId id="261"/>
            <p14:sldId id="262"/>
          </p14:sldIdLst>
        </p14:section>
        <p14:section name="Planta baja" id="{dc7e9778-6af8-d570-c925-77d01ad4f2a3}">
          <p14:sldIdLst>
            <p14:sldId id="263"/>
          </p14:sldIdLst>
        </p14:section>
        <p14:section name="Sistema" id="{e58cffe9-789e-0aa0-6592-08f8b5ed00c5}">
          <p14:sldIdLst>
            <p14:sldId id="264"/>
            <p14:sldId id="265"/>
            <p14:sldId id="266"/>
          </p14:sldIdLst>
        </p14:section>
        <p14:section name="Entregables" id="{005abe12-9333-468e-0a62-66c9491b90cf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Migdalei Yam a Tijon  |  ACE BG · Advantecnia  |  Telab International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Migdalei Yam a Tijon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Assisted living · Ground floor + 8 floors · 32 apartments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ACE BG · Advantecnia nurse call on the building's real plan</a:t>
            </a:r>
            <a:endParaRPr lang="en-US" sz="1600" dirty="0"/>
          </a:p>
        </p:txBody>
      </p:sp>
      <p:pic>
        <p:nvPicPr>
          <p:cNvPr id="4" name="render portada" descr="/home/claude/mig2/dist/EN/renders/m3d_01_pi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188720"/>
            <a:ext cx="621792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Telab International · October 2026 · Rev. 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project in figures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8 identical floors: 2 one-bedroom and 2 two-bedroom apartments per floor</a:t>
            </a:r>
            <a:endParaRPr lang="en-US" sz="1500" dirty="0"/>
          </a:p>
        </p:txBody>
      </p:sp>
      <p:sp>
        <p:nvSpPr>
          <p:cNvPr id="4" name="cifra 0"/>
          <p:cNvSpPr/>
          <p:nvPr/>
        </p:nvSpPr>
        <p:spPr>
          <a:xfrm>
            <a:off x="54864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apartments (4 per floor)</a:t>
            </a:r>
            <a:endParaRPr lang="en-US" sz="1400" dirty="0"/>
          </a:p>
        </p:txBody>
      </p:sp>
      <p:sp>
        <p:nvSpPr>
          <p:cNvPr id="7" name="cifra 1"/>
          <p:cNvSpPr/>
          <p:nvPr/>
        </p:nvSpPr>
        <p:spPr>
          <a:xfrm>
            <a:off x="315468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80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voice panels with buttons</a:t>
            </a:r>
            <a:endParaRPr lang="en-US" sz="1400" dirty="0"/>
          </a:p>
        </p:txBody>
      </p:sp>
      <p:sp>
        <p:nvSpPr>
          <p:cNvPr id="10" name="cifra 2"/>
          <p:cNvSpPr/>
          <p:nvPr/>
        </p:nvSpPr>
        <p:spPr>
          <a:xfrm>
            <a:off x="54864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138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pull-cords</a:t>
            </a:r>
            <a:endParaRPr lang="en-US" sz="1400" dirty="0"/>
          </a:p>
        </p:txBody>
      </p:sp>
      <p:sp>
        <p:nvSpPr>
          <p:cNvPr id="13" name="cifra 3"/>
          <p:cNvSpPr/>
          <p:nvPr/>
        </p:nvSpPr>
        <p:spPr>
          <a:xfrm>
            <a:off x="315468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public toilets with pull-cord and corridor light</a:t>
            </a:r>
            <a:endParaRPr lang="en-US" sz="1400" dirty="0"/>
          </a:p>
        </p:txBody>
      </p:sp>
      <p:pic>
        <p:nvPicPr>
          <p:cNvPr id="16" name="planta miniatura" descr="/home/claude/mig2/dist/EN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1508760"/>
            <a:ext cx="6035040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devices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Reference photos from ACE BG / Advantecnia</a:t>
            </a:r>
            <a:endParaRPr lang="en-US" sz="1500" dirty="0"/>
          </a:p>
        </p:txBody>
      </p:sp>
      <p:sp>
        <p:nvSpPr>
          <p:cNvPr id="4" name="tarjeta 0"/>
          <p:cNvSpPr/>
          <p:nvPr/>
        </p:nvSpPr>
        <p:spPr>
          <a:xfrm>
            <a:off x="54864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0" descr="/home/claude/mig2/fotos/tirad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2468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Pull-cord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ACE40320303W · 1.85 m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138</a:t>
            </a:r>
            <a:endParaRPr lang="en-US" sz="2600" dirty="0"/>
          </a:p>
        </p:txBody>
      </p:sp>
      <p:sp>
        <p:nvSpPr>
          <p:cNvPr id="9" name="tarjeta 1"/>
          <p:cNvSpPr/>
          <p:nvPr/>
        </p:nvSpPr>
        <p:spPr>
          <a:xfrm>
            <a:off x="338328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1" descr="/home/claude/mig2/fotos/table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74720" y="1554480"/>
            <a:ext cx="2468880" cy="2651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Door tablet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iPad / Android · 1.40 m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32</a:t>
            </a:r>
            <a:endParaRPr lang="en-US" sz="2600" dirty="0"/>
          </a:p>
        </p:txBody>
      </p:sp>
      <p:sp>
        <p:nvSpPr>
          <p:cNvPr id="14" name="tarjeta 2"/>
          <p:cNvSpPr/>
          <p:nvPr/>
        </p:nvSpPr>
        <p:spPr>
          <a:xfrm>
            <a:off x="621792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2" descr="/home/claude/mig2/fotos/luz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9360" y="1554480"/>
            <a:ext cx="2468880" cy="2651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Corridor light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ACE41020309 · public toilets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</a:t>
            </a:r>
            <a:endParaRPr lang="en-US" sz="2600" dirty="0"/>
          </a:p>
        </p:txBody>
      </p:sp>
      <p:sp>
        <p:nvSpPr>
          <p:cNvPr id="19" name="tarjeta 3"/>
          <p:cNvSpPr/>
          <p:nvPr/>
        </p:nvSpPr>
        <p:spPr>
          <a:xfrm>
            <a:off x="905256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3" descr="/home/claude/mig2/fotos/pane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44000" y="1554480"/>
            <a:ext cx="2468880" cy="2651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972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Voice panel with buttons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918972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ACE82182451 · living room and bedrooms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918972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80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Typical floor F1–F8 – nurse call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 architectural plan L5: tablet at the door, voice panel in living room and bedrooms, pull-cords in every bathroom</a:t>
            </a:r>
            <a:endParaRPr lang="en-US" sz="1500" dirty="0"/>
          </a:p>
        </p:txBody>
      </p:sp>
      <p:pic>
        <p:nvPicPr>
          <p:cNvPr id="4" name="planta equipamiento" descr="/home/claude/mig2/dist/EN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Typical floor – wiring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Green · Cat6 radial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96012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960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Orange · LCom chain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960120"/>
            <a:ext cx="347472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Red · network and riser</a:t>
            </a:r>
            <a:endParaRPr lang="en-US" sz="1300" dirty="0"/>
          </a:p>
        </p:txBody>
      </p:sp>
      <p:pic>
        <p:nvPicPr>
          <p:cNvPr id="9" name="planta cableado" descr="/home/claude/mig2/dist/EN/renders/plan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1143000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At the door and in the living room</a:t>
            </a:r>
            <a:endParaRPr lang="en-US" sz="3000" dirty="0"/>
          </a:p>
        </p:txBody>
      </p:sp>
      <p:pic>
        <p:nvPicPr>
          <p:cNvPr id="3" name="render tablet" descr="/home/claude/mig2/dist/EN/renders/m3d_04_tabl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2697480"/>
          </a:xfrm>
          <a:prstGeom prst="rect">
            <a:avLst/>
          </a:prstGeom>
        </p:spPr>
      </p:pic>
      <p:pic>
        <p:nvPicPr>
          <p:cNvPr id="4" name="render salón" descr="/home/claude/mig2/dist/EN/renders/m3d_03_sal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977640"/>
            <a:ext cx="5486400" cy="2377440"/>
          </a:xfrm>
          <a:prstGeom prst="rect">
            <a:avLst/>
          </a:prstGeom>
        </p:spPr>
      </p:pic>
      <p:sp>
        <p:nvSpPr>
          <p:cNvPr id="5" name="puntos"/>
          <p:cNvSpPr txBox="1"/>
          <p:nvPr/>
        </p:nvSpPr>
        <p:spPr>
          <a:xfrm>
            <a:off x="6309360" y="1234440"/>
            <a:ext cx="539496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Tablet at the door of each apartment (iPad / Android, 1.40 m): call and talk to the nurse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Voice call panel with buttons ACE82182451 in the living room (1.30 m)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LCom ACE71610003 in the hall ceiling: hub for the whole apartment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Apartments x01 and x02: 1 bedroom, living room with kitchen and 2 bathrooms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Apartments x03 and x04: 2 bedrooms and 2 bathrooms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Bedrooms and bathrooms</a:t>
            </a:r>
            <a:endParaRPr lang="en-US" sz="3000" dirty="0"/>
          </a:p>
        </p:txBody>
      </p:sp>
      <p:pic>
        <p:nvPicPr>
          <p:cNvPr id="3" name="render dormitorio" descr="/home/claude/mig2/dist/EN/renders/m3d_05_dormito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4114800"/>
          </a:xfrm>
          <a:prstGeom prst="rect">
            <a:avLst/>
          </a:prstGeom>
        </p:spPr>
      </p:pic>
      <p:pic>
        <p:nvPicPr>
          <p:cNvPr id="4" name="render baño" descr="/home/claude/mig2/dist/EN/renders/m3d_06_ban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486400" cy="411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Voice panel with buttons in each bedroom, with a call pear next to the bed.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Pull-cords ACE40320303W at the toilet and shower of every bathroom, at 1.85 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Ground floor: reception with nurse desk</a:t>
            </a:r>
            <a:endParaRPr lang="en-US" sz="3000" dirty="0"/>
          </a:p>
        </p:txBody>
      </p:sp>
      <p:pic>
        <p:nvPicPr>
          <p:cNvPr id="3" name="render PB" descr="/home/claude/mig2/dist/EN/renders/m3d_09_p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852160" cy="4206240"/>
          </a:xfrm>
          <a:prstGeom prst="rect">
            <a:avLst/>
          </a:prstGeom>
        </p:spPr>
      </p:pic>
      <p:pic>
        <p:nvPicPr>
          <p:cNvPr id="4" name="render desk" descr="/home/claude/mig2/dist/EN/renders/m3d_07_des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188720"/>
            <a:ext cx="5120640" cy="4206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Nurse desk at reception with Android desk phone ACE52190200. Behind it, the office with server ACE51010103. 2 public toilets with pull-cord and corridor light. Proposed layout: to be adjusted with the architect's GF plan.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Topology: from the apartment to the nurse desk</a:t>
            </a:r>
            <a:endParaRPr lang="en-US" sz="3000" dirty="0"/>
          </a:p>
        </p:txBody>
      </p:sp>
      <p:pic>
        <p:nvPicPr>
          <p:cNvPr id="3" name="topologia" descr="/home/claude/mig2/dist/EN/renders/topolog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11430000" cy="402336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resident calls from the tablet, the panel or the pull-cord</a:t>
            </a:r>
            <a:endParaRPr lang="en-US" sz="1100" dirty="0"/>
          </a:p>
        </p:txBody>
      </p:sp>
      <p:sp>
        <p:nvSpPr>
          <p:cNvPr id="7" name="paso 2"/>
          <p:cNvSpPr/>
          <p:nvPr/>
        </p:nvSpPr>
        <p:spPr>
          <a:xfrm>
            <a:off x="242316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Cat6 radial to the apartment LCom</a:t>
            </a:r>
            <a:endParaRPr lang="en-US" sz="1100" dirty="0"/>
          </a:p>
        </p:txBody>
      </p:sp>
      <p:sp>
        <p:nvSpPr>
          <p:cNvPr id="10" name="paso 3"/>
          <p:cNvSpPr/>
          <p:nvPr/>
        </p:nvSpPr>
        <p:spPr>
          <a:xfrm>
            <a:off x="429768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LCom → LCom → floor rack Buscomm</a:t>
            </a:r>
            <a:endParaRPr lang="en-US" sz="1100" dirty="0"/>
          </a:p>
        </p:txBody>
      </p:sp>
      <p:sp>
        <p:nvSpPr>
          <p:cNvPr id="13" name="paso 4"/>
          <p:cNvSpPr/>
          <p:nvPr/>
        </p:nvSpPr>
        <p:spPr>
          <a:xfrm>
            <a:off x="617220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7220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Buscomm → floor PoE switch</a:t>
            </a:r>
            <a:endParaRPr lang="en-US" sz="1100" dirty="0"/>
          </a:p>
        </p:txBody>
      </p:sp>
      <p:sp>
        <p:nvSpPr>
          <p:cNvPr id="16" name="paso 5"/>
          <p:cNvSpPr/>
          <p:nvPr/>
        </p:nvSpPr>
        <p:spPr>
          <a:xfrm>
            <a:off x="804672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Switches via the riser → GF server</a:t>
            </a:r>
            <a:endParaRPr lang="en-US" sz="1100" dirty="0"/>
          </a:p>
        </p:txBody>
      </p:sp>
      <p:sp>
        <p:nvSpPr>
          <p:cNvPr id="19" name="paso 6"/>
          <p:cNvSpPr/>
          <p:nvPr/>
        </p:nvSpPr>
        <p:spPr>
          <a:xfrm>
            <a:off x="99212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9212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3784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Voice call on the desk Android phone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3D wiring and building</a:t>
            </a:r>
            <a:endParaRPr lang="en-US" sz="3000" dirty="0"/>
          </a:p>
        </p:txBody>
      </p:sp>
      <p:pic>
        <p:nvPicPr>
          <p:cNvPr id="3" name="render cableado" descr="/home/claude/mig2/dist/EN/renders/m3d_02_piso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7315200" cy="3291840"/>
          </a:xfrm>
          <a:prstGeom prst="rect">
            <a:avLst/>
          </a:prstGeom>
        </p:spPr>
      </p:pic>
      <p:pic>
        <p:nvPicPr>
          <p:cNvPr id="4" name="render edificio" descr="/home/claude/mig2/dist/EN/renders/m3d_08_edific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1097280"/>
            <a:ext cx="3931920" cy="5212080"/>
          </a:xfrm>
          <a:prstGeom prst="rect">
            <a:avLst/>
          </a:prstGeom>
        </p:spPr>
      </p:pic>
      <p:sp>
        <p:nvSpPr>
          <p:cNvPr id="5" name="color 0"/>
          <p:cNvSpPr/>
          <p:nvPr/>
        </p:nvSpPr>
        <p:spPr>
          <a:xfrm>
            <a:off x="548640" y="4709160"/>
            <a:ext cx="5029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radial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Each apartment device to its LCom</a:t>
            </a:r>
            <a:endParaRPr lang="en-US" sz="1200" dirty="0"/>
          </a:p>
        </p:txBody>
      </p:sp>
      <p:sp>
        <p:nvSpPr>
          <p:cNvPr id="8" name="color 1"/>
          <p:cNvSpPr/>
          <p:nvPr/>
        </p:nvSpPr>
        <p:spPr>
          <a:xfrm>
            <a:off x="3017520" y="4709160"/>
            <a:ext cx="502920" cy="10972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01752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/ Cat7 chained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01752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x01 → x04 → public toilet · x02 → x03</a:t>
            </a:r>
            <a:endParaRPr lang="en-US" sz="1200" dirty="0"/>
          </a:p>
        </p:txBody>
      </p:sp>
      <p:sp>
        <p:nvSpPr>
          <p:cNvPr id="11" name="color 2"/>
          <p:cNvSpPr/>
          <p:nvPr/>
        </p:nvSpPr>
        <p:spPr>
          <a:xfrm>
            <a:off x="5486400" y="4709160"/>
            <a:ext cx="502920" cy="10972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Cat6A / Cat7 network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Buscomm → switch → riser → server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Bill of materials – whole building</a:t>
            </a:r>
            <a:endParaRPr lang="en-US" sz="3000" dirty="0"/>
          </a:p>
        </p:txBody>
      </p:sp>
      <p:graphicFrame>
        <p:nvGraphicFramePr>
          <p:cNvPr id="12" name="tabla equip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Advantecnia / ACE BG device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Qty.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Door tablet (iPad / Android)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Voice panel with buttons · ACE82182451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Pull-cord · ACE40320303W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Corridor light · ACE41020309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LCom · ACE71610003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41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Buscomm · ACE70810000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PoE switch · ACEUCM6302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Server ACE51010103 · Android phone ACE52190200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 · 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a cab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34440"/>
          <a:ext cx="48463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Cable (8 floors + GF + 15 %)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Metres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9E4B"/>
                          </a:solidFill>
                        </a:rPr>
                        <a:t>Cat6 radial (green)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07A12"/>
                          </a:solidFill>
                        </a:rPr>
                        <a:t>Cat6 / Cat7 LCom chain (orange)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780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62839"/>
                          </a:solidFill>
                        </a:rPr>
                        <a:t>Cat6A / Cat7 network + riser (red)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Preliminary quantities: validate with Advantecnia and on site.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Project deliverables</a:t>
            </a:r>
            <a:endParaRPr lang="en-US" sz="3000" dirty="0"/>
          </a:p>
        </p:txBody>
      </p:sp>
      <p:sp>
        <p:nvSpPr>
          <p:cNvPr id="3" name="entregable PDF"/>
          <p:cNvSpPr/>
          <p:nvPr/>
        </p:nvSpPr>
        <p:spPr>
          <a:xfrm>
            <a:off x="54864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PDF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11 A1 sheets: typical floor, devices with photos, client marks, wiring, apartments, ground floor, riser diagram, materials and 3D</a:t>
            </a:r>
            <a:endParaRPr lang="en-US" sz="1400" dirty="0"/>
          </a:p>
        </p:txBody>
      </p:sp>
      <p:sp>
        <p:nvSpPr>
          <p:cNvPr id="6" name="entregable DXF"/>
          <p:cNvSpPr/>
          <p:nvPr/>
        </p:nvSpPr>
        <p:spPr>
          <a:xfrm>
            <a:off x="617220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DXF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 drawing of the typical floor and GF with layers per system; save as DWG in AutoCAD</a:t>
            </a:r>
            <a:endParaRPr lang="en-US" sz="1400" dirty="0"/>
          </a:p>
        </p:txBody>
      </p:sp>
      <p:sp>
        <p:nvSpPr>
          <p:cNvPr id="9" name="entregable IFC"/>
          <p:cNvSpPr/>
          <p:nvPr/>
        </p:nvSpPr>
        <p:spPr>
          <a:xfrm>
            <a:off x="54864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IFC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BIM model of the building (GF + 8 floors) for Revit</a:t>
            </a:r>
            <a:endParaRPr lang="en-US" sz="1400" dirty="0"/>
          </a:p>
        </p:txBody>
      </p:sp>
      <p:sp>
        <p:nvSpPr>
          <p:cNvPr id="12" name="entregable 3D"/>
          <p:cNvSpPr/>
          <p:nvPr/>
        </p:nvSpPr>
        <p:spPr>
          <a:xfrm>
            <a:off x="617220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Web viewer: equipment / wiring, Walk, Go to… and a Documents button to view and download everything</a:t>
            </a:r>
            <a:endParaRPr lang="en-US" sz="1400" dirty="0"/>
          </a:p>
        </p:txBody>
      </p:sp>
      <p:sp>
        <p:nvSpPr>
          <p:cNvPr id="15" name="entregable MP4"/>
          <p:cNvSpPr/>
          <p:nvPr/>
        </p:nvSpPr>
        <p:spPr>
          <a:xfrm>
            <a:off x="54864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MP4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Walkthrough video with captions</a:t>
            </a:r>
            <a:endParaRPr lang="en-US" sz="1400" dirty="0"/>
          </a:p>
        </p:txBody>
      </p:sp>
      <p:sp>
        <p:nvSpPr>
          <p:cNvPr id="18" name="entregable PPT"/>
          <p:cNvSpPr/>
          <p:nvPr/>
        </p:nvSpPr>
        <p:spPr>
          <a:xfrm>
            <a:off x="617220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PPT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This presentation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gdalei Yam a Tijon">
  <a:themeElements>
    <a:clrScheme name="Migdalei Yam a Tijon">
      <a:dk1>
        <a:srgbClr val="1F2630"/>
      </a:dk1>
      <a:lt1>
        <a:srgbClr val="FFFFFF"/>
      </a:lt1>
      <a:dk2>
        <a:srgbClr val="4A515B"/>
      </a:dk2>
      <a:lt2>
        <a:srgbClr val="F3F5F7"/>
      </a:lt2>
      <a:accent1>
        <a:srgbClr val="D9620B"/>
      </a:accent1>
      <a:accent2>
        <a:srgbClr val="1A9E4B"/>
      </a:accent2>
      <a:accent3>
        <a:srgbClr val="E07A12"/>
      </a:accent3>
      <a:accent4>
        <a:srgbClr val="D62839"/>
      </a:accent4>
      <a:accent5>
        <a:srgbClr val="2B6CB0"/>
      </a:accent5>
      <a:accent6>
        <a:srgbClr val="6B7A90"/>
      </a:accent6>
      <a:hlink>
        <a:srgbClr val="2B6CB0"/>
      </a:hlink>
      <a:folHlink>
        <a:srgbClr val="6B7480"/>
      </a:folHlink>
    </a:clrScheme>
    <a:fontScheme name="Migdalei Yam a Tij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Telab International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Migdalei Yam a Tijon – Vivienda tutelada – Llamada de enfermería</dc:title>
  <dc:subject>PptxGenJS Presentation</dc:subject>
  <dc:creator>Telab International</dc:creator>
  <cp:lastModifiedBy>Telab International</cp:lastModifiedBy>
  <cp:revision>1</cp:revision>
  <dcterms:created xsi:type="dcterms:W3CDTF">2026-10-15T17:21:40Z</dcterms:created>
  <dcterms:modified xsi:type="dcterms:W3CDTF">2026-10-15T17:21:40Z</dcterms:modified>
</cp:coreProperties>
</file>
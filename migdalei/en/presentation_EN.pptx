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yecto" id="{746c2da1-998e-886d-3b0b-55b5b89ab2f8}">
          <p14:sldIdLst>
            <p14:sldId id="256"/>
            <p14:sldId id="257"/>
            <p14:sldId id="258"/>
            <p14:sldId id="259"/>
            <p14:sldId id="260"/>
          </p14:sldIdLst>
        </p14:section>
        <p14:section name="Planos 2D" id="{9a3c5bb1-0beb-2fa9-53b0-a40a1da5a787}">
          <p14:sldIdLst>
            <p14:sldId id="261"/>
            <p14:sldId id="262"/>
          </p14:sldIdLst>
        </p14:section>
        <p14:section name="Departamentos" id="{3b5a15ed-87b8-a2ad-22a1-612def68538c}">
          <p14:sldIdLst>
            <p14:sldId id="263"/>
            <p14:sldId id="264"/>
          </p14:sldIdLst>
        </p14:section>
        <p14:section name="Planta baja" id="{97462890-da85-cd01-6054-e2c441d517eb}">
          <p14:sldIdLst>
            <p14:sldId id="265"/>
          </p14:sldIdLst>
        </p14:section>
        <p14:section name="Sistema" id="{64e138c4-fdfc-c3f2-2eb6-e9e3871004d2}">
          <p14:sldIdLst>
            <p14:sldId id="266"/>
            <p14:sldId id="267"/>
            <p14:sldId id="268"/>
          </p14:sldIdLst>
        </p14:section>
        <p14:section name="Entregables" id="{72080b87-d53d-b1a7-810a-8fbd0e00009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Migdalei Yam a Tijon  |  ACE BG · Advantecnia  |  Telab International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Migdalei Yam a Tijon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4904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Assisted living · Ground floor + 8 floors · 32 apartments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 BG · Advantecnia nurse call on the building's real plan</a:t>
            </a:r>
            <a:endParaRPr lang="en-US" sz="1600" dirty="0"/>
          </a:p>
        </p:txBody>
      </p:sp>
      <p:pic>
        <p:nvPicPr>
          <p:cNvPr id="4" name="render portada" descr="/home/claude/mig2/dist/EN/renders/m3d_01_pis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188720"/>
            <a:ext cx="621792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Telab International · October 2026 · Rev. B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project in figures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8 identical floors: 2 one-bedroom and 2 two-bedroom apartments per floor</a:t>
            </a:r>
            <a:endParaRPr lang="en-US" sz="1500" dirty="0"/>
          </a:p>
        </p:txBody>
      </p:sp>
      <p:sp>
        <p:nvSpPr>
          <p:cNvPr id="4" name="cifra 0"/>
          <p:cNvSpPr/>
          <p:nvPr/>
        </p:nvSpPr>
        <p:spPr>
          <a:xfrm>
            <a:off x="54864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32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apartments (4 per floor)</a:t>
            </a:r>
            <a:endParaRPr lang="en-US" sz="1400" dirty="0"/>
          </a:p>
        </p:txBody>
      </p:sp>
      <p:sp>
        <p:nvSpPr>
          <p:cNvPr id="7" name="cifra 1"/>
          <p:cNvSpPr/>
          <p:nvPr/>
        </p:nvSpPr>
        <p:spPr>
          <a:xfrm>
            <a:off x="3154680" y="160020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17373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80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69748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voice panels with buttons</a:t>
            </a:r>
            <a:endParaRPr lang="en-US" sz="1400" dirty="0"/>
          </a:p>
        </p:txBody>
      </p:sp>
      <p:sp>
        <p:nvSpPr>
          <p:cNvPr id="10" name="cifra 2"/>
          <p:cNvSpPr/>
          <p:nvPr/>
        </p:nvSpPr>
        <p:spPr>
          <a:xfrm>
            <a:off x="54864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138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pull-cords</a:t>
            </a:r>
            <a:endParaRPr lang="en-US" sz="1400" dirty="0"/>
          </a:p>
        </p:txBody>
      </p:sp>
      <p:sp>
        <p:nvSpPr>
          <p:cNvPr id="13" name="cifra 3"/>
          <p:cNvSpPr/>
          <p:nvPr/>
        </p:nvSpPr>
        <p:spPr>
          <a:xfrm>
            <a:off x="3154680" y="3840480"/>
            <a:ext cx="24231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83280" y="3977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10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3383280" y="49377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public toilets with pull-cord and corridor light</a:t>
            </a:r>
            <a:endParaRPr lang="en-US" sz="1400" dirty="0"/>
          </a:p>
        </p:txBody>
      </p:sp>
      <p:pic>
        <p:nvPicPr>
          <p:cNvPr id="16" name="planta miniatura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06440" y="1508760"/>
            <a:ext cx="6035040" cy="4800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The devices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Reference photos from ACE BG / Advantecnia</a:t>
            </a:r>
            <a:endParaRPr lang="en-US" sz="1500" dirty="0"/>
          </a:p>
        </p:txBody>
      </p:sp>
      <p:sp>
        <p:nvSpPr>
          <p:cNvPr id="4" name="tarjeta 0"/>
          <p:cNvSpPr/>
          <p:nvPr/>
        </p:nvSpPr>
        <p:spPr>
          <a:xfrm>
            <a:off x="54864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0" descr="/home/claude/mig2/fotos/tirado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468880" cy="2651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Pull-cord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ACE40320303W · 1.85 m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138</a:t>
            </a:r>
            <a:endParaRPr lang="en-US" sz="2600" dirty="0"/>
          </a:p>
        </p:txBody>
      </p:sp>
      <p:sp>
        <p:nvSpPr>
          <p:cNvPr id="9" name="tarjeta 1"/>
          <p:cNvSpPr/>
          <p:nvPr/>
        </p:nvSpPr>
        <p:spPr>
          <a:xfrm>
            <a:off x="338328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1" descr="/home/claude/mig2/fotos/table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74720" y="1554480"/>
            <a:ext cx="2468880" cy="2651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Door tablet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iPad / Android · 1.40 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352044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32</a:t>
            </a:r>
            <a:endParaRPr lang="en-US" sz="2600" dirty="0"/>
          </a:p>
        </p:txBody>
      </p:sp>
      <p:sp>
        <p:nvSpPr>
          <p:cNvPr id="14" name="tarjeta 2"/>
          <p:cNvSpPr/>
          <p:nvPr/>
        </p:nvSpPr>
        <p:spPr>
          <a:xfrm>
            <a:off x="621792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2" descr="/home/claude/mig2/fotos/luz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309360" y="1554480"/>
            <a:ext cx="2468880" cy="2651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5508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Corridor light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35508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ACE41020309 · public toilets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5508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</a:t>
            </a:r>
            <a:endParaRPr lang="en-US" sz="2600" dirty="0"/>
          </a:p>
        </p:txBody>
      </p:sp>
      <p:sp>
        <p:nvSpPr>
          <p:cNvPr id="19" name="tarjeta 3"/>
          <p:cNvSpPr/>
          <p:nvPr/>
        </p:nvSpPr>
        <p:spPr>
          <a:xfrm>
            <a:off x="9052560" y="1463040"/>
            <a:ext cx="265176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3" descr="/home/claude/mig2/fotos/pane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144000" y="1554480"/>
            <a:ext cx="2468880" cy="2651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89720" y="4343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Voice panel with buttons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9189720" y="48920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ACE82182451 · living room and bedrooms</a:t>
            </a:r>
            <a:endParaRPr lang="en-US" sz="1100" dirty="0"/>
          </a:p>
        </p:txBody>
      </p:sp>
      <p:sp>
        <p:nvSpPr>
          <p:cNvPr id="23" name="Text 17"/>
          <p:cNvSpPr txBox="1"/>
          <p:nvPr/>
        </p:nvSpPr>
        <p:spPr>
          <a:xfrm>
            <a:off x="9189720" y="5440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80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Central unit, hubs and desk phone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Devices → LCom (radial) → BoxCom (bus) → PoE switch → server · the phone goes straight to the PoE switch</a:t>
            </a:r>
            <a:endParaRPr lang="en-US" sz="1500" dirty="0"/>
          </a:p>
        </p:txBody>
      </p:sp>
      <p:sp>
        <p:nvSpPr>
          <p:cNvPr id="4" name="tarjeta c0"/>
          <p:cNvSpPr/>
          <p:nvPr/>
        </p:nvSpPr>
        <p:spPr>
          <a:xfrm>
            <a:off x="457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5" name="foto c0" descr="/home/claude/mig2/fotos/telefon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1965960" cy="1600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Desk phone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Grandstream Android · PoE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9" name="tarjeta c1"/>
          <p:cNvSpPr/>
          <p:nvPr/>
        </p:nvSpPr>
        <p:spPr>
          <a:xfrm>
            <a:off x="2743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0" name="foto c1" descr="/home/claude/mig2/fotos/servid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834640" y="1554480"/>
            <a:ext cx="1965960" cy="1600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34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Server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Buslogic Premium · GF rack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</a:t>
            </a:r>
            <a:endParaRPr lang="en-US" sz="2000" dirty="0"/>
          </a:p>
        </p:txBody>
      </p:sp>
      <p:sp>
        <p:nvSpPr>
          <p:cNvPr id="14" name="tarjeta c2"/>
          <p:cNvSpPr/>
          <p:nvPr/>
        </p:nvSpPr>
        <p:spPr>
          <a:xfrm>
            <a:off x="5029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15" name="foto c2" descr="/home/claude/mig2/fotos/switch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20640" y="1554480"/>
            <a:ext cx="1965960" cy="1600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120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24-port PoE switch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5120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D-Link DES-1210-28P · racks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5120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9</a:t>
            </a:r>
            <a:endParaRPr lang="en-US" sz="2000" dirty="0"/>
          </a:p>
        </p:txBody>
      </p:sp>
      <p:sp>
        <p:nvSpPr>
          <p:cNvPr id="19" name="tarjeta c3"/>
          <p:cNvSpPr/>
          <p:nvPr/>
        </p:nvSpPr>
        <p:spPr>
          <a:xfrm>
            <a:off x="7315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0" name="foto c3" descr="/home/claude/mig2/fotos/lcom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406640" y="1554480"/>
            <a:ext cx="1965960" cy="1600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06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LCom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7406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ACE71610003 · ceiling of each apt.</a:t>
            </a:r>
            <a:endParaRPr lang="en-US" sz="1000" dirty="0"/>
          </a:p>
        </p:txBody>
      </p:sp>
      <p:sp>
        <p:nvSpPr>
          <p:cNvPr id="23" name="Text 17"/>
          <p:cNvSpPr txBox="1"/>
          <p:nvPr/>
        </p:nvSpPr>
        <p:spPr>
          <a:xfrm>
            <a:off x="7406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41</a:t>
            </a:r>
            <a:endParaRPr lang="en-US" sz="2000" dirty="0"/>
          </a:p>
        </p:txBody>
      </p:sp>
      <p:sp>
        <p:nvSpPr>
          <p:cNvPr id="24" name="tarjeta c4"/>
          <p:cNvSpPr/>
          <p:nvPr/>
        </p:nvSpPr>
        <p:spPr>
          <a:xfrm>
            <a:off x="9601200" y="1463040"/>
            <a:ext cx="21488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6"/>
            </a:solidFill>
            <a:prstDash val="solid"/>
          </a:ln>
        </p:spPr>
      </p:sp>
      <p:pic>
        <p:nvPicPr>
          <p:cNvPr id="25" name="foto c4" descr="/home/claude/mig2/fotos/boxcom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692640" y="1554480"/>
            <a:ext cx="1965960" cy="16002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692640" y="32004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BoxCom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9692640" y="361188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ACE70810000 · ceiling, joins several apts.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9692640" y="41605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17</a:t>
            </a:r>
            <a:endParaRPr lang="en-US" sz="2000" dirty="0"/>
          </a:p>
        </p:txBody>
      </p:sp>
      <p:sp>
        <p:nvSpPr>
          <p:cNvPr id="29" name="Text 22"/>
          <p:cNvSpPr txBox="1"/>
          <p:nvPr/>
        </p:nvSpPr>
        <p:spPr>
          <a:xfrm>
            <a:off x="45720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Desk phone: which colour shows</a:t>
            </a:r>
            <a:endParaRPr lang="en-US" sz="1400" dirty="0"/>
          </a:p>
        </p:txBody>
      </p:sp>
      <p:sp>
        <p:nvSpPr>
          <p:cNvPr id="30" name="color tel 0"/>
          <p:cNvSpPr/>
          <p:nvPr/>
        </p:nvSpPr>
        <p:spPr>
          <a:xfrm>
            <a:off x="45720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0584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Alarm (pull-cord / SOS) → red</a:t>
            </a:r>
            <a:endParaRPr lang="en-US" sz="1200" dirty="0"/>
          </a:p>
        </p:txBody>
      </p:sp>
      <p:sp>
        <p:nvSpPr>
          <p:cNvPr id="32" name="color tel 1"/>
          <p:cNvSpPr/>
          <p:nvPr/>
        </p:nvSpPr>
        <p:spPr>
          <a:xfrm>
            <a:off x="425196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2E9F4F"/>
          </a:solidFill>
          <a:ln w="12700">
            <a:solidFill>
              <a:srgbClr val="2E9F4F"/>
            </a:solidFill>
            <a:prstDash val="solid"/>
          </a:ln>
        </p:spPr>
      </p:sp>
      <p:sp>
        <p:nvSpPr>
          <p:cNvPr id="33" name="Text 26"/>
          <p:cNvSpPr txBox="1"/>
          <p:nvPr/>
        </p:nvSpPr>
        <p:spPr>
          <a:xfrm>
            <a:off x="480060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once: presence → green</a:t>
            </a:r>
            <a:endParaRPr lang="en-US" sz="1200" dirty="0"/>
          </a:p>
        </p:txBody>
      </p:sp>
      <p:sp>
        <p:nvSpPr>
          <p:cNvPr id="34" name="color tel 2"/>
          <p:cNvSpPr/>
          <p:nvPr/>
        </p:nvSpPr>
        <p:spPr>
          <a:xfrm>
            <a:off x="8046720" y="530352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9AA3AD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8595360" y="53035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Green again → cancels</a:t>
            </a:r>
            <a:endParaRPr lang="en-US" sz="1200" dirty="0"/>
          </a:p>
        </p:txBody>
      </p:sp>
      <p:sp>
        <p:nvSpPr>
          <p:cNvPr id="36" name="color tel 3"/>
          <p:cNvSpPr/>
          <p:nvPr/>
        </p:nvSpPr>
        <p:spPr>
          <a:xfrm>
            <a:off x="45720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1E5FD6"/>
          </a:solidFill>
          <a:ln w="12700">
            <a:solidFill>
              <a:srgbClr val="1E5FD6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100584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Blue: doctor call → blue</a:t>
            </a:r>
            <a:endParaRPr lang="en-US" sz="1200" dirty="0"/>
          </a:p>
        </p:txBody>
      </p:sp>
      <p:sp>
        <p:nvSpPr>
          <p:cNvPr id="38" name="color tel 4"/>
          <p:cNvSpPr/>
          <p:nvPr/>
        </p:nvSpPr>
        <p:spPr>
          <a:xfrm>
            <a:off x="4251960" y="5806440"/>
            <a:ext cx="457200" cy="347472"/>
          </a:xfrm>
          <a:prstGeom prst="roundRect">
            <a:avLst>
              <a:gd name="adj" fmla="val 1578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4800600" y="58064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Voice call → yellow / orange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Photorealistic renders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Real bounced light (Cycles): living room, bedroom, bathrooms, common room and nurse desk</a:t>
            </a:r>
            <a:endParaRPr lang="en-US" sz="1500" dirty="0"/>
          </a:p>
        </p:txBody>
      </p:sp>
      <p:pic>
        <p:nvPicPr>
          <p:cNvPr id="4" name="render 0" descr="/home/claude/mig2/blender/out/r_liv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08760"/>
            <a:ext cx="3657600" cy="2057400"/>
          </a:xfrm>
          <a:prstGeom prst="rect">
            <a:avLst/>
          </a:prstGeom>
        </p:spPr>
      </p:pic>
      <p:pic>
        <p:nvPicPr>
          <p:cNvPr id="5" name="render 1" descr="/home/claude/mig2/blender/out/r_b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508760"/>
            <a:ext cx="3657600" cy="2057400"/>
          </a:xfrm>
          <a:prstGeom prst="rect">
            <a:avLst/>
          </a:prstGeom>
        </p:spPr>
      </p:pic>
      <p:pic>
        <p:nvPicPr>
          <p:cNvPr id="6" name="render 2" descr="/home/claude/mig2/blender/out/r_bath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508760"/>
            <a:ext cx="3657600" cy="2057400"/>
          </a:xfrm>
          <a:prstGeom prst="rect">
            <a:avLst/>
          </a:prstGeom>
        </p:spPr>
      </p:pic>
      <p:pic>
        <p:nvPicPr>
          <p:cNvPr id="7" name="render 3" descr="/home/claude/mig2/blender/out/r_bath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86200"/>
            <a:ext cx="3657600" cy="2057400"/>
          </a:xfrm>
          <a:prstGeom prst="rect">
            <a:avLst/>
          </a:prstGeom>
        </p:spPr>
      </p:pic>
      <p:pic>
        <p:nvPicPr>
          <p:cNvPr id="8" name="render 4" descr="/home/claude/mig2/blender/out/r_common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3886200"/>
            <a:ext cx="3657600" cy="2057400"/>
          </a:xfrm>
          <a:prstGeom prst="rect">
            <a:avLst/>
          </a:prstGeom>
        </p:spPr>
      </p:pic>
      <p:pic>
        <p:nvPicPr>
          <p:cNvPr id="9" name="render 5" descr="/home/claude/mig2/blender/out/r_desk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886200"/>
            <a:ext cx="3657600" cy="2057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F1–F8 – nurse call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architectural plan L5: tablet at the door, voice panel in living room and bedrooms, pull-cords in every bathroom</a:t>
            </a:r>
            <a:endParaRPr lang="en-US" sz="1500" dirty="0"/>
          </a:p>
        </p:txBody>
      </p:sp>
      <p:pic>
        <p:nvPicPr>
          <p:cNvPr id="4" name="planta equipamiento" descr="/home/claude/mig2/dist/EN/renders/plan_equipami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920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Typical floor – wiring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2743200" cy="384048"/>
          </a:xfrm>
          <a:prstGeom prst="roundRect">
            <a:avLst>
              <a:gd name="adj" fmla="val 1904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960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Green · Cat6 radial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474720" y="96012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74720" y="9601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Orange · LCom chain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960120"/>
            <a:ext cx="3474720" cy="384048"/>
          </a:xfrm>
          <a:prstGeom prst="roundRect">
            <a:avLst>
              <a:gd name="adj" fmla="val 1904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0" y="96012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Red · network and riser</a:t>
            </a:r>
            <a:endParaRPr lang="en-US" sz="1300" dirty="0"/>
          </a:p>
        </p:txBody>
      </p:sp>
      <p:pic>
        <p:nvPicPr>
          <p:cNvPr id="9" name="planta cableado" descr="/home/claude/mig2/dist/EN/renders/plan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63040"/>
            <a:ext cx="1143000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At the door and in the living room</a:t>
            </a:r>
            <a:endParaRPr lang="en-US" sz="3000" dirty="0"/>
          </a:p>
        </p:txBody>
      </p:sp>
      <p:pic>
        <p:nvPicPr>
          <p:cNvPr id="3" name="render tablet" descr="/home/claude/mig2/blender/out/r_ta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2697480"/>
          </a:xfrm>
          <a:prstGeom prst="rect">
            <a:avLst/>
          </a:prstGeom>
        </p:spPr>
      </p:pic>
      <p:pic>
        <p:nvPicPr>
          <p:cNvPr id="4" name="render salón" descr="/home/claude/mig2/blender/out/r_livin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977640"/>
            <a:ext cx="5486400" cy="2377440"/>
          </a:xfrm>
          <a:prstGeom prst="rect">
            <a:avLst/>
          </a:prstGeom>
        </p:spPr>
      </p:pic>
      <p:sp>
        <p:nvSpPr>
          <p:cNvPr id="5" name="puntos"/>
          <p:cNvSpPr txBox="1"/>
          <p:nvPr/>
        </p:nvSpPr>
        <p:spPr>
          <a:xfrm>
            <a:off x="6309360" y="1234440"/>
            <a:ext cx="5394960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Tablet at the door of each apartment (iPad / Android, 1.40 m): call and talk to the nurse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Voice call panel with buttons ACE82182451 in the living room (1.30 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LCom ACE71610003 in the hall ceiling: hub for the whole apartment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x01 and x02: 1 bedroom, living room with kitchen and 2 bathrooms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Apartments x03 and x04: 2 bedrooms and 2 bathrooms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Bedrooms and bathrooms</a:t>
            </a:r>
            <a:endParaRPr lang="en-US" sz="3000" dirty="0"/>
          </a:p>
        </p:txBody>
      </p:sp>
      <p:pic>
        <p:nvPicPr>
          <p:cNvPr id="3" name="render dormitorio" descr="/home/claude/mig2/blender/out/r_be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486400" cy="4114800"/>
          </a:xfrm>
          <a:prstGeom prst="rect">
            <a:avLst/>
          </a:prstGeom>
        </p:spPr>
      </p:pic>
      <p:pic>
        <p:nvPicPr>
          <p:cNvPr id="4" name="render baño" descr="/home/claude/mig2/blender/out/r_bat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188720"/>
            <a:ext cx="5486400" cy="41148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Voice panel with buttons in each bedroom, with a call pear next to the bed.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7220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Pull-cords ACE40320303W at the toilet and shower of every bathroom, at 1.85 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Ground floor: reception with nurse desk</a:t>
            </a:r>
            <a:endParaRPr lang="en-US" sz="3000" dirty="0"/>
          </a:p>
        </p:txBody>
      </p:sp>
      <p:pic>
        <p:nvPicPr>
          <p:cNvPr id="3" name="render PB" descr="/home/claude/mig2/blender/out/r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852160" cy="4206240"/>
          </a:xfrm>
          <a:prstGeom prst="rect">
            <a:avLst/>
          </a:prstGeom>
        </p:spPr>
      </p:pic>
      <p:pic>
        <p:nvPicPr>
          <p:cNvPr id="4" name="render desk" descr="/home/claude/mig2/blender/out/r_des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1188720"/>
            <a:ext cx="5120640" cy="42062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53212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Nurse desk with Grandstream Android phone (PoE straight to the switch): alarm in red, presence in green, doctor in blue and voice in orange. Behind it, the rack with the Buslogic Premium server and D-Link PoE switch. Proposed layout: to be adjusted with the architect's GF plan.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Topology: from the apartment to the nurse desk</a:t>
            </a:r>
            <a:endParaRPr lang="en-US" sz="3000" dirty="0"/>
          </a:p>
        </p:txBody>
      </p:sp>
      <p:pic>
        <p:nvPicPr>
          <p:cNvPr id="3" name="topologia" descr="/home/claude/mig2/dist/EN/renders/topologi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11430000" cy="4023360"/>
          </a:xfrm>
          <a:prstGeom prst="rect">
            <a:avLst/>
          </a:prstGeom>
        </p:spPr>
      </p:pic>
      <p:sp>
        <p:nvSpPr>
          <p:cNvPr id="4" name="paso 1"/>
          <p:cNvSpPr/>
          <p:nvPr/>
        </p:nvSpPr>
        <p:spPr>
          <a:xfrm>
            <a:off x="5486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resident calls from the tablet, the panel or the pull-cord</a:t>
            </a:r>
            <a:endParaRPr lang="en-US" sz="1100" dirty="0"/>
          </a:p>
        </p:txBody>
      </p:sp>
      <p:sp>
        <p:nvSpPr>
          <p:cNvPr id="7" name="paso 2"/>
          <p:cNvSpPr/>
          <p:nvPr/>
        </p:nvSpPr>
        <p:spPr>
          <a:xfrm>
            <a:off x="242316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Cat6 radial to the apartment LCom</a:t>
            </a:r>
            <a:endParaRPr lang="en-US" sz="1100" dirty="0"/>
          </a:p>
        </p:txBody>
      </p:sp>
      <p:sp>
        <p:nvSpPr>
          <p:cNvPr id="10" name="paso 3"/>
          <p:cNvSpPr/>
          <p:nvPr/>
        </p:nvSpPr>
        <p:spPr>
          <a:xfrm>
            <a:off x="429768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29768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LCom → LCom → BoxCom on the ceiling</a:t>
            </a:r>
            <a:endParaRPr lang="en-US" sz="1100" dirty="0"/>
          </a:p>
        </p:txBody>
      </p:sp>
      <p:sp>
        <p:nvSpPr>
          <p:cNvPr id="13" name="paso 4"/>
          <p:cNvSpPr/>
          <p:nvPr/>
        </p:nvSpPr>
        <p:spPr>
          <a:xfrm>
            <a:off x="617220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7220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BoxCom → D-Link PoE switch in the rack</a:t>
            </a:r>
            <a:endParaRPr lang="en-US" sz="1100" dirty="0"/>
          </a:p>
        </p:txBody>
      </p:sp>
      <p:sp>
        <p:nvSpPr>
          <p:cNvPr id="16" name="paso 5"/>
          <p:cNvSpPr/>
          <p:nvPr/>
        </p:nvSpPr>
        <p:spPr>
          <a:xfrm>
            <a:off x="804672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Switches via the riser → Buslogic GF server</a:t>
            </a:r>
            <a:endParaRPr lang="en-US" sz="1100" dirty="0"/>
          </a:p>
        </p:txBody>
      </p:sp>
      <p:sp>
        <p:nvSpPr>
          <p:cNvPr id="19" name="paso 6"/>
          <p:cNvSpPr/>
          <p:nvPr/>
        </p:nvSpPr>
        <p:spPr>
          <a:xfrm>
            <a:off x="9921240" y="534924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921240" y="5349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0378440" y="525780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desk phone (PoE) shows each call in its colour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3D wiring and building</a:t>
            </a:r>
            <a:endParaRPr lang="en-US" sz="3000" dirty="0"/>
          </a:p>
        </p:txBody>
      </p:sp>
      <p:pic>
        <p:nvPicPr>
          <p:cNvPr id="3" name="render cableado" descr="/home/claude/mig2/dist/EN/renders/m3d_02_piso_cablead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7315200" cy="3291840"/>
          </a:xfrm>
          <a:prstGeom prst="rect">
            <a:avLst/>
          </a:prstGeom>
        </p:spPr>
      </p:pic>
      <p:pic>
        <p:nvPicPr>
          <p:cNvPr id="4" name="render edificio" descr="/home/claude/mig2/dist/EN/renders/m3d_08_edific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097280"/>
            <a:ext cx="3931920" cy="5212080"/>
          </a:xfrm>
          <a:prstGeom prst="rect">
            <a:avLst/>
          </a:prstGeom>
        </p:spPr>
      </p:pic>
      <p:sp>
        <p:nvSpPr>
          <p:cNvPr id="5" name="color 0"/>
          <p:cNvSpPr/>
          <p:nvPr/>
        </p:nvSpPr>
        <p:spPr>
          <a:xfrm>
            <a:off x="548640" y="4709160"/>
            <a:ext cx="502920" cy="10972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4864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radial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Each apartment device to its LCom</a:t>
            </a:r>
            <a:endParaRPr lang="en-US" sz="1200" dirty="0"/>
          </a:p>
        </p:txBody>
      </p:sp>
      <p:sp>
        <p:nvSpPr>
          <p:cNvPr id="8" name="color 1"/>
          <p:cNvSpPr/>
          <p:nvPr/>
        </p:nvSpPr>
        <p:spPr>
          <a:xfrm>
            <a:off x="3017520" y="4709160"/>
            <a:ext cx="502920" cy="10972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01752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 / Cat7 chained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301752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x01 → x04 → public toilet · x02 → x03</a:t>
            </a:r>
            <a:endParaRPr lang="en-US" sz="1200" dirty="0"/>
          </a:p>
        </p:txBody>
      </p:sp>
      <p:sp>
        <p:nvSpPr>
          <p:cNvPr id="11" name="color 2"/>
          <p:cNvSpPr/>
          <p:nvPr/>
        </p:nvSpPr>
        <p:spPr>
          <a:xfrm>
            <a:off x="5486400" y="4709160"/>
            <a:ext cx="502920" cy="109728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486400" y="48920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Cat6A / Cat7 network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53035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BoxCom → switch → riser → server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Bill of materials – whole building</a:t>
            </a:r>
            <a:endParaRPr lang="en-US" sz="3000" dirty="0"/>
          </a:p>
        </p:txBody>
      </p:sp>
      <p:graphicFrame>
        <p:nvGraphicFramePr>
          <p:cNvPr id="14" name="tabla equip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Advantecnia / ACE BG device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Qty.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Door tablet (iPad / Android)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Voice panel with buttons · ACE82182451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80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Pull-cord · ACE40320303W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138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Corridor light · ACE41020309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LCom · ACE71610003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41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BoxCom · ACE70810000 (ceiling)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PoE switch · D-Link DES-1210-28P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Buslogic Premium server · Grandstream phone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 · 1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7" name="tabla cab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234440"/>
          <a:ext cx="48463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Cable (8 floors + GF + 15 %)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Metres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6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9E4B"/>
                          </a:solidFill>
                        </a:rPr>
                        <a:t>Cat6 radial (green)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1700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07A12"/>
                          </a:solidFill>
                        </a:rPr>
                        <a:t>Cat6 / Cat7 LCom chain (orange)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750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D62839"/>
                          </a:solidFill>
                        </a:rPr>
                        <a:t>Cat6A / Cat7 network + riser (red)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630"/>
                          </a:solidFill>
                        </a:rPr>
                        <a:t>130</a:t>
                      </a:r>
                      <a:endParaRPr lang="en-US" sz="13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766560" y="301752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Preliminary quantities: validate with Advantecnia and on site.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Project deliverables</a:t>
            </a:r>
            <a:endParaRPr lang="en-US" sz="3000" dirty="0"/>
          </a:p>
        </p:txBody>
      </p:sp>
      <p:sp>
        <p:nvSpPr>
          <p:cNvPr id="3" name="entregable PDF"/>
          <p:cNvSpPr/>
          <p:nvPr/>
        </p:nvSpPr>
        <p:spPr>
          <a:xfrm>
            <a:off x="54864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PDF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12 A1 sheets: typical floor, photorealistic renders, devices with photos, client marks, wiring, apartments, ground floor, riser diagram, materials and 3D</a:t>
            </a:r>
            <a:endParaRPr lang="en-US" sz="1400" dirty="0"/>
          </a:p>
        </p:txBody>
      </p:sp>
      <p:sp>
        <p:nvSpPr>
          <p:cNvPr id="6" name="entregable DXF"/>
          <p:cNvSpPr/>
          <p:nvPr/>
        </p:nvSpPr>
        <p:spPr>
          <a:xfrm>
            <a:off x="6172200" y="137160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0" y="15544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DXF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543800" y="15544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 drawing of the typical floor and GF with layers per system; save as DWG in AutoCAD</a:t>
            </a:r>
            <a:endParaRPr lang="en-US" sz="1400" dirty="0"/>
          </a:p>
        </p:txBody>
      </p:sp>
      <p:sp>
        <p:nvSpPr>
          <p:cNvPr id="9" name="entregable IFC"/>
          <p:cNvSpPr/>
          <p:nvPr/>
        </p:nvSpPr>
        <p:spPr>
          <a:xfrm>
            <a:off x="54864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IFC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BIM model of the building (GF + 8 floors) for Revit</a:t>
            </a:r>
            <a:endParaRPr lang="en-US" sz="1400" dirty="0"/>
          </a:p>
        </p:txBody>
      </p:sp>
      <p:sp>
        <p:nvSpPr>
          <p:cNvPr id="12" name="entregable 3D"/>
          <p:cNvSpPr/>
          <p:nvPr/>
        </p:nvSpPr>
        <p:spPr>
          <a:xfrm>
            <a:off x="6172200" y="288036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0632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3D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7543800" y="30632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Web viewer: equipment / wiring, Walk, Go to… and a Documents button to view and download everything</a:t>
            </a:r>
            <a:endParaRPr lang="en-US" sz="1400" dirty="0"/>
          </a:p>
        </p:txBody>
      </p:sp>
      <p:sp>
        <p:nvSpPr>
          <p:cNvPr id="15" name="entregable MP4"/>
          <p:cNvSpPr/>
          <p:nvPr/>
        </p:nvSpPr>
        <p:spPr>
          <a:xfrm>
            <a:off x="54864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MP4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Walkthrough video with captions</a:t>
            </a:r>
            <a:endParaRPr lang="en-US" sz="1400" dirty="0"/>
          </a:p>
        </p:txBody>
      </p:sp>
      <p:sp>
        <p:nvSpPr>
          <p:cNvPr id="18" name="entregable PPT"/>
          <p:cNvSpPr/>
          <p:nvPr/>
        </p:nvSpPr>
        <p:spPr>
          <a:xfrm>
            <a:off x="6172200" y="4389120"/>
            <a:ext cx="5394960" cy="1280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572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PPT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7543800" y="457200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presentation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gdalei Yam a Tijon">
  <a:themeElements>
    <a:clrScheme name="Migdalei Yam a Tijon">
      <a:dk1>
        <a:srgbClr val="1F2630"/>
      </a:dk1>
      <a:lt1>
        <a:srgbClr val="FFFFFF"/>
      </a:lt1>
      <a:dk2>
        <a:srgbClr val="4A515B"/>
      </a:dk2>
      <a:lt2>
        <a:srgbClr val="F3F5F7"/>
      </a:lt2>
      <a:accent1>
        <a:srgbClr val="D9620B"/>
      </a:accent1>
      <a:accent2>
        <a:srgbClr val="1A9E4B"/>
      </a:accent2>
      <a:accent3>
        <a:srgbClr val="E07A12"/>
      </a:accent3>
      <a:accent4>
        <a:srgbClr val="D62839"/>
      </a:accent4>
      <a:accent5>
        <a:srgbClr val="2B6CB0"/>
      </a:accent5>
      <a:accent6>
        <a:srgbClr val="6B7A90"/>
      </a:accent6>
      <a:hlink>
        <a:srgbClr val="2B6CB0"/>
      </a:hlink>
      <a:folHlink>
        <a:srgbClr val="6B7480"/>
      </a:folHlink>
    </a:clrScheme>
    <a:fontScheme name="Migdalei Yam a Tijo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Telab International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Migdalei Yam a Tijon – Vivienda tutelada – Llamada de enfermería</dc:title>
  <dc:subject>PptxGenJS Presentation</dc:subject>
  <dc:creator>Telab International</dc:creator>
  <cp:lastModifiedBy>Telab International</cp:lastModifiedBy>
  <cp:revision>1</cp:revision>
  <dcterms:created xsi:type="dcterms:W3CDTF">2026-10-20T23:53:29Z</dcterms:created>
  <dcterms:modified xsi:type="dcterms:W3CDTF">2026-10-20T23:53:29Z</dcterms:modified>
</cp:coreProperties>
</file>
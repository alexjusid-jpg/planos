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yecto" id="{85f59ccc-3710-8ab2-fe9d-f00a1fe1ae30}">
          <p14:sldIdLst>
            <p14:sldId id="256"/>
            <p14:sldId id="257"/>
            <p14:sldId id="258"/>
            <p14:sldId id="259"/>
          </p14:sldIdLst>
        </p14:section>
        <p14:section name="Planos 2D" id="{65776bd1-55b6-e3ad-8d70-f632ee6455cb}">
          <p14:sldIdLst>
            <p14:sldId id="260"/>
            <p14:sldId id="261"/>
          </p14:sldIdLst>
        </p14:section>
        <p14:section name="Departamentos" id="{bcce9387-59dc-6985-c220-f8c9f6145570}">
          <p14:sldIdLst>
            <p14:sldId id="262"/>
            <p14:sldId id="263"/>
          </p14:sldIdLst>
        </p14:section>
        <p14:section name="Planta baja" id="{ab81753d-7079-7d5c-699c-6a64d8cce0e7}">
          <p14:sldIdLst>
            <p14:sldId id="264"/>
          </p14:sldIdLst>
        </p14:section>
        <p14:section name="Sistema" id="{11cf7c97-9742-38fb-698a-1c5e75190430}">
          <p14:sldIdLst>
            <p14:sldId id="265"/>
            <p14:sldId id="266"/>
            <p14:sldId id="267"/>
          </p14:sldIdLst>
        </p14:section>
        <p14:section name="Entregables" id="{f3abd61c-6a25-f5bc-83a9-42f0402aa365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1206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49377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Migdalei Yam a Tijon  |  ACE BG · Advantecnia  |  Telab International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Migdalei Yam a Tijon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Assisted living · Ground floor + 8 floors · 32 apartments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ACE BG · Advantecnia nurse call on the building's real plan</a:t>
            </a:r>
            <a:endParaRPr lang="en-US" sz="1600" dirty="0"/>
          </a:p>
        </p:txBody>
      </p:sp>
      <p:pic>
        <p:nvPicPr>
          <p:cNvPr id="4" name="render portada" descr="/home/claude/mig2/dist/EN/renders/m3d_01_pis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188720"/>
            <a:ext cx="6217920" cy="3566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Telab International · October 2026 · Rev. 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project in figures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8 identical floors: 2 one-bedroom and 2 two-bedroom apartments per floor</a:t>
            </a:r>
            <a:endParaRPr lang="en-US" sz="1500" dirty="0"/>
          </a:p>
        </p:txBody>
      </p:sp>
      <p:sp>
        <p:nvSpPr>
          <p:cNvPr id="4" name="cifra 0"/>
          <p:cNvSpPr/>
          <p:nvPr/>
        </p:nvSpPr>
        <p:spPr>
          <a:xfrm>
            <a:off x="548640" y="1600200"/>
            <a:ext cx="2423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32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apartments (4 per floor)</a:t>
            </a:r>
            <a:endParaRPr lang="en-US" sz="1400" dirty="0"/>
          </a:p>
        </p:txBody>
      </p:sp>
      <p:sp>
        <p:nvSpPr>
          <p:cNvPr id="7" name="cifra 1"/>
          <p:cNvSpPr/>
          <p:nvPr/>
        </p:nvSpPr>
        <p:spPr>
          <a:xfrm>
            <a:off x="3154680" y="1600200"/>
            <a:ext cx="2423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80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97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voice panels with buttons</a:t>
            </a:r>
            <a:endParaRPr lang="en-US" sz="1400" dirty="0"/>
          </a:p>
        </p:txBody>
      </p:sp>
      <p:sp>
        <p:nvSpPr>
          <p:cNvPr id="10" name="cifra 2"/>
          <p:cNvSpPr/>
          <p:nvPr/>
        </p:nvSpPr>
        <p:spPr>
          <a:xfrm>
            <a:off x="548640" y="3840480"/>
            <a:ext cx="2423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138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937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pull-cords</a:t>
            </a:r>
            <a:endParaRPr lang="en-US" sz="1400" dirty="0"/>
          </a:p>
        </p:txBody>
      </p:sp>
      <p:sp>
        <p:nvSpPr>
          <p:cNvPr id="13" name="cifra 3"/>
          <p:cNvSpPr/>
          <p:nvPr/>
        </p:nvSpPr>
        <p:spPr>
          <a:xfrm>
            <a:off x="3154680" y="3840480"/>
            <a:ext cx="2423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3977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937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public toilets with pull-cord and corridor light</a:t>
            </a:r>
            <a:endParaRPr lang="en-US" sz="1400" dirty="0"/>
          </a:p>
        </p:txBody>
      </p:sp>
      <p:pic>
        <p:nvPicPr>
          <p:cNvPr id="16" name="planta miniatura" descr="/home/claude/mig2/dist/EN/renders/plan_equipamien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1508760"/>
            <a:ext cx="6035040" cy="4800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devices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Reference photos from ACE BG / Advantecnia</a:t>
            </a:r>
            <a:endParaRPr lang="en-US" sz="1500" dirty="0"/>
          </a:p>
        </p:txBody>
      </p:sp>
      <p:sp>
        <p:nvSpPr>
          <p:cNvPr id="4" name="tarjeta 0"/>
          <p:cNvSpPr/>
          <p:nvPr/>
        </p:nvSpPr>
        <p:spPr>
          <a:xfrm>
            <a:off x="548640" y="1463040"/>
            <a:ext cx="2651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5" name="foto 0" descr="/home/claude/mig2/fotos/tirado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2468880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Pull-cord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ACE40320303W · 1.85 m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440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138</a:t>
            </a:r>
            <a:endParaRPr lang="en-US" sz="2600" dirty="0"/>
          </a:p>
        </p:txBody>
      </p:sp>
      <p:sp>
        <p:nvSpPr>
          <p:cNvPr id="9" name="tarjeta 1"/>
          <p:cNvSpPr/>
          <p:nvPr/>
        </p:nvSpPr>
        <p:spPr>
          <a:xfrm>
            <a:off x="3383280" y="1463040"/>
            <a:ext cx="2651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10" name="foto 1" descr="/home/claude/mig2/fotos/table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0" y="1554480"/>
            <a:ext cx="2468880" cy="2651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Door tablet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iPad / Android · 1.40 m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5440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32</a:t>
            </a:r>
            <a:endParaRPr lang="en-US" sz="2600" dirty="0"/>
          </a:p>
        </p:txBody>
      </p:sp>
      <p:sp>
        <p:nvSpPr>
          <p:cNvPr id="14" name="tarjeta 2"/>
          <p:cNvSpPr/>
          <p:nvPr/>
        </p:nvSpPr>
        <p:spPr>
          <a:xfrm>
            <a:off x="6217920" y="1463040"/>
            <a:ext cx="2651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15" name="foto 2" descr="/home/claude/mig2/fotos/luz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09360" y="1554480"/>
            <a:ext cx="2468880" cy="2651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Corridor light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ACE41020309 · public toilets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5440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10</a:t>
            </a:r>
            <a:endParaRPr lang="en-US" sz="2600" dirty="0"/>
          </a:p>
        </p:txBody>
      </p:sp>
      <p:sp>
        <p:nvSpPr>
          <p:cNvPr id="19" name="tarjeta 3"/>
          <p:cNvSpPr/>
          <p:nvPr/>
        </p:nvSpPr>
        <p:spPr>
          <a:xfrm>
            <a:off x="9052560" y="1463040"/>
            <a:ext cx="26517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20" name="foto 3" descr="/home/claude/mig2/fotos/pane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44000" y="1554480"/>
            <a:ext cx="2468880" cy="2651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8972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Voice panel with buttons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9189720" y="4892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ACE82182451 · living room and bedrooms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9189720" y="5440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80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Central unit, hubs and desk phone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Devices → LCom (radial) → BoxCom (bus) → PoE switch → server · the phone goes straight to the PoE switch</a:t>
            </a:r>
            <a:endParaRPr lang="en-US" sz="1500" dirty="0"/>
          </a:p>
        </p:txBody>
      </p:sp>
      <p:sp>
        <p:nvSpPr>
          <p:cNvPr id="4" name="tarjeta c0"/>
          <p:cNvSpPr/>
          <p:nvPr/>
        </p:nvSpPr>
        <p:spPr>
          <a:xfrm>
            <a:off x="457200" y="1463040"/>
            <a:ext cx="2148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5" name="foto c0" descr="/home/claude/mig2/fotos/telefon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1965960" cy="1600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Desk phone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Grandstream Android · PoE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60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arjeta c1"/>
          <p:cNvSpPr/>
          <p:nvPr/>
        </p:nvSpPr>
        <p:spPr>
          <a:xfrm>
            <a:off x="2743200" y="1463040"/>
            <a:ext cx="2148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10" name="foto c1" descr="/home/claude/mig2/fotos/servido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34640" y="1554480"/>
            <a:ext cx="1965960" cy="1600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3464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Server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83464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Buslogic Premium · GF rack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834640" y="4160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14" name="tarjeta c2"/>
          <p:cNvSpPr/>
          <p:nvPr/>
        </p:nvSpPr>
        <p:spPr>
          <a:xfrm>
            <a:off x="5029200" y="1463040"/>
            <a:ext cx="2148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15" name="foto c2" descr="/home/claude/mig2/fotos/switch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20640" y="1554480"/>
            <a:ext cx="1965960" cy="1600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2064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24-port PoE switch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12064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D-Link DES-1210-28P · racks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5120640" y="4160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9</a:t>
            </a:r>
            <a:endParaRPr lang="en-US" sz="2000" dirty="0"/>
          </a:p>
        </p:txBody>
      </p:sp>
      <p:sp>
        <p:nvSpPr>
          <p:cNvPr id="19" name="tarjeta c3"/>
          <p:cNvSpPr/>
          <p:nvPr/>
        </p:nvSpPr>
        <p:spPr>
          <a:xfrm>
            <a:off x="7315200" y="1463040"/>
            <a:ext cx="2148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20" name="foto c3" descr="/home/claude/mig2/fotos/lcom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06640" y="1554480"/>
            <a:ext cx="1965960" cy="1600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LCom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ACE71610003 · ceiling of each apt.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7406640" y="4160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41</a:t>
            </a:r>
            <a:endParaRPr lang="en-US" sz="2000" dirty="0"/>
          </a:p>
        </p:txBody>
      </p:sp>
      <p:sp>
        <p:nvSpPr>
          <p:cNvPr id="24" name="tarjeta c4"/>
          <p:cNvSpPr/>
          <p:nvPr/>
        </p:nvSpPr>
        <p:spPr>
          <a:xfrm>
            <a:off x="9601200" y="1463040"/>
            <a:ext cx="2148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</p:sp>
      <p:pic>
        <p:nvPicPr>
          <p:cNvPr id="25" name="foto c4" descr="/home/claude/mig2/fotos/boxcom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92640" y="1554480"/>
            <a:ext cx="1965960" cy="1600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9264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BoxCom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9692640" y="36118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ACE70810000 · ceiling, joins several apts.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9692640" y="4160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17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Desk phone: which colour shows</a:t>
            </a:r>
            <a:endParaRPr lang="en-US" sz="1400" dirty="0"/>
          </a:p>
        </p:txBody>
      </p:sp>
      <p:sp>
        <p:nvSpPr>
          <p:cNvPr id="30" name="color tel 0"/>
          <p:cNvSpPr/>
          <p:nvPr/>
        </p:nvSpPr>
        <p:spPr>
          <a:xfrm>
            <a:off x="457200" y="530352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1005840" y="5303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Alarm (pull-cord / SOS) → red</a:t>
            </a:r>
            <a:endParaRPr lang="en-US" sz="1200" dirty="0"/>
          </a:p>
        </p:txBody>
      </p:sp>
      <p:sp>
        <p:nvSpPr>
          <p:cNvPr id="32" name="color tel 1"/>
          <p:cNvSpPr/>
          <p:nvPr/>
        </p:nvSpPr>
        <p:spPr>
          <a:xfrm>
            <a:off x="4251960" y="530352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2E9F4F"/>
          </a:solidFill>
          <a:ln w="12700">
            <a:solidFill>
              <a:srgbClr val="2E9F4F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4800600" y="5303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Green once: presence → green</a:t>
            </a:r>
            <a:endParaRPr lang="en-US" sz="1200" dirty="0"/>
          </a:p>
        </p:txBody>
      </p:sp>
      <p:sp>
        <p:nvSpPr>
          <p:cNvPr id="34" name="color tel 2"/>
          <p:cNvSpPr/>
          <p:nvPr/>
        </p:nvSpPr>
        <p:spPr>
          <a:xfrm>
            <a:off x="8046720" y="530352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595360" y="5303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Green again → cancels</a:t>
            </a:r>
            <a:endParaRPr lang="en-US" sz="1200" dirty="0"/>
          </a:p>
        </p:txBody>
      </p:sp>
      <p:sp>
        <p:nvSpPr>
          <p:cNvPr id="36" name="color tel 3"/>
          <p:cNvSpPr/>
          <p:nvPr/>
        </p:nvSpPr>
        <p:spPr>
          <a:xfrm>
            <a:off x="457200" y="58064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1E5FD6"/>
          </a:solidFill>
          <a:ln w="12700">
            <a:solidFill>
              <a:srgbClr val="1E5FD6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005840" y="5806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Blue: doctor call → blue</a:t>
            </a:r>
            <a:endParaRPr lang="en-US" sz="1200" dirty="0"/>
          </a:p>
        </p:txBody>
      </p:sp>
      <p:sp>
        <p:nvSpPr>
          <p:cNvPr id="38" name="color tel 4"/>
          <p:cNvSpPr/>
          <p:nvPr/>
        </p:nvSpPr>
        <p:spPr>
          <a:xfrm>
            <a:off x="4251960" y="5806440"/>
            <a:ext cx="457200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4800600" y="5806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Voice call → yellow / orange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Typical floor F1–F8 – nurse call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 architectural plan L5: tablet at the door, voice panel in living room and bedrooms, pull-cords in every bathroom</a:t>
            </a:r>
            <a:endParaRPr lang="en-US" sz="1500" dirty="0"/>
          </a:p>
        </p:txBody>
      </p:sp>
      <p:pic>
        <p:nvPicPr>
          <p:cNvPr id="4" name="planta equipamiento" descr="/home/claude/mig2/dist/EN/renders/plan_equipamien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1143000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Typical floor – wiring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74320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Green · Cat6 radial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960120"/>
            <a:ext cx="329184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74720" y="960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Orange · LCom chain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960120"/>
            <a:ext cx="3474720" cy="384048"/>
          </a:xfrm>
          <a:prstGeom prst="roundRect">
            <a:avLst>
              <a:gd name="adj" fmla="val 1904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0" y="960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Red · network and riser</a:t>
            </a:r>
            <a:endParaRPr lang="en-US" sz="1300" dirty="0"/>
          </a:p>
        </p:txBody>
      </p:sp>
      <p:pic>
        <p:nvPicPr>
          <p:cNvPr id="9" name="planta cableado" descr="/home/claude/mig2/dist/EN/renders/plan_cablead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63040"/>
            <a:ext cx="11430000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At the door and in the living room</a:t>
            </a:r>
            <a:endParaRPr lang="en-US" sz="3000" dirty="0"/>
          </a:p>
        </p:txBody>
      </p:sp>
      <p:pic>
        <p:nvPicPr>
          <p:cNvPr id="3" name="render tablet" descr="/home/claude/mig2/dist/EN/renders/m3d_04_tabl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5486400" cy="2697480"/>
          </a:xfrm>
          <a:prstGeom prst="rect">
            <a:avLst/>
          </a:prstGeom>
        </p:spPr>
      </p:pic>
      <p:pic>
        <p:nvPicPr>
          <p:cNvPr id="4" name="render salón" descr="/home/claude/mig2/dist/EN/renders/m3d_03_sal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3977640"/>
            <a:ext cx="5486400" cy="2377440"/>
          </a:xfrm>
          <a:prstGeom prst="rect">
            <a:avLst/>
          </a:prstGeom>
        </p:spPr>
      </p:pic>
      <p:sp>
        <p:nvSpPr>
          <p:cNvPr id="5" name="puntos"/>
          <p:cNvSpPr txBox="1"/>
          <p:nvPr/>
        </p:nvSpPr>
        <p:spPr>
          <a:xfrm>
            <a:off x="6309360" y="1234440"/>
            <a:ext cx="53949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Tablet at the door of each apartment (iPad / Android, 1.40 m): call and talk to the nurse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Voice call panel with buttons ACE82182451 in the living room (1.30 m)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LCom ACE71610003 in the hall ceiling: hub for the whole apartment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Apartments x01 and x02: 1 bedroom, living room with kitchen and 2 bathrooms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Apartments x03 and x04: 2 bedrooms and 2 bathrooms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Bedrooms and bathrooms</a:t>
            </a:r>
            <a:endParaRPr lang="en-US" sz="3000" dirty="0"/>
          </a:p>
        </p:txBody>
      </p:sp>
      <p:pic>
        <p:nvPicPr>
          <p:cNvPr id="3" name="render dormitorio" descr="/home/claude/mig2/dist/EN/renders/m3d_05_dormito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5486400" cy="4114800"/>
          </a:xfrm>
          <a:prstGeom prst="rect">
            <a:avLst/>
          </a:prstGeom>
        </p:spPr>
      </p:pic>
      <p:pic>
        <p:nvPicPr>
          <p:cNvPr id="4" name="render baño" descr="/home/claude/mig2/dist/EN/renders/m3d_06_ban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188720"/>
            <a:ext cx="5486400" cy="41148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440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Voice panel with buttons in each bedroom, with a call pear next to the bed.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172200" y="5440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Pull-cords ACE40320303W at the toilet and shower of every bathroom, at 1.85 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Ground floor: reception with nurse desk</a:t>
            </a:r>
            <a:endParaRPr lang="en-US" sz="3000" dirty="0"/>
          </a:p>
        </p:txBody>
      </p:sp>
      <p:pic>
        <p:nvPicPr>
          <p:cNvPr id="3" name="render PB" descr="/home/claude/mig2/dist/EN/renders/m3d_09_p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5852160" cy="4206240"/>
          </a:xfrm>
          <a:prstGeom prst="rect">
            <a:avLst/>
          </a:prstGeom>
        </p:spPr>
      </p:pic>
      <p:pic>
        <p:nvPicPr>
          <p:cNvPr id="4" name="render desk" descr="/home/claude/mig2/dist/EN/renders/m3d_07_des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7960" y="1188720"/>
            <a:ext cx="5120640" cy="4206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5321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Nurse desk with Grandstream Android phone (PoE straight to the switch): alarm in red, presence in green, doctor in blue and voice in orange. Behind it, the rack with the Buslogic Premium server and D-Link PoE switch. Proposed layout: to be adjusted with the architect's GF plan.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Topology: from the apartment to the nurse desk</a:t>
            </a:r>
            <a:endParaRPr lang="en-US" sz="3000" dirty="0"/>
          </a:p>
        </p:txBody>
      </p:sp>
      <p:pic>
        <p:nvPicPr>
          <p:cNvPr id="3" name="topologia" descr="/home/claude/mig2/dist/EN/renders/topolog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11430000" cy="4023360"/>
          </a:xfrm>
          <a:prstGeom prst="rect">
            <a:avLst/>
          </a:prstGeom>
        </p:spPr>
      </p:pic>
      <p:sp>
        <p:nvSpPr>
          <p:cNvPr id="4" name="paso 1"/>
          <p:cNvSpPr/>
          <p:nvPr/>
        </p:nvSpPr>
        <p:spPr>
          <a:xfrm>
            <a:off x="54864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resident calls from the tablet, the panel or the pull-cord</a:t>
            </a:r>
            <a:endParaRPr lang="en-US" sz="1100" dirty="0"/>
          </a:p>
        </p:txBody>
      </p:sp>
      <p:sp>
        <p:nvSpPr>
          <p:cNvPr id="7" name="paso 2"/>
          <p:cNvSpPr/>
          <p:nvPr/>
        </p:nvSpPr>
        <p:spPr>
          <a:xfrm>
            <a:off x="242316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42316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88036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Cat6 radial to the apartment LCom</a:t>
            </a:r>
            <a:endParaRPr lang="en-US" sz="1100" dirty="0"/>
          </a:p>
        </p:txBody>
      </p:sp>
      <p:sp>
        <p:nvSpPr>
          <p:cNvPr id="10" name="paso 3"/>
          <p:cNvSpPr/>
          <p:nvPr/>
        </p:nvSpPr>
        <p:spPr>
          <a:xfrm>
            <a:off x="429768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LCom → LCom → BoxCom on the ceiling</a:t>
            </a:r>
            <a:endParaRPr lang="en-US" sz="1100" dirty="0"/>
          </a:p>
        </p:txBody>
      </p:sp>
      <p:sp>
        <p:nvSpPr>
          <p:cNvPr id="13" name="paso 4"/>
          <p:cNvSpPr/>
          <p:nvPr/>
        </p:nvSpPr>
        <p:spPr>
          <a:xfrm>
            <a:off x="617220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BoxCom → D-Link PoE switch in the rack</a:t>
            </a:r>
            <a:endParaRPr lang="en-US" sz="1100" dirty="0"/>
          </a:p>
        </p:txBody>
      </p:sp>
      <p:sp>
        <p:nvSpPr>
          <p:cNvPr id="16" name="paso 5"/>
          <p:cNvSpPr/>
          <p:nvPr/>
        </p:nvSpPr>
        <p:spPr>
          <a:xfrm>
            <a:off x="804672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Switches via the riser → Buslogic GF server</a:t>
            </a:r>
            <a:endParaRPr lang="en-US" sz="1100" dirty="0"/>
          </a:p>
        </p:txBody>
      </p:sp>
      <p:sp>
        <p:nvSpPr>
          <p:cNvPr id="19" name="paso 6"/>
          <p:cNvSpPr/>
          <p:nvPr/>
        </p:nvSpPr>
        <p:spPr>
          <a:xfrm>
            <a:off x="9921240" y="53492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92124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378440" y="5257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The desk phone (PoE) shows each call in its colour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3D wiring and building</a:t>
            </a:r>
            <a:endParaRPr lang="en-US" sz="3000" dirty="0"/>
          </a:p>
        </p:txBody>
      </p:sp>
      <p:pic>
        <p:nvPicPr>
          <p:cNvPr id="3" name="render cableado" descr="/home/claude/mig2/dist/EN/renders/m3d_02_piso_cablead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7315200" cy="3291840"/>
          </a:xfrm>
          <a:prstGeom prst="rect">
            <a:avLst/>
          </a:prstGeom>
        </p:spPr>
      </p:pic>
      <p:pic>
        <p:nvPicPr>
          <p:cNvPr id="4" name="render edificio" descr="/home/claude/mig2/dist/EN/renders/m3d_08_edifici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097280"/>
            <a:ext cx="3931920" cy="5212080"/>
          </a:xfrm>
          <a:prstGeom prst="rect">
            <a:avLst/>
          </a:prstGeom>
        </p:spPr>
      </p:pic>
      <p:sp>
        <p:nvSpPr>
          <p:cNvPr id="5" name="color 0"/>
          <p:cNvSpPr/>
          <p:nvPr/>
        </p:nvSpPr>
        <p:spPr>
          <a:xfrm>
            <a:off x="548640" y="4709160"/>
            <a:ext cx="502920" cy="10972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Cat6 radial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apartment device to its LCom</a:t>
            </a:r>
            <a:endParaRPr lang="en-US" sz="1200" dirty="0"/>
          </a:p>
        </p:txBody>
      </p:sp>
      <p:sp>
        <p:nvSpPr>
          <p:cNvPr id="8" name="color 1"/>
          <p:cNvSpPr/>
          <p:nvPr/>
        </p:nvSpPr>
        <p:spPr>
          <a:xfrm>
            <a:off x="3017520" y="4709160"/>
            <a:ext cx="502920" cy="10972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01752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Cat6 / Cat7 chained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301752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x01 → x04 → public toilet · x02 → x03</a:t>
            </a:r>
            <a:endParaRPr lang="en-US" sz="1200" dirty="0"/>
          </a:p>
        </p:txBody>
      </p:sp>
      <p:sp>
        <p:nvSpPr>
          <p:cNvPr id="11" name="color 2"/>
          <p:cNvSpPr/>
          <p:nvPr/>
        </p:nvSpPr>
        <p:spPr>
          <a:xfrm>
            <a:off x="5486400" y="4709160"/>
            <a:ext cx="502920" cy="1097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Cat6A / Cat7 network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BoxCom → switch → riser → server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Bill of materials – whole building</a:t>
            </a:r>
            <a:endParaRPr lang="en-US" sz="3000" dirty="0"/>
          </a:p>
        </p:txBody>
      </p:sp>
      <p:graphicFrame>
        <p:nvGraphicFramePr>
          <p:cNvPr id="13" name="tabla equip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0350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Advantecnia / ACE BG device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Qty.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Door tablet (iPad / Android)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32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Voice panel with buttons · ACE82182451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80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Pull-cord · ACE40320303W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138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Corridor light · ACE41020309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LCom · ACE71610003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41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BoxCom · ACE70810000 (ceiling)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PoE switch · D-Link DES-1210-28P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Buslogic Premium server · Grandstream phone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 · 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a cab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234440"/>
          <a:ext cx="48463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Cable (8 floors + GF + 15 %)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6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9E4B"/>
                          </a:solidFill>
                        </a:rPr>
                        <a:t>Cat6 radial (green)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1700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7A12"/>
                          </a:solidFill>
                        </a:rPr>
                        <a:t>Cat6 / Cat7 LCom chain (orange)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750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62839"/>
                          </a:solidFill>
                        </a:rPr>
                        <a:t>Cat6A / Cat7 network + riser (red)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630"/>
                          </a:solidFill>
                        </a:rPr>
                        <a:t>130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766560" y="30175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Preliminary quantities: validate with Advantecnia and on site.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deliverables</a:t>
            </a:r>
            <a:endParaRPr lang="en-US" sz="3000" dirty="0"/>
          </a:p>
        </p:txBody>
      </p:sp>
      <p:sp>
        <p:nvSpPr>
          <p:cNvPr id="3" name="entregable PDF"/>
          <p:cNvSpPr/>
          <p:nvPr/>
        </p:nvSpPr>
        <p:spPr>
          <a:xfrm>
            <a:off x="548640" y="137160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PDF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554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11 A1 sheets: typical floor, devices with photos, client marks, wiring, apartments, ground floor, riser diagram, materials and 3D</a:t>
            </a:r>
            <a:endParaRPr lang="en-US" sz="1400" dirty="0"/>
          </a:p>
        </p:txBody>
      </p:sp>
      <p:sp>
        <p:nvSpPr>
          <p:cNvPr id="6" name="entregable DXF"/>
          <p:cNvSpPr/>
          <p:nvPr/>
        </p:nvSpPr>
        <p:spPr>
          <a:xfrm>
            <a:off x="6172200" y="137160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54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DXF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543800" y="1554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 drawing of the typical floor and GF with layers per system; save as DWG in AutoCAD</a:t>
            </a:r>
            <a:endParaRPr lang="en-US" sz="1400" dirty="0"/>
          </a:p>
        </p:txBody>
      </p:sp>
      <p:sp>
        <p:nvSpPr>
          <p:cNvPr id="9" name="entregable IFC"/>
          <p:cNvSpPr/>
          <p:nvPr/>
        </p:nvSpPr>
        <p:spPr>
          <a:xfrm>
            <a:off x="548640" y="288036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632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IFC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063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BIM model of the building (GF + 8 floors) for Revit</a:t>
            </a:r>
            <a:endParaRPr lang="en-US" sz="1400" dirty="0"/>
          </a:p>
        </p:txBody>
      </p:sp>
      <p:sp>
        <p:nvSpPr>
          <p:cNvPr id="12" name="entregable 3D"/>
          <p:cNvSpPr/>
          <p:nvPr/>
        </p:nvSpPr>
        <p:spPr>
          <a:xfrm>
            <a:off x="6172200" y="288036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0632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3D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3063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 viewer: equipment / wiring, Walk, Go to… and a Documents button to view and download everything</a:t>
            </a:r>
            <a:endParaRPr lang="en-US" sz="1400" dirty="0"/>
          </a:p>
        </p:txBody>
      </p:sp>
      <p:sp>
        <p:nvSpPr>
          <p:cNvPr id="15" name="entregable MP4"/>
          <p:cNvSpPr/>
          <p:nvPr/>
        </p:nvSpPr>
        <p:spPr>
          <a:xfrm>
            <a:off x="548640" y="438912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572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MP4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572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Walkthrough video with captions</a:t>
            </a:r>
            <a:endParaRPr lang="en-US" sz="1400" dirty="0"/>
          </a:p>
        </p:txBody>
      </p:sp>
      <p:sp>
        <p:nvSpPr>
          <p:cNvPr id="18" name="entregable PPT"/>
          <p:cNvSpPr/>
          <p:nvPr/>
        </p:nvSpPr>
        <p:spPr>
          <a:xfrm>
            <a:off x="6172200" y="4389120"/>
            <a:ext cx="539496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45720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PPT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4572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This presentation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gdalei Yam a Tijon">
  <a:themeElements>
    <a:clrScheme name="Migdalei Yam a Tijon">
      <a:dk1>
        <a:srgbClr val="1F2630"/>
      </a:dk1>
      <a:lt1>
        <a:srgbClr val="FFFFFF"/>
      </a:lt1>
      <a:dk2>
        <a:srgbClr val="4A515B"/>
      </a:dk2>
      <a:lt2>
        <a:srgbClr val="F3F5F7"/>
      </a:lt2>
      <a:accent1>
        <a:srgbClr val="D9620B"/>
      </a:accent1>
      <a:accent2>
        <a:srgbClr val="1A9E4B"/>
      </a:accent2>
      <a:accent3>
        <a:srgbClr val="E07A12"/>
      </a:accent3>
      <a:accent4>
        <a:srgbClr val="D62839"/>
      </a:accent4>
      <a:accent5>
        <a:srgbClr val="2B6CB0"/>
      </a:accent5>
      <a:accent6>
        <a:srgbClr val="6B7A90"/>
      </a:accent6>
      <a:hlink>
        <a:srgbClr val="2B6CB0"/>
      </a:hlink>
      <a:folHlink>
        <a:srgbClr val="6B7480"/>
      </a:folHlink>
    </a:clrScheme>
    <a:fontScheme name="Migdalei Yam a Tijo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Telab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Migdalei Yam a Tijon – Vivienda tutelada – Llamada de enfermería</dc:title>
  <dc:subject>PptxGenJS Presentation</dc:subject>
  <dc:creator>Telab International</dc:creator>
  <cp:lastModifiedBy>Telab International</cp:lastModifiedBy>
  <cp:revision>1</cp:revision>
  <dcterms:created xsi:type="dcterms:W3CDTF">2026-10-15T19:17:50Z</dcterms:created>
  <dcterms:modified xsi:type="dcterms:W3CDTF">2026-10-15T19:17:50Z</dcterms:modified>
</cp:coreProperties>
</file>